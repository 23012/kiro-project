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9" r:id="rId3"/>
    <p:sldId id="268" r:id="rId4"/>
    <p:sldId id="267" r:id="rId5"/>
    <p:sldId id="269" r:id="rId6"/>
    <p:sldId id="266" r:id="rId7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9F27"/>
    <a:srgbClr val="1E4DA0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슬라이드 표지_주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E74DE5B-A3B0-47B4-A809-8188860727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32379"/>
          <a:stretch/>
        </p:blipFill>
        <p:spPr>
          <a:xfrm>
            <a:off x="5241294" y="0"/>
            <a:ext cx="6950706" cy="685800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D38063DA-051E-44BB-A601-7A449BDD377B}"/>
              </a:ext>
            </a:extLst>
          </p:cNvPr>
          <p:cNvGrpSpPr/>
          <p:nvPr userDrawn="1"/>
        </p:nvGrpSpPr>
        <p:grpSpPr>
          <a:xfrm>
            <a:off x="-8709" y="-9526"/>
            <a:ext cx="6962788" cy="6867526"/>
            <a:chOff x="-8709" y="-9526"/>
            <a:chExt cx="6962788" cy="6867526"/>
          </a:xfrm>
        </p:grpSpPr>
        <p:sp>
          <p:nvSpPr>
            <p:cNvPr id="8" name="순서도: 수동 입력 7">
              <a:extLst>
                <a:ext uri="{FF2B5EF4-FFF2-40B4-BE49-F238E27FC236}">
                  <a16:creationId xmlns:a16="http://schemas.microsoft.com/office/drawing/2014/main" id="{67FEC675-B343-4435-96B8-7D6E2F5F09C3}"/>
                </a:ext>
              </a:extLst>
            </p:cNvPr>
            <p:cNvSpPr/>
            <p:nvPr/>
          </p:nvSpPr>
          <p:spPr>
            <a:xfrm rot="5400000">
              <a:off x="38922" y="-57157"/>
              <a:ext cx="6867526" cy="6962788"/>
            </a:xfrm>
            <a:prstGeom prst="flowChartManualInput">
              <a:avLst/>
            </a:prstGeom>
            <a:solidFill>
              <a:schemeClr val="bg1"/>
            </a:soli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87EA72F-D235-445C-8836-4604979E716F}"/>
                </a:ext>
              </a:extLst>
            </p:cNvPr>
            <p:cNvSpPr/>
            <p:nvPr/>
          </p:nvSpPr>
          <p:spPr>
            <a:xfrm>
              <a:off x="-8709" y="-9526"/>
              <a:ext cx="61200" cy="6867524"/>
            </a:xfrm>
            <a:prstGeom prst="rect">
              <a:avLst/>
            </a:prstGeom>
            <a:solidFill>
              <a:srgbClr val="00206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E7760A68-F316-4E60-B4E8-32797E5D4BED}"/>
              </a:ext>
            </a:extLst>
          </p:cNvPr>
          <p:cNvCxnSpPr>
            <a:cxnSpLocks/>
          </p:cNvCxnSpPr>
          <p:nvPr userDrawn="1"/>
        </p:nvCxnSpPr>
        <p:spPr>
          <a:xfrm>
            <a:off x="367350" y="2821271"/>
            <a:ext cx="4387530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16">
            <a:extLst>
              <a:ext uri="{FF2B5EF4-FFF2-40B4-BE49-F238E27FC236}">
                <a16:creationId xmlns:a16="http://schemas.microsoft.com/office/drawing/2014/main" id="{38D61FDF-B1F8-4860-A437-A2012E74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726" y="2227821"/>
            <a:ext cx="5144588" cy="575400"/>
          </a:xfrm>
        </p:spPr>
        <p:txBody>
          <a:bodyPr>
            <a:normAutofit/>
          </a:bodyPr>
          <a:lstStyle>
            <a:lvl1pPr>
              <a:defRPr lang="ko-KR" altLang="en-US" sz="3500" b="1" kern="1200" smtClean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9DDDD017-BF90-4252-AFF6-12CB00E5FE4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89562" y="2856740"/>
            <a:ext cx="2743200" cy="363600"/>
          </a:xfrm>
        </p:spPr>
        <p:txBody>
          <a:bodyPr>
            <a:noAutofit/>
          </a:bodyPr>
          <a:lstStyle>
            <a:lvl1pPr marL="0" indent="0">
              <a:buNone/>
              <a:defRPr lang="ko-KR" altLang="en-US" sz="2000" b="1" kern="1200" smtClean="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lvl="0"/>
            <a:r>
              <a:rPr lang="ko-KR" altLang="en-US" dirty="0"/>
              <a:t>부제목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B75A64-A609-4B6A-90C4-9D7B653962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71123" y="6230325"/>
            <a:ext cx="1965600" cy="43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8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_중제목 슬라이드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36493F4B-C159-4141-9534-ADE376BE982B}"/>
              </a:ext>
            </a:extLst>
          </p:cNvPr>
          <p:cNvSpPr/>
          <p:nvPr userDrawn="1"/>
        </p:nvSpPr>
        <p:spPr>
          <a:xfrm>
            <a:off x="261276" y="211986"/>
            <a:ext cx="11661632" cy="6416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635" tIns="45318" rIns="90635" bIns="45318" rtlCol="0" anchor="ctr"/>
          <a:lstStyle/>
          <a:p>
            <a:pPr algn="ctr"/>
            <a:endParaRPr lang="ko-KR" altLang="en-US" sz="1662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181CAFF-A409-416B-B8A7-0AB2F9A099E3}"/>
              </a:ext>
            </a:extLst>
          </p:cNvPr>
          <p:cNvCxnSpPr>
            <a:cxnSpLocks/>
          </p:cNvCxnSpPr>
          <p:nvPr userDrawn="1"/>
        </p:nvCxnSpPr>
        <p:spPr>
          <a:xfrm>
            <a:off x="4068175" y="4255229"/>
            <a:ext cx="404783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1916CB2-620C-425E-A4E6-A6DC7CF4E692}"/>
              </a:ext>
            </a:extLst>
          </p:cNvPr>
          <p:cNvCxnSpPr>
            <a:cxnSpLocks/>
          </p:cNvCxnSpPr>
          <p:nvPr userDrawn="1"/>
        </p:nvCxnSpPr>
        <p:spPr>
          <a:xfrm>
            <a:off x="4068175" y="2667386"/>
            <a:ext cx="4047835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>
            <a:extLst>
              <a:ext uri="{FF2B5EF4-FFF2-40B4-BE49-F238E27FC236}">
                <a16:creationId xmlns:a16="http://schemas.microsoft.com/office/drawing/2014/main" id="{885A6367-6F87-414F-A524-A3ABFA8645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4800" y="3004108"/>
            <a:ext cx="6602400" cy="914400"/>
          </a:xfrm>
        </p:spPr>
        <p:txBody>
          <a:bodyPr>
            <a:normAutofit/>
          </a:bodyPr>
          <a:lstStyle>
            <a:lvl1pPr algn="ctr">
              <a:defRPr lang="ko-KR" altLang="en-US" sz="3500" b="1" kern="120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r>
              <a:rPr lang="ko-KR" altLang="en-US" dirty="0" err="1"/>
              <a:t>중제목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DAF7561-BC9A-49E5-A970-D5B837B9B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467" y="6105276"/>
            <a:ext cx="1965600" cy="43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997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본문_제목 및 내용(blu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7CDE53-FE9C-469B-A2CF-3A1F78E44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567" y="234250"/>
            <a:ext cx="11336866" cy="532342"/>
          </a:xfrm>
        </p:spPr>
        <p:txBody>
          <a:bodyPr>
            <a:normAutofit/>
          </a:bodyPr>
          <a:lstStyle>
            <a:lvl1pPr>
              <a:defRPr sz="2500" b="1">
                <a:solidFill>
                  <a:srgbClr val="002060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93BE8-9BBD-47FE-A512-CED833E0130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7567" y="836740"/>
            <a:ext cx="11336866" cy="5427630"/>
          </a:xfrm>
        </p:spPr>
        <p:txBody>
          <a:bodyPr>
            <a:normAutofit/>
          </a:bodyPr>
          <a:lstStyle>
            <a:lvl1pPr marL="177800" indent="-1778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"/>
              <a:defRPr sz="1500" b="1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44500" indent="-173038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140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444500" indent="-87313">
              <a:lnSpc>
                <a:spcPct val="150000"/>
              </a:lnSpc>
              <a:spcBef>
                <a:spcPts val="0"/>
              </a:spcBef>
              <a:buFont typeface="맑은 고딕" panose="020B0503020000020004" pitchFamily="50" charset="-127"/>
              <a:buChar char="–"/>
              <a:defRPr sz="120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442913" indent="96838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ü"/>
              <a:defRPr sz="1200">
                <a:solidFill>
                  <a:srgbClr val="00206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50000"/>
              </a:lnSpc>
              <a:defRPr sz="1500"/>
            </a:lvl5pPr>
          </a:lstStyle>
          <a:p>
            <a:pPr lvl="0"/>
            <a:r>
              <a:rPr lang="ko-KR" altLang="en-US" dirty="0"/>
              <a:t> 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 셋째 수준</a:t>
            </a:r>
          </a:p>
          <a:p>
            <a:pPr lvl="3"/>
            <a:r>
              <a:rPr lang="ko-KR" altLang="en-US" dirty="0"/>
              <a:t> 넷째 수준</a:t>
            </a:r>
            <a:endParaRPr lang="en-US" altLang="ko-KR" dirty="0"/>
          </a:p>
          <a:p>
            <a:pPr lvl="3"/>
            <a:endParaRPr lang="ko-KR" altLang="en-US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E26AE84-7895-426D-88DA-D81DC5E064C5}"/>
              </a:ext>
            </a:extLst>
          </p:cNvPr>
          <p:cNvCxnSpPr/>
          <p:nvPr userDrawn="1"/>
        </p:nvCxnSpPr>
        <p:spPr>
          <a:xfrm>
            <a:off x="397934" y="802874"/>
            <a:ext cx="11396133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E2F5D2D-3058-4F5C-AE11-6EBDA3174E93}"/>
              </a:ext>
            </a:extLst>
          </p:cNvPr>
          <p:cNvCxnSpPr/>
          <p:nvPr userDrawn="1"/>
        </p:nvCxnSpPr>
        <p:spPr>
          <a:xfrm>
            <a:off x="397934" y="6300654"/>
            <a:ext cx="11396133" cy="0"/>
          </a:xfrm>
          <a:prstGeom prst="line">
            <a:avLst/>
          </a:prstGeom>
          <a:ln w="190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763E3FC-B538-482E-A1A1-EE6C0907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7567" y="6444574"/>
            <a:ext cx="499535" cy="262791"/>
          </a:xfrm>
        </p:spPr>
        <p:txBody>
          <a:bodyPr/>
          <a:lstStyle>
            <a:lvl1pPr algn="l">
              <a:defRPr sz="1000"/>
            </a:lvl1pPr>
          </a:lstStyle>
          <a:p>
            <a:fld id="{18E65F12-5BB2-440B-A9D8-754C6FC21897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A325468-6F59-4715-A951-B2909C862B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28467" y="6357824"/>
            <a:ext cx="1965600" cy="43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283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OD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C1547F6-3F68-4975-A555-DDF1AFFD46F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00"/>
            <a:ext cx="12184183" cy="6839536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1463" y="946232"/>
            <a:ext cx="1109075" cy="6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529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3A2C14E-9CE9-434B-A7E5-1E1D60B3A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85418B-1E17-4959-87F3-3D4A606FB2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7EAD60-D987-448C-BFE5-325EC38E8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3AF05884-44D9-46F9-9718-DBF071077312}" type="datetimeFigureOut">
              <a:rPr lang="ko-KR" altLang="en-US" smtClean="0"/>
              <a:pPr/>
              <a:t>2026-03-27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B9C93-67E2-4C91-B003-601D033A6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FBE6F-F576-49EF-B3E1-4C70B59B1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8526F26-98F8-407A-B7D1-9E0D1BC3207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9457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5" r:id="rId2"/>
    <p:sldLayoutId id="2147483666" r:id="rId3"/>
    <p:sldLayoutId id="2147483671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D90563-2070-4DB9-802E-8BB636D57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93" y="1937909"/>
            <a:ext cx="5582274" cy="873026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altLang="ko-KR" dirty="0"/>
              <a:t>[</a:t>
            </a:r>
            <a:r>
              <a:rPr lang="en-US" altLang="ko-KR" dirty="0" err="1"/>
              <a:t>Kiro</a:t>
            </a:r>
            <a:r>
              <a:rPr lang="en-US" altLang="ko-KR" dirty="0"/>
              <a:t>] </a:t>
            </a:r>
            <a:r>
              <a:rPr lang="ko-KR" altLang="en-US" dirty="0"/>
              <a:t>연구 성과 관리 시스템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827B8F-06ED-46CF-80E5-8EF5F101E81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20593" y="2997666"/>
            <a:ext cx="2743200" cy="363600"/>
          </a:xfrm>
        </p:spPr>
        <p:txBody>
          <a:bodyPr/>
          <a:lstStyle/>
          <a:p>
            <a:r>
              <a:rPr lang="ko-KR" altLang="en-US" dirty="0"/>
              <a:t>디지털전략팀 장유현</a:t>
            </a:r>
          </a:p>
        </p:txBody>
      </p:sp>
    </p:spTree>
    <p:extLst>
      <p:ext uri="{BB962C8B-B14F-4D97-AF65-F5344CB8AC3E}">
        <p14:creationId xmlns:p14="http://schemas.microsoft.com/office/powerpoint/2010/main" val="1064862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3E4DE-348D-469C-BCC6-9AD471D2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사용 프로세스</a:t>
            </a:r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F036371-B589-4584-8A58-C62F288A6BE5}"/>
              </a:ext>
            </a:extLst>
          </p:cNvPr>
          <p:cNvGrpSpPr/>
          <p:nvPr/>
        </p:nvGrpSpPr>
        <p:grpSpPr>
          <a:xfrm>
            <a:off x="685218" y="4540343"/>
            <a:ext cx="10805898" cy="1500357"/>
            <a:chOff x="1089404" y="4566241"/>
            <a:chExt cx="9961759" cy="1500357"/>
          </a:xfrm>
        </p:grpSpPr>
        <p:sp>
          <p:nvSpPr>
            <p:cNvPr id="42" name="Shape 11">
              <a:extLst>
                <a:ext uri="{FF2B5EF4-FFF2-40B4-BE49-F238E27FC236}">
                  <a16:creationId xmlns:a16="http://schemas.microsoft.com/office/drawing/2014/main" id="{73A55085-0332-43C9-9E24-360ED2D0288E}"/>
                </a:ext>
              </a:extLst>
            </p:cNvPr>
            <p:cNvSpPr/>
            <p:nvPr/>
          </p:nvSpPr>
          <p:spPr>
            <a:xfrm>
              <a:off x="1089405" y="4983433"/>
              <a:ext cx="9961758" cy="1083165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39D6D3BC-7373-491D-B53C-049101CB02E8}"/>
                </a:ext>
              </a:extLst>
            </p:cNvPr>
            <p:cNvGrpSpPr/>
            <p:nvPr/>
          </p:nvGrpSpPr>
          <p:grpSpPr>
            <a:xfrm>
              <a:off x="1089404" y="4566241"/>
              <a:ext cx="7608669" cy="1263516"/>
              <a:chOff x="1089404" y="4566241"/>
              <a:chExt cx="7608669" cy="1263516"/>
            </a:xfrm>
          </p:grpSpPr>
          <p:sp>
            <p:nvSpPr>
              <p:cNvPr id="44" name="Text 13">
                <a:extLst>
                  <a:ext uri="{FF2B5EF4-FFF2-40B4-BE49-F238E27FC236}">
                    <a16:creationId xmlns:a16="http://schemas.microsoft.com/office/drawing/2014/main" id="{A016C5C2-F68F-4158-A1E1-8ED007766BEF}"/>
                  </a:ext>
                </a:extLst>
              </p:cNvPr>
              <p:cNvSpPr/>
              <p:nvPr/>
            </p:nvSpPr>
            <p:spPr>
              <a:xfrm>
                <a:off x="1089404" y="4566241"/>
                <a:ext cx="1357462" cy="269519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ko-KR" altLang="en-US" b="1" dirty="0">
                    <a:solidFill>
                      <a:srgbClr val="1E4DA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세부 기능</a:t>
                </a:r>
                <a:endParaRPr lang="en-US" dirty="0">
                  <a:solidFill>
                    <a:srgbClr val="1E4DA0"/>
                  </a:solidFill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5" name="Text 14">
                <a:extLst>
                  <a:ext uri="{FF2B5EF4-FFF2-40B4-BE49-F238E27FC236}">
                    <a16:creationId xmlns:a16="http://schemas.microsoft.com/office/drawing/2014/main" id="{AFFD3D2A-33C9-4E49-9B97-D6217B5D4CC0}"/>
                  </a:ext>
                </a:extLst>
              </p:cNvPr>
              <p:cNvSpPr/>
              <p:nvPr/>
            </p:nvSpPr>
            <p:spPr>
              <a:xfrm>
                <a:off x="1180844" y="5166381"/>
                <a:ext cx="3802637" cy="25411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E4DA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✓</a:t>
                </a:r>
                <a:r>
                  <a:rPr lang="en-US" sz="1200" b="1" dirty="0">
                    <a:solidFill>
                      <a:srgbClr val="0F6E5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  </a:t>
                </a:r>
                <a:r>
                  <a:rPr lang="en-US" sz="12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PDF·이미지 첨부만으로 논문 정보 자동 추출</a:t>
                </a:r>
                <a:endParaRPr lang="en-US" sz="12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6" name="Text 15">
                <a:extLst>
                  <a:ext uri="{FF2B5EF4-FFF2-40B4-BE49-F238E27FC236}">
                    <a16:creationId xmlns:a16="http://schemas.microsoft.com/office/drawing/2014/main" id="{B0C86AE1-C259-4034-8029-F1E9CE9066CC}"/>
                  </a:ext>
                </a:extLst>
              </p:cNvPr>
              <p:cNvSpPr/>
              <p:nvPr/>
            </p:nvSpPr>
            <p:spPr>
              <a:xfrm>
                <a:off x="1180844" y="5575639"/>
                <a:ext cx="3612574" cy="25411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E4DA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✓</a:t>
                </a:r>
                <a:r>
                  <a:rPr lang="en-US" sz="1200" b="1" dirty="0">
                    <a:solidFill>
                      <a:srgbClr val="0F6E5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  </a:t>
                </a:r>
                <a:r>
                  <a:rPr lang="en-US" sz="12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20개 필드를 AI가 자동 분류·포맷 변환</a:t>
                </a:r>
                <a:endParaRPr lang="en-US" sz="12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7" name="Text 16">
                <a:extLst>
                  <a:ext uri="{FF2B5EF4-FFF2-40B4-BE49-F238E27FC236}">
                    <a16:creationId xmlns:a16="http://schemas.microsoft.com/office/drawing/2014/main" id="{241B438B-B4F3-49C0-831D-DA1102EE2DED}"/>
                  </a:ext>
                </a:extLst>
              </p:cNvPr>
              <p:cNvSpPr/>
              <p:nvPr/>
            </p:nvSpPr>
            <p:spPr>
              <a:xfrm>
                <a:off x="5106617" y="5166615"/>
                <a:ext cx="3591456" cy="25411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E4DA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✓  </a:t>
                </a:r>
                <a:r>
                  <a:rPr lang="en-US" sz="12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중앙대 업적 포털 양식에 맞는 결과 즉시 생성</a:t>
                </a:r>
                <a:endParaRPr lang="en-US" sz="12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48" name="Text 17">
                <a:extLst>
                  <a:ext uri="{FF2B5EF4-FFF2-40B4-BE49-F238E27FC236}">
                    <a16:creationId xmlns:a16="http://schemas.microsoft.com/office/drawing/2014/main" id="{BDBCF9C0-7F9B-496D-8B0B-DB82C968255F}"/>
                  </a:ext>
                </a:extLst>
              </p:cNvPr>
              <p:cNvSpPr/>
              <p:nvPr/>
            </p:nvSpPr>
            <p:spPr>
              <a:xfrm>
                <a:off x="5106617" y="5575389"/>
                <a:ext cx="3517542" cy="25411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E4DA0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✓  </a:t>
                </a:r>
                <a:r>
                  <a:rPr lang="en-US" sz="12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누락 항목 안내 및 대화형 수정 지원</a:t>
                </a:r>
                <a:endParaRPr lang="en-US" sz="1200" dirty="0">
                  <a:latin typeface="맑은 고딕" panose="020B0503020000020004" pitchFamily="50" charset="-127"/>
                </a:endParaRPr>
              </a:p>
            </p:txBody>
          </p:sp>
        </p:grp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3F056C0-CCAB-4D83-B16B-4B1426F4E8C7}"/>
              </a:ext>
            </a:extLst>
          </p:cNvPr>
          <p:cNvGrpSpPr/>
          <p:nvPr/>
        </p:nvGrpSpPr>
        <p:grpSpPr>
          <a:xfrm>
            <a:off x="693050" y="1305060"/>
            <a:ext cx="10805899" cy="3083284"/>
            <a:chOff x="721095" y="1114117"/>
            <a:chExt cx="10805899" cy="3083284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6D73C8AE-1A5E-4275-972F-BB131500BD27}"/>
                </a:ext>
              </a:extLst>
            </p:cNvPr>
            <p:cNvGrpSpPr/>
            <p:nvPr/>
          </p:nvGrpSpPr>
          <p:grpSpPr>
            <a:xfrm>
              <a:off x="721095" y="1117566"/>
              <a:ext cx="2560320" cy="3079835"/>
              <a:chOff x="2015066" y="1554480"/>
              <a:chExt cx="2560320" cy="3079835"/>
            </a:xfrm>
          </p:grpSpPr>
          <p:sp>
            <p:nvSpPr>
              <p:cNvPr id="6" name="Shape 2">
                <a:extLst>
                  <a:ext uri="{FF2B5EF4-FFF2-40B4-BE49-F238E27FC236}">
                    <a16:creationId xmlns:a16="http://schemas.microsoft.com/office/drawing/2014/main" id="{BC331C45-FFD7-43DF-AF70-4D4C0796E1A2}"/>
                  </a:ext>
                </a:extLst>
              </p:cNvPr>
              <p:cNvSpPr/>
              <p:nvPr/>
            </p:nvSpPr>
            <p:spPr>
              <a:xfrm>
                <a:off x="2015066" y="1554480"/>
                <a:ext cx="2560320" cy="307983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8EFF8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34B5A0CA-D3A4-40FB-BC9A-7C2CA5E80F9C}"/>
                  </a:ext>
                </a:extLst>
              </p:cNvPr>
              <p:cNvGrpSpPr/>
              <p:nvPr/>
            </p:nvGrpSpPr>
            <p:grpSpPr>
              <a:xfrm>
                <a:off x="2015066" y="1554480"/>
                <a:ext cx="2560320" cy="2788920"/>
                <a:chOff x="2015066" y="1554480"/>
                <a:chExt cx="2560320" cy="2788920"/>
              </a:xfrm>
            </p:grpSpPr>
            <p:sp>
              <p:nvSpPr>
                <p:cNvPr id="7" name="Shape 3">
                  <a:extLst>
                    <a:ext uri="{FF2B5EF4-FFF2-40B4-BE49-F238E27FC236}">
                      <a16:creationId xmlns:a16="http://schemas.microsoft.com/office/drawing/2014/main" id="{2E03CCB9-E59F-43FF-BB3D-BCA5215FE2A2}"/>
                    </a:ext>
                  </a:extLst>
                </p:cNvPr>
                <p:cNvSpPr/>
                <p:nvPr/>
              </p:nvSpPr>
              <p:spPr>
                <a:xfrm>
                  <a:off x="2015066" y="1554480"/>
                  <a:ext cx="2560320" cy="1005840"/>
                </a:xfrm>
                <a:prstGeom prst="rect">
                  <a:avLst/>
                </a:prstGeom>
                <a:solidFill>
                  <a:srgbClr val="1E4DA0"/>
                </a:solidFill>
                <a:ln w="12700">
                  <a:solidFill>
                    <a:srgbClr val="0D2D6B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8" name="Text 4">
                  <a:extLst>
                    <a:ext uri="{FF2B5EF4-FFF2-40B4-BE49-F238E27FC236}">
                      <a16:creationId xmlns:a16="http://schemas.microsoft.com/office/drawing/2014/main" id="{A5A69D21-8A96-47F8-8F62-18CC00D561B5}"/>
                    </a:ext>
                  </a:extLst>
                </p:cNvPr>
                <p:cNvSpPr/>
                <p:nvPr/>
              </p:nvSpPr>
              <p:spPr>
                <a:xfrm>
                  <a:off x="2106506" y="1581912"/>
                  <a:ext cx="2377440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000" b="1" kern="0" spc="300" dirty="0">
                      <a:solidFill>
                        <a:srgbClr val="CADCFC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STEP 1</a:t>
                  </a:r>
                  <a:endParaRPr lang="en-US" sz="1000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9" name="Text 5">
                  <a:extLst>
                    <a:ext uri="{FF2B5EF4-FFF2-40B4-BE49-F238E27FC236}">
                      <a16:creationId xmlns:a16="http://schemas.microsoft.com/office/drawing/2014/main" id="{712A66A5-B5F8-47E2-BB25-58A201671F2C}"/>
                    </a:ext>
                  </a:extLst>
                </p:cNvPr>
                <p:cNvSpPr/>
                <p:nvPr/>
              </p:nvSpPr>
              <p:spPr>
                <a:xfrm>
                  <a:off x="2106506" y="1920240"/>
                  <a:ext cx="2377440" cy="5029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FFFFFF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논문 파일 첨부</a:t>
                  </a:r>
                  <a:endParaRPr lang="en-US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10" name="Text 6">
                  <a:extLst>
                    <a:ext uri="{FF2B5EF4-FFF2-40B4-BE49-F238E27FC236}">
                      <a16:creationId xmlns:a16="http://schemas.microsoft.com/office/drawing/2014/main" id="{604D45A2-B684-42C5-A0BB-B6C7B614E16B}"/>
                    </a:ext>
                  </a:extLst>
                </p:cNvPr>
                <p:cNvSpPr/>
                <p:nvPr/>
              </p:nvSpPr>
              <p:spPr>
                <a:xfrm>
                  <a:off x="2152226" y="2679192"/>
                  <a:ext cx="2286000" cy="109728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채팅창에 논문 PDF 또는</a:t>
                  </a:r>
                  <a:endParaRPr lang="en-US" sz="1100" dirty="0">
                    <a:latin typeface="맑은 고딕" panose="020B0503020000020004" pitchFamily="50" charset="-127"/>
                  </a:endParaRPr>
                </a:p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이미지 파일을 첨부합니다.</a:t>
                  </a:r>
                  <a:endParaRPr lang="en-US" sz="1100" dirty="0">
                    <a:latin typeface="맑은 고딕" panose="020B0503020000020004" pitchFamily="50" charset="-127"/>
                  </a:endParaRPr>
                </a:p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텍스트 직접 입력도 가능합니다.</a:t>
                  </a:r>
                  <a:endParaRPr lang="en-US" sz="1100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11" name="Shape 7">
                  <a:extLst>
                    <a:ext uri="{FF2B5EF4-FFF2-40B4-BE49-F238E27FC236}">
                      <a16:creationId xmlns:a16="http://schemas.microsoft.com/office/drawing/2014/main" id="{017B8827-7152-4334-BBF5-56D9CA756FCB}"/>
                    </a:ext>
                  </a:extLst>
                </p:cNvPr>
                <p:cNvSpPr/>
                <p:nvPr/>
              </p:nvSpPr>
              <p:spPr>
                <a:xfrm>
                  <a:off x="2197946" y="3931920"/>
                  <a:ext cx="2194560" cy="411480"/>
                </a:xfrm>
                <a:prstGeom prst="rect">
                  <a:avLst/>
                </a:prstGeom>
                <a:solidFill>
                  <a:srgbClr val="E8EFF8"/>
                </a:solidFill>
                <a:ln w="12700">
                  <a:solidFill>
                    <a:srgbClr val="E8EFF8"/>
                  </a:solidFill>
                  <a:prstDash val="solid"/>
                </a:ln>
              </p:spPr>
            </p:sp>
            <p:sp>
              <p:nvSpPr>
                <p:cNvPr id="12" name="Text 8">
                  <a:extLst>
                    <a:ext uri="{FF2B5EF4-FFF2-40B4-BE49-F238E27FC236}">
                      <a16:creationId xmlns:a16="http://schemas.microsoft.com/office/drawing/2014/main" id="{0D35B1D7-C6F2-4065-BEA8-6CF5AF157379}"/>
                    </a:ext>
                  </a:extLst>
                </p:cNvPr>
                <p:cNvSpPr/>
                <p:nvPr/>
              </p:nvSpPr>
              <p:spPr>
                <a:xfrm>
                  <a:off x="2197946" y="3950208"/>
                  <a:ext cx="21945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dirty="0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지원: PDF · JPG · PNG · 텍스트</a:t>
                  </a:r>
                  <a:endParaRPr lang="en-US" sz="900" dirty="0">
                    <a:latin typeface="맑은 고딕" panose="020B0503020000020004" pitchFamily="50" charset="-127"/>
                  </a:endParaRPr>
                </a:p>
              </p:txBody>
            </p:sp>
          </p:grp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18349EEA-7594-48B2-9CE6-6CDC2EB64285}"/>
                </a:ext>
              </a:extLst>
            </p:cNvPr>
            <p:cNvGrpSpPr/>
            <p:nvPr/>
          </p:nvGrpSpPr>
          <p:grpSpPr>
            <a:xfrm>
              <a:off x="3464608" y="1117566"/>
              <a:ext cx="2560320" cy="3079835"/>
              <a:chOff x="4849706" y="1554480"/>
              <a:chExt cx="2560320" cy="3474720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C600D956-1B78-44DC-B0CC-9DD09641CCCE}"/>
                  </a:ext>
                </a:extLst>
              </p:cNvPr>
              <p:cNvGrpSpPr/>
              <p:nvPr/>
            </p:nvGrpSpPr>
            <p:grpSpPr>
              <a:xfrm>
                <a:off x="4849706" y="1554480"/>
                <a:ext cx="2560320" cy="3474720"/>
                <a:chOff x="4849706" y="1554480"/>
                <a:chExt cx="2560320" cy="3474720"/>
              </a:xfrm>
            </p:grpSpPr>
            <p:sp>
              <p:nvSpPr>
                <p:cNvPr id="15" name="Shape 11">
                  <a:extLst>
                    <a:ext uri="{FF2B5EF4-FFF2-40B4-BE49-F238E27FC236}">
                      <a16:creationId xmlns:a16="http://schemas.microsoft.com/office/drawing/2014/main" id="{0B17AC07-C46C-498F-8180-7FBAD3028C89}"/>
                    </a:ext>
                  </a:extLst>
                </p:cNvPr>
                <p:cNvSpPr/>
                <p:nvPr/>
              </p:nvSpPr>
              <p:spPr>
                <a:xfrm>
                  <a:off x="4849706" y="1554480"/>
                  <a:ext cx="2560320" cy="347472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E8EFF8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6" name="Shape 12">
                  <a:extLst>
                    <a:ext uri="{FF2B5EF4-FFF2-40B4-BE49-F238E27FC236}">
                      <a16:creationId xmlns:a16="http://schemas.microsoft.com/office/drawing/2014/main" id="{65C4E5D6-06A2-4ED3-B20A-1BC7AF683203}"/>
                    </a:ext>
                  </a:extLst>
                </p:cNvPr>
                <p:cNvSpPr/>
                <p:nvPr/>
              </p:nvSpPr>
              <p:spPr>
                <a:xfrm>
                  <a:off x="4849706" y="1554480"/>
                  <a:ext cx="2560320" cy="1134805"/>
                </a:xfrm>
                <a:prstGeom prst="rect">
                  <a:avLst/>
                </a:prstGeom>
                <a:solidFill>
                  <a:srgbClr val="1E4DA0"/>
                </a:solidFill>
                <a:ln w="12700">
                  <a:solidFill>
                    <a:srgbClr val="1E4DA0"/>
                  </a:solidFill>
                  <a:prstDash val="solid"/>
                </a:ln>
              </p:spPr>
              <p:txBody>
                <a:bodyPr/>
                <a:lstStyle/>
                <a:p>
                  <a:endPara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endParaRPr>
                </a:p>
              </p:txBody>
            </p:sp>
            <p:sp>
              <p:nvSpPr>
                <p:cNvPr id="17" name="Text 13">
                  <a:extLst>
                    <a:ext uri="{FF2B5EF4-FFF2-40B4-BE49-F238E27FC236}">
                      <a16:creationId xmlns:a16="http://schemas.microsoft.com/office/drawing/2014/main" id="{E1F3333B-39BA-46BB-9EAD-06AFE5E73418}"/>
                    </a:ext>
                  </a:extLst>
                </p:cNvPr>
                <p:cNvSpPr/>
                <p:nvPr/>
              </p:nvSpPr>
              <p:spPr>
                <a:xfrm>
                  <a:off x="4941146" y="1581912"/>
                  <a:ext cx="2377440" cy="34747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1000" b="1" kern="0" spc="300" dirty="0">
                      <a:solidFill>
                        <a:srgbClr val="CADCFC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STEP 2</a:t>
                  </a:r>
                  <a:endParaRPr lang="en-US" sz="1000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18" name="Text 14">
                  <a:extLst>
                    <a:ext uri="{FF2B5EF4-FFF2-40B4-BE49-F238E27FC236}">
                      <a16:creationId xmlns:a16="http://schemas.microsoft.com/office/drawing/2014/main" id="{BB817E29-3A11-4F30-AA47-4596DA09A04C}"/>
                    </a:ext>
                  </a:extLst>
                </p:cNvPr>
                <p:cNvSpPr/>
                <p:nvPr/>
              </p:nvSpPr>
              <p:spPr>
                <a:xfrm>
                  <a:off x="4941146" y="1948621"/>
                  <a:ext cx="2377440" cy="5029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rgbClr val="FFFFFF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AI 자동 분석</a:t>
                  </a:r>
                  <a:endParaRPr lang="en-US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19" name="Text 15">
                  <a:extLst>
                    <a:ext uri="{FF2B5EF4-FFF2-40B4-BE49-F238E27FC236}">
                      <a16:creationId xmlns:a16="http://schemas.microsoft.com/office/drawing/2014/main" id="{DF28B58A-BE3B-4E0C-AED7-DF28A8382E20}"/>
                    </a:ext>
                  </a:extLst>
                </p:cNvPr>
                <p:cNvSpPr/>
                <p:nvPr/>
              </p:nvSpPr>
              <p:spPr>
                <a:xfrm>
                  <a:off x="4986866" y="2893743"/>
                  <a:ext cx="2286000" cy="1097279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ko-KR" altLang="en-US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생성형 </a:t>
                  </a:r>
                  <a:r>
                    <a:rPr lang="en-US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 AI가 논문 내용을</a:t>
                  </a:r>
                  <a:endParaRPr lang="en-US" sz="1100" dirty="0">
                    <a:latin typeface="맑은 고딕" panose="020B0503020000020004" pitchFamily="50" charset="-127"/>
                  </a:endParaRPr>
                </a:p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자동으로 파싱하여</a:t>
                  </a:r>
                  <a:endParaRPr lang="en-US" sz="1100" dirty="0">
                    <a:latin typeface="맑은 고딕" panose="020B0503020000020004" pitchFamily="50" charset="-127"/>
                  </a:endParaRPr>
                </a:p>
                <a:p>
                  <a:pPr marL="0" indent="0" algn="ctr">
                    <a:buNone/>
                  </a:pPr>
                  <a:r>
                    <a:rPr lang="en-US" sz="1100" dirty="0">
                      <a:solidFill>
                        <a:srgbClr val="363636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20개 필드에 매핑합니다.</a:t>
                  </a:r>
                  <a:endParaRPr lang="en-US" sz="1100" dirty="0">
                    <a:latin typeface="맑은 고딕" panose="020B0503020000020004" pitchFamily="50" charset="-127"/>
                  </a:endParaRPr>
                </a:p>
              </p:txBody>
            </p:sp>
            <p:sp>
              <p:nvSpPr>
                <p:cNvPr id="20" name="Shape 16">
                  <a:extLst>
                    <a:ext uri="{FF2B5EF4-FFF2-40B4-BE49-F238E27FC236}">
                      <a16:creationId xmlns:a16="http://schemas.microsoft.com/office/drawing/2014/main" id="{AE68711A-E1A2-4A33-BFD5-241B9E2C9571}"/>
                    </a:ext>
                  </a:extLst>
                </p:cNvPr>
                <p:cNvSpPr/>
                <p:nvPr/>
              </p:nvSpPr>
              <p:spPr>
                <a:xfrm>
                  <a:off x="5032586" y="4257379"/>
                  <a:ext cx="2194560" cy="411480"/>
                </a:xfrm>
                <a:prstGeom prst="rect">
                  <a:avLst/>
                </a:prstGeom>
                <a:solidFill>
                  <a:srgbClr val="E8EFF8"/>
                </a:solidFill>
                <a:ln w="12700">
                  <a:solidFill>
                    <a:srgbClr val="E8EFF8"/>
                  </a:solidFill>
                  <a:prstDash val="solid"/>
                </a:ln>
              </p:spPr>
            </p:sp>
          </p:grpSp>
          <p:sp>
            <p:nvSpPr>
              <p:cNvPr id="21" name="Text 17">
                <a:extLst>
                  <a:ext uri="{FF2B5EF4-FFF2-40B4-BE49-F238E27FC236}">
                    <a16:creationId xmlns:a16="http://schemas.microsoft.com/office/drawing/2014/main" id="{028D9C3E-3E92-4331-8CDB-762E4242A8BC}"/>
                  </a:ext>
                </a:extLst>
              </p:cNvPr>
              <p:cNvSpPr/>
              <p:nvPr/>
            </p:nvSpPr>
            <p:spPr>
              <a:xfrm>
                <a:off x="5032586" y="4275667"/>
                <a:ext cx="21945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4748B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약 10~20초 소요</a:t>
                </a:r>
                <a:endParaRPr lang="en-US" sz="900" dirty="0">
                  <a:latin typeface="맑은 고딕" panose="020B0503020000020004" pitchFamily="50" charset="-127"/>
                </a:endParaRPr>
              </a:p>
            </p:txBody>
          </p:sp>
        </p:grpSp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E7059CCC-21BB-42B5-AA57-A31E9D576579}"/>
                </a:ext>
              </a:extLst>
            </p:cNvPr>
            <p:cNvGrpSpPr/>
            <p:nvPr/>
          </p:nvGrpSpPr>
          <p:grpSpPr>
            <a:xfrm>
              <a:off x="6207808" y="1114685"/>
              <a:ext cx="2568153" cy="3079835"/>
              <a:chOff x="8360281" y="1299293"/>
              <a:chExt cx="2568153" cy="3079835"/>
            </a:xfrm>
          </p:grpSpPr>
          <p:sp>
            <p:nvSpPr>
              <p:cNvPr id="24" name="Shape 20">
                <a:extLst>
                  <a:ext uri="{FF2B5EF4-FFF2-40B4-BE49-F238E27FC236}">
                    <a16:creationId xmlns:a16="http://schemas.microsoft.com/office/drawing/2014/main" id="{93F86CFA-9D90-456F-A849-1F7285E572EF}"/>
                  </a:ext>
                </a:extLst>
              </p:cNvPr>
              <p:cNvSpPr/>
              <p:nvPr/>
            </p:nvSpPr>
            <p:spPr>
              <a:xfrm>
                <a:off x="8360281" y="1299293"/>
                <a:ext cx="2560320" cy="307983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8EFF8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5" name="Shape 21">
                <a:extLst>
                  <a:ext uri="{FF2B5EF4-FFF2-40B4-BE49-F238E27FC236}">
                    <a16:creationId xmlns:a16="http://schemas.microsoft.com/office/drawing/2014/main" id="{588B8ECC-B882-4E05-BB2B-51DDB166E57C}"/>
                  </a:ext>
                </a:extLst>
              </p:cNvPr>
              <p:cNvSpPr/>
              <p:nvPr/>
            </p:nvSpPr>
            <p:spPr>
              <a:xfrm>
                <a:off x="8368114" y="1299294"/>
                <a:ext cx="2560320" cy="1005840"/>
              </a:xfrm>
              <a:prstGeom prst="rect">
                <a:avLst/>
              </a:prstGeom>
              <a:solidFill>
                <a:srgbClr val="1E4DA0"/>
              </a:solidFill>
              <a:ln w="12700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26" name="Text 22">
                <a:extLst>
                  <a:ext uri="{FF2B5EF4-FFF2-40B4-BE49-F238E27FC236}">
                    <a16:creationId xmlns:a16="http://schemas.microsoft.com/office/drawing/2014/main" id="{F446F613-B4E6-4823-83DD-46E20BED1FA7}"/>
                  </a:ext>
                </a:extLst>
              </p:cNvPr>
              <p:cNvSpPr/>
              <p:nvPr/>
            </p:nvSpPr>
            <p:spPr>
              <a:xfrm>
                <a:off x="8459554" y="1325394"/>
                <a:ext cx="2377440" cy="30441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kern="0" spc="300" dirty="0">
                    <a:solidFill>
                      <a:srgbClr val="CADCFC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STEP 3</a:t>
                </a:r>
                <a:endParaRPr lang="en-US" sz="10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7" name="Text 23">
                <a:extLst>
                  <a:ext uri="{FF2B5EF4-FFF2-40B4-BE49-F238E27FC236}">
                    <a16:creationId xmlns:a16="http://schemas.microsoft.com/office/drawing/2014/main" id="{1DDC8DD6-75C8-464E-A4A4-27E1C3B137D3}"/>
                  </a:ext>
                </a:extLst>
              </p:cNvPr>
              <p:cNvSpPr/>
              <p:nvPr/>
            </p:nvSpPr>
            <p:spPr>
              <a:xfrm>
                <a:off x="8451721" y="1629805"/>
                <a:ext cx="2377440" cy="44059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b="1" dirty="0" err="1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결과</a:t>
                </a:r>
                <a:r>
                  <a:rPr lang="en-US" b="1" dirty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 확인</a:t>
                </a:r>
                <a:endParaRPr lang="en-US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28" name="Text 24">
                <a:extLst>
                  <a:ext uri="{FF2B5EF4-FFF2-40B4-BE49-F238E27FC236}">
                    <a16:creationId xmlns:a16="http://schemas.microsoft.com/office/drawing/2014/main" id="{E6FC6492-F102-4080-8ED8-BB52A19F9CD4}"/>
                  </a:ext>
                </a:extLst>
              </p:cNvPr>
              <p:cNvSpPr/>
              <p:nvPr/>
            </p:nvSpPr>
            <p:spPr>
              <a:xfrm>
                <a:off x="8505274" y="2430031"/>
                <a:ext cx="2286000" cy="96129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업적 관리 시스템 양식에</a:t>
                </a:r>
                <a:endParaRPr lang="en-US" sz="1100" dirty="0">
                  <a:latin typeface="맑은 고딕" panose="020B0503020000020004" pitchFamily="50" charset="-127"/>
                </a:endParaRPr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맞는 표 형식 결과를</a:t>
                </a:r>
                <a:endParaRPr lang="en-US" sz="1100" dirty="0">
                  <a:latin typeface="맑은 고딕" panose="020B0503020000020004" pitchFamily="50" charset="-127"/>
                </a:endParaRPr>
              </a:p>
              <a:p>
                <a:pPr marL="0" indent="0" algn="ctr">
                  <a:buNone/>
                </a:pPr>
                <a:r>
                  <a:rPr lang="en-US" sz="1100" dirty="0">
                    <a:solidFill>
                      <a:srgbClr val="363636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즉시 복사할 수 있습니다.</a:t>
                </a:r>
                <a:endParaRPr lang="en-US" sz="1100" dirty="0">
                  <a:latin typeface="맑은 고딕" panose="020B0503020000020004" pitchFamily="50" charset="-127"/>
                </a:endParaRPr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2DAC54EF-C89B-4C5B-A48C-0DE3AAC3692B}"/>
                  </a:ext>
                </a:extLst>
              </p:cNvPr>
              <p:cNvGrpSpPr/>
              <p:nvPr/>
            </p:nvGrpSpPr>
            <p:grpSpPr>
              <a:xfrm>
                <a:off x="8543161" y="3652939"/>
                <a:ext cx="2197693" cy="411480"/>
                <a:chOff x="8550994" y="3676734"/>
                <a:chExt cx="2197693" cy="411480"/>
              </a:xfrm>
            </p:grpSpPr>
            <p:sp>
              <p:nvSpPr>
                <p:cNvPr id="29" name="Shape 25">
                  <a:extLst>
                    <a:ext uri="{FF2B5EF4-FFF2-40B4-BE49-F238E27FC236}">
                      <a16:creationId xmlns:a16="http://schemas.microsoft.com/office/drawing/2014/main" id="{CBD32D23-6F51-4249-B1F9-524930B95519}"/>
                    </a:ext>
                  </a:extLst>
                </p:cNvPr>
                <p:cNvSpPr/>
                <p:nvPr/>
              </p:nvSpPr>
              <p:spPr>
                <a:xfrm>
                  <a:off x="8550994" y="3676734"/>
                  <a:ext cx="2194560" cy="411480"/>
                </a:xfrm>
                <a:prstGeom prst="rect">
                  <a:avLst/>
                </a:prstGeom>
                <a:solidFill>
                  <a:srgbClr val="E8EFF8"/>
                </a:solidFill>
                <a:ln w="12700">
                  <a:solidFill>
                    <a:srgbClr val="E8EFF8"/>
                  </a:solidFill>
                  <a:prstDash val="solid"/>
                </a:ln>
              </p:spPr>
            </p:sp>
            <p:sp>
              <p:nvSpPr>
                <p:cNvPr id="30" name="Text 26">
                  <a:extLst>
                    <a:ext uri="{FF2B5EF4-FFF2-40B4-BE49-F238E27FC236}">
                      <a16:creationId xmlns:a16="http://schemas.microsoft.com/office/drawing/2014/main" id="{FC3CC500-D71E-4A6F-A01C-3CB68954BC71}"/>
                    </a:ext>
                  </a:extLst>
                </p:cNvPr>
                <p:cNvSpPr/>
                <p:nvPr/>
              </p:nvSpPr>
              <p:spPr>
                <a:xfrm>
                  <a:off x="8554127" y="3714992"/>
                  <a:ext cx="2194560" cy="32043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en-US" sz="900" dirty="0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복사 </a:t>
                  </a:r>
                  <a:r>
                    <a:rPr lang="en-US" sz="900" dirty="0" err="1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버튼</a:t>
                  </a:r>
                  <a:r>
                    <a:rPr lang="en-US" sz="900" dirty="0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  </a:t>
                  </a:r>
                  <a:r>
                    <a:rPr lang="en-US" sz="900" dirty="0" err="1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클릭으로</a:t>
                  </a:r>
                  <a:r>
                    <a:rPr lang="en-US" sz="900" dirty="0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  완료</a:t>
                  </a:r>
                  <a:endParaRPr lang="en-US" sz="900" dirty="0">
                    <a:latin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40" name="화살표: 오른쪽 39">
              <a:extLst>
                <a:ext uri="{FF2B5EF4-FFF2-40B4-BE49-F238E27FC236}">
                  <a16:creationId xmlns:a16="http://schemas.microsoft.com/office/drawing/2014/main" id="{6E70F467-5D54-4547-A338-11A79F420D6B}"/>
                </a:ext>
              </a:extLst>
            </p:cNvPr>
            <p:cNvSpPr/>
            <p:nvPr/>
          </p:nvSpPr>
          <p:spPr>
            <a:xfrm>
              <a:off x="3200601" y="2558780"/>
              <a:ext cx="335640" cy="360449"/>
            </a:xfrm>
            <a:prstGeom prst="rightArrow">
              <a:avLst/>
            </a:prstGeom>
            <a:solidFill>
              <a:srgbClr val="EF9F27"/>
            </a:solidFill>
            <a:ln>
              <a:solidFill>
                <a:srgbClr val="EF9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ED39676B-56D3-4AE7-AB16-DC33F3E7E739}"/>
                </a:ext>
              </a:extLst>
            </p:cNvPr>
            <p:cNvGrpSpPr/>
            <p:nvPr/>
          </p:nvGrpSpPr>
          <p:grpSpPr>
            <a:xfrm>
              <a:off x="8958841" y="1114117"/>
              <a:ext cx="2568153" cy="3079835"/>
              <a:chOff x="8360281" y="1299293"/>
              <a:chExt cx="2568153" cy="3079835"/>
            </a:xfrm>
          </p:grpSpPr>
          <p:sp>
            <p:nvSpPr>
              <p:cNvPr id="52" name="Shape 20">
                <a:extLst>
                  <a:ext uri="{FF2B5EF4-FFF2-40B4-BE49-F238E27FC236}">
                    <a16:creationId xmlns:a16="http://schemas.microsoft.com/office/drawing/2014/main" id="{FCB126F0-DFB2-4423-9291-F64B76581787}"/>
                  </a:ext>
                </a:extLst>
              </p:cNvPr>
              <p:cNvSpPr/>
              <p:nvPr/>
            </p:nvSpPr>
            <p:spPr>
              <a:xfrm>
                <a:off x="8360281" y="1299293"/>
                <a:ext cx="2560320" cy="3079835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8EFF8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3" name="Shape 21">
                <a:extLst>
                  <a:ext uri="{FF2B5EF4-FFF2-40B4-BE49-F238E27FC236}">
                    <a16:creationId xmlns:a16="http://schemas.microsoft.com/office/drawing/2014/main" id="{2CBACA02-1811-4D7B-AA5E-7BC4FFAE7E22}"/>
                  </a:ext>
                </a:extLst>
              </p:cNvPr>
              <p:cNvSpPr/>
              <p:nvPr/>
            </p:nvSpPr>
            <p:spPr>
              <a:xfrm>
                <a:off x="8368114" y="1299294"/>
                <a:ext cx="2560320" cy="1005840"/>
              </a:xfrm>
              <a:prstGeom prst="rect">
                <a:avLst/>
              </a:prstGeom>
              <a:solidFill>
                <a:srgbClr val="1E4DA0"/>
              </a:solidFill>
              <a:ln w="12700">
                <a:solidFill>
                  <a:srgbClr val="0F6E56"/>
                </a:solidFill>
                <a:prstDash val="solid"/>
              </a:ln>
            </p:spPr>
            <p:txBody>
              <a:bodyPr/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54" name="Text 22">
                <a:extLst>
                  <a:ext uri="{FF2B5EF4-FFF2-40B4-BE49-F238E27FC236}">
                    <a16:creationId xmlns:a16="http://schemas.microsoft.com/office/drawing/2014/main" id="{13F06192-8FB3-4334-82E3-90B1EC4B20C4}"/>
                  </a:ext>
                </a:extLst>
              </p:cNvPr>
              <p:cNvSpPr/>
              <p:nvPr/>
            </p:nvSpPr>
            <p:spPr>
              <a:xfrm>
                <a:off x="8459554" y="1325394"/>
                <a:ext cx="2377440" cy="304411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000" b="1" kern="0" spc="300" dirty="0">
                    <a:solidFill>
                      <a:srgbClr val="CADCFC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STEP 4</a:t>
                </a:r>
                <a:endParaRPr lang="en-US" sz="1000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5" name="Text 23">
                <a:extLst>
                  <a:ext uri="{FF2B5EF4-FFF2-40B4-BE49-F238E27FC236}">
                    <a16:creationId xmlns:a16="http://schemas.microsoft.com/office/drawing/2014/main" id="{78C9736C-3F3D-4E1A-9094-D2E63976E57B}"/>
                  </a:ext>
                </a:extLst>
              </p:cNvPr>
              <p:cNvSpPr/>
              <p:nvPr/>
            </p:nvSpPr>
            <p:spPr>
              <a:xfrm>
                <a:off x="8451721" y="1629805"/>
                <a:ext cx="2377440" cy="440594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ko-KR" altLang="en-US" b="1" dirty="0">
                    <a:solidFill>
                      <a:srgbClr val="FFFFFF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  <a:cs typeface="Calibri" pitchFamily="34" charset="-120"/>
                  </a:rPr>
                  <a:t>자동 입력</a:t>
                </a:r>
                <a:endParaRPr lang="en-US" dirty="0">
                  <a:latin typeface="맑은 고딕" panose="020B0503020000020004" pitchFamily="50" charset="-127"/>
                </a:endParaRPr>
              </a:p>
            </p:txBody>
          </p:sp>
          <p:sp>
            <p:nvSpPr>
              <p:cNvPr id="56" name="Text 24">
                <a:extLst>
                  <a:ext uri="{FF2B5EF4-FFF2-40B4-BE49-F238E27FC236}">
                    <a16:creationId xmlns:a16="http://schemas.microsoft.com/office/drawing/2014/main" id="{8B427E52-88AC-436F-A674-238ABF886B7E}"/>
                  </a:ext>
                </a:extLst>
              </p:cNvPr>
              <p:cNvSpPr/>
              <p:nvPr/>
            </p:nvSpPr>
            <p:spPr>
              <a:xfrm>
                <a:off x="8505274" y="2430031"/>
                <a:ext cx="2286000" cy="961297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latin typeface="맑은 고딕" panose="020B0503020000020004" pitchFamily="50" charset="-127"/>
                  </a:rPr>
                  <a:t>AI</a:t>
                </a:r>
                <a:r>
                  <a:rPr lang="ko-KR" altLang="en-US" sz="11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 직접 입력 요청 시</a:t>
                </a:r>
                <a:r>
                  <a:rPr lang="en-US" altLang="ko-KR" sz="11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</a:t>
                </a:r>
              </a:p>
              <a:p>
                <a:pPr marL="0" indent="0" algn="ctr">
                  <a:buNone/>
                </a:pPr>
                <a:r>
                  <a:rPr lang="ko-KR" altLang="en-US" sz="11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자동으로 포털에 접속해</a:t>
                </a:r>
                <a:endParaRPr lang="en-US" altLang="ko-KR" sz="1100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0" indent="0" algn="ctr">
                  <a:buNone/>
                </a:pPr>
                <a:r>
                  <a:rPr lang="ko-KR" altLang="en-US" sz="11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입력 값을 대신 작성합니다</a:t>
                </a:r>
                <a:r>
                  <a:rPr lang="en-US" altLang="ko-KR" sz="1100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BC31925F-29E0-4C96-9E57-75ED8CA1F780}"/>
                  </a:ext>
                </a:extLst>
              </p:cNvPr>
              <p:cNvGrpSpPr/>
              <p:nvPr/>
            </p:nvGrpSpPr>
            <p:grpSpPr>
              <a:xfrm>
                <a:off x="8543161" y="3652939"/>
                <a:ext cx="2197693" cy="411480"/>
                <a:chOff x="8550994" y="3676734"/>
                <a:chExt cx="2197693" cy="411480"/>
              </a:xfrm>
            </p:grpSpPr>
            <p:sp>
              <p:nvSpPr>
                <p:cNvPr id="58" name="Shape 25">
                  <a:extLst>
                    <a:ext uri="{FF2B5EF4-FFF2-40B4-BE49-F238E27FC236}">
                      <a16:creationId xmlns:a16="http://schemas.microsoft.com/office/drawing/2014/main" id="{3388B81F-75EA-4737-BFA0-EF21669FFC96}"/>
                    </a:ext>
                  </a:extLst>
                </p:cNvPr>
                <p:cNvSpPr/>
                <p:nvPr/>
              </p:nvSpPr>
              <p:spPr>
                <a:xfrm>
                  <a:off x="8550994" y="3676734"/>
                  <a:ext cx="2194560" cy="411480"/>
                </a:xfrm>
                <a:prstGeom prst="rect">
                  <a:avLst/>
                </a:prstGeom>
                <a:solidFill>
                  <a:srgbClr val="E8EFF8"/>
                </a:solidFill>
                <a:ln w="12700">
                  <a:solidFill>
                    <a:srgbClr val="E8EFF8"/>
                  </a:solidFill>
                  <a:prstDash val="solid"/>
                </a:ln>
              </p:spPr>
            </p:sp>
            <p:sp>
              <p:nvSpPr>
                <p:cNvPr id="59" name="Text 26">
                  <a:extLst>
                    <a:ext uri="{FF2B5EF4-FFF2-40B4-BE49-F238E27FC236}">
                      <a16:creationId xmlns:a16="http://schemas.microsoft.com/office/drawing/2014/main" id="{7CE46781-013C-4A34-BB5D-361B72115FA5}"/>
                    </a:ext>
                  </a:extLst>
                </p:cNvPr>
                <p:cNvSpPr/>
                <p:nvPr/>
              </p:nvSpPr>
              <p:spPr>
                <a:xfrm>
                  <a:off x="8554127" y="3714992"/>
                  <a:ext cx="2194560" cy="320432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pPr marL="0" indent="0" algn="ctr">
                    <a:buNone/>
                  </a:pPr>
                  <a:r>
                    <a:rPr lang="ko-KR" altLang="en-US" sz="900" dirty="0">
                      <a:solidFill>
                        <a:srgbClr val="64748B"/>
                      </a:solidFill>
                      <a:latin typeface="맑은 고딕" panose="020B0503020000020004" pitchFamily="50" charset="-127"/>
                      <a:ea typeface="맑은 고딕" panose="020B0503020000020004" pitchFamily="50" charset="-127"/>
                      <a:cs typeface="Calibri" pitchFamily="34" charset="-120"/>
                    </a:rPr>
                    <a:t>자동화 업무 수행</a:t>
                  </a:r>
                  <a:endParaRPr lang="en-US" sz="900" dirty="0">
                    <a:latin typeface="맑은 고딕" panose="020B0503020000020004" pitchFamily="50" charset="-127"/>
                  </a:endParaRPr>
                </a:p>
              </p:txBody>
            </p:sp>
          </p:grpSp>
        </p:grpSp>
        <p:sp>
          <p:nvSpPr>
            <p:cNvPr id="61" name="화살표: 오른쪽 60">
              <a:extLst>
                <a:ext uri="{FF2B5EF4-FFF2-40B4-BE49-F238E27FC236}">
                  <a16:creationId xmlns:a16="http://schemas.microsoft.com/office/drawing/2014/main" id="{E0A4AA71-E0B5-4643-8FBA-0F17F8937567}"/>
                </a:ext>
              </a:extLst>
            </p:cNvPr>
            <p:cNvSpPr/>
            <p:nvPr/>
          </p:nvSpPr>
          <p:spPr>
            <a:xfrm>
              <a:off x="5933488" y="2558781"/>
              <a:ext cx="335640" cy="360449"/>
            </a:xfrm>
            <a:prstGeom prst="rightArrow">
              <a:avLst/>
            </a:prstGeom>
            <a:solidFill>
              <a:srgbClr val="EF9F27"/>
            </a:solidFill>
            <a:ln>
              <a:solidFill>
                <a:srgbClr val="EF9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2" name="화살표: 오른쪽 61">
              <a:extLst>
                <a:ext uri="{FF2B5EF4-FFF2-40B4-BE49-F238E27FC236}">
                  <a16:creationId xmlns:a16="http://schemas.microsoft.com/office/drawing/2014/main" id="{E39B706B-63D0-4141-BFBE-B78C1EAB7586}"/>
                </a:ext>
              </a:extLst>
            </p:cNvPr>
            <p:cNvSpPr/>
            <p:nvPr/>
          </p:nvSpPr>
          <p:spPr>
            <a:xfrm>
              <a:off x="8684995" y="2558780"/>
              <a:ext cx="335640" cy="360449"/>
            </a:xfrm>
            <a:prstGeom prst="rightArrow">
              <a:avLst/>
            </a:prstGeom>
            <a:solidFill>
              <a:srgbClr val="EF9F27"/>
            </a:solidFill>
            <a:ln>
              <a:solidFill>
                <a:srgbClr val="EF9F2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1043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3E4DE-348D-469C-BCC6-9AD471D2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UI </a:t>
            </a:r>
            <a:r>
              <a:rPr lang="ko-KR" altLang="en-US" dirty="0" err="1"/>
              <a:t>목업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 err="1"/>
              <a:t>챗봇</a:t>
            </a:r>
            <a:r>
              <a:rPr lang="ko-KR" altLang="en-US" dirty="0"/>
              <a:t> 인터페이스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1D6F36F-02EE-47ED-BA9E-631A058CC1FA}"/>
              </a:ext>
            </a:extLst>
          </p:cNvPr>
          <p:cNvGrpSpPr/>
          <p:nvPr/>
        </p:nvGrpSpPr>
        <p:grpSpPr>
          <a:xfrm>
            <a:off x="2542620" y="1097120"/>
            <a:ext cx="10449561" cy="4832773"/>
            <a:chOff x="320040" y="822960"/>
            <a:chExt cx="8549640" cy="3931920"/>
          </a:xfrm>
        </p:grpSpPr>
        <p:sp>
          <p:nvSpPr>
            <p:cNvPr id="35" name="Shape 2">
              <a:extLst>
                <a:ext uri="{FF2B5EF4-FFF2-40B4-BE49-F238E27FC236}">
                  <a16:creationId xmlns:a16="http://schemas.microsoft.com/office/drawing/2014/main" id="{21B68002-900D-4199-8EFA-C5DF4D9F47D5}"/>
                </a:ext>
              </a:extLst>
            </p:cNvPr>
            <p:cNvSpPr/>
            <p:nvPr/>
          </p:nvSpPr>
          <p:spPr>
            <a:xfrm>
              <a:off x="320040" y="822960"/>
              <a:ext cx="5029200" cy="39319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B0BEC5"/>
              </a:solidFill>
              <a:prstDash val="solid"/>
            </a:ln>
          </p:spPr>
        </p:sp>
        <p:sp>
          <p:nvSpPr>
            <p:cNvPr id="38" name="Shape 3">
              <a:extLst>
                <a:ext uri="{FF2B5EF4-FFF2-40B4-BE49-F238E27FC236}">
                  <a16:creationId xmlns:a16="http://schemas.microsoft.com/office/drawing/2014/main" id="{45280B88-2330-4303-A920-15E59046CFDA}"/>
                </a:ext>
              </a:extLst>
            </p:cNvPr>
            <p:cNvSpPr/>
            <p:nvPr/>
          </p:nvSpPr>
          <p:spPr>
            <a:xfrm>
              <a:off x="320040" y="822960"/>
              <a:ext cx="5029200" cy="502920"/>
            </a:xfrm>
            <a:prstGeom prst="rect">
              <a:avLst/>
            </a:prstGeom>
            <a:solidFill>
              <a:srgbClr val="0D2D6B"/>
            </a:solidFill>
            <a:ln w="12700">
              <a:solidFill>
                <a:srgbClr val="0D2D6B"/>
              </a:solidFill>
              <a:prstDash val="solid"/>
            </a:ln>
          </p:spPr>
        </p:sp>
        <p:sp>
          <p:nvSpPr>
            <p:cNvPr id="39" name="Text 4">
              <a:extLst>
                <a:ext uri="{FF2B5EF4-FFF2-40B4-BE49-F238E27FC236}">
                  <a16:creationId xmlns:a16="http://schemas.microsoft.com/office/drawing/2014/main" id="{E9AEF965-F6F3-4953-8A90-43807234E465}"/>
                </a:ext>
              </a:extLst>
            </p:cNvPr>
            <p:cNvSpPr/>
            <p:nvPr/>
          </p:nvSpPr>
          <p:spPr>
            <a:xfrm>
              <a:off x="457200" y="850392"/>
              <a:ext cx="3657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중앙대학교 교수 업적 관리 시스템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40" name="Text 5">
              <a:extLst>
                <a:ext uri="{FF2B5EF4-FFF2-40B4-BE49-F238E27FC236}">
                  <a16:creationId xmlns:a16="http://schemas.microsoft.com/office/drawing/2014/main" id="{2DF4722B-B37C-4B8C-ABF4-6A059D86AA11}"/>
                </a:ext>
              </a:extLst>
            </p:cNvPr>
            <p:cNvSpPr/>
            <p:nvPr/>
          </p:nvSpPr>
          <p:spPr>
            <a:xfrm>
              <a:off x="457200" y="1115568"/>
              <a:ext cx="3200400" cy="16459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700" dirty="0">
                  <a:solidFill>
                    <a:srgbClr val="7EB3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논문 정보 포맷 변환 도우미</a:t>
              </a:r>
              <a:endParaRPr lang="en-US" sz="700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Shape 6">
              <a:extLst>
                <a:ext uri="{FF2B5EF4-FFF2-40B4-BE49-F238E27FC236}">
                  <a16:creationId xmlns:a16="http://schemas.microsoft.com/office/drawing/2014/main" id="{15BF80F0-E22F-4836-8324-B58B1AEF71FE}"/>
                </a:ext>
              </a:extLst>
            </p:cNvPr>
            <p:cNvSpPr/>
            <p:nvPr/>
          </p:nvSpPr>
          <p:spPr>
            <a:xfrm>
              <a:off x="4279392" y="905256"/>
              <a:ext cx="822960" cy="256032"/>
            </a:xfrm>
            <a:prstGeom prst="rect">
              <a:avLst/>
            </a:prstGeom>
            <a:solidFill>
              <a:srgbClr val="1E4DA0"/>
            </a:solidFill>
            <a:ln w="12700">
              <a:solidFill>
                <a:srgbClr val="1E4DA0"/>
              </a:solidFill>
              <a:prstDash val="solid"/>
            </a:ln>
          </p:spPr>
        </p:sp>
        <p:sp>
          <p:nvSpPr>
            <p:cNvPr id="42" name="Text 7">
              <a:extLst>
                <a:ext uri="{FF2B5EF4-FFF2-40B4-BE49-F238E27FC236}">
                  <a16:creationId xmlns:a16="http://schemas.microsoft.com/office/drawing/2014/main" id="{27B51FE2-1386-45D6-B27F-770E00C11C22}"/>
                </a:ext>
              </a:extLst>
            </p:cNvPr>
            <p:cNvSpPr/>
            <p:nvPr/>
          </p:nvSpPr>
          <p:spPr>
            <a:xfrm>
              <a:off x="4279392" y="914400"/>
              <a:ext cx="82296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70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+ 새 대화</a:t>
              </a:r>
              <a:endParaRPr lang="en-US" sz="700" dirty="0">
                <a:latin typeface="맑은 고딕" panose="020B0503020000020004" pitchFamily="50" charset="-127"/>
              </a:endParaRPr>
            </a:p>
          </p:txBody>
        </p:sp>
        <p:sp>
          <p:nvSpPr>
            <p:cNvPr id="43" name="Shape 8">
              <a:extLst>
                <a:ext uri="{FF2B5EF4-FFF2-40B4-BE49-F238E27FC236}">
                  <a16:creationId xmlns:a16="http://schemas.microsoft.com/office/drawing/2014/main" id="{87D66A7A-3868-4556-BEFC-DC875A47AD92}"/>
                </a:ext>
              </a:extLst>
            </p:cNvPr>
            <p:cNvSpPr/>
            <p:nvPr/>
          </p:nvSpPr>
          <p:spPr>
            <a:xfrm>
              <a:off x="457200" y="1463040"/>
              <a:ext cx="2440778" cy="502920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4" name="Text 9">
              <a:extLst>
                <a:ext uri="{FF2B5EF4-FFF2-40B4-BE49-F238E27FC236}">
                  <a16:creationId xmlns:a16="http://schemas.microsoft.com/office/drawing/2014/main" id="{C9C0D1EA-4015-40DA-8343-2A4D37C47C38}"/>
                </a:ext>
              </a:extLst>
            </p:cNvPr>
            <p:cNvSpPr/>
            <p:nvPr/>
          </p:nvSpPr>
          <p:spPr>
            <a:xfrm>
              <a:off x="502920" y="1481328"/>
              <a:ext cx="310896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000" dirty="0" err="1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안녕하세요</a:t>
              </a:r>
              <a:r>
                <a:rPr lang="en-US" sz="10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! </a:t>
              </a:r>
              <a:r>
                <a:rPr lang="ko-KR" altLang="en-US" sz="10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업적 관리  </a:t>
              </a:r>
              <a:r>
                <a:rPr lang="en-US" altLang="ko-KR" sz="10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AI </a:t>
              </a:r>
              <a:r>
                <a:rPr lang="ko-KR" altLang="en-US" sz="10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도우미 입니다</a:t>
              </a:r>
              <a:r>
                <a:rPr lang="en-US" altLang="ko-KR" sz="10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.</a:t>
              </a:r>
              <a:r>
                <a:rPr lang="en-US" sz="10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 </a:t>
              </a:r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000" dirty="0" err="1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논문</a:t>
              </a:r>
              <a:r>
                <a:rPr lang="en-US" sz="10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 PDF를 첨부하거나 정보를 입력해 주세요.</a:t>
              </a:r>
              <a:endParaRPr 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45" name="Shape 10">
              <a:extLst>
                <a:ext uri="{FF2B5EF4-FFF2-40B4-BE49-F238E27FC236}">
                  <a16:creationId xmlns:a16="http://schemas.microsoft.com/office/drawing/2014/main" id="{D6D90986-35AC-4DF7-B312-FF7C9464BA8A}"/>
                </a:ext>
              </a:extLst>
            </p:cNvPr>
            <p:cNvSpPr/>
            <p:nvPr/>
          </p:nvSpPr>
          <p:spPr>
            <a:xfrm>
              <a:off x="3360421" y="2088756"/>
              <a:ext cx="1783079" cy="502920"/>
            </a:xfrm>
            <a:prstGeom prst="rect">
              <a:avLst/>
            </a:prstGeom>
            <a:solidFill>
              <a:srgbClr val="0D2D6B"/>
            </a:solidFill>
            <a:ln w="12700">
              <a:solidFill>
                <a:srgbClr val="0D2D6B"/>
              </a:solidFill>
              <a:prstDash val="solid"/>
            </a:ln>
          </p:spPr>
          <p:txBody>
            <a:bodyPr/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Text 11">
              <a:extLst>
                <a:ext uri="{FF2B5EF4-FFF2-40B4-BE49-F238E27FC236}">
                  <a16:creationId xmlns:a16="http://schemas.microsoft.com/office/drawing/2014/main" id="{52DE851A-F970-4C8A-8DD9-FF14D5256D3A}"/>
                </a:ext>
              </a:extLst>
            </p:cNvPr>
            <p:cNvSpPr/>
            <p:nvPr/>
          </p:nvSpPr>
          <p:spPr>
            <a:xfrm>
              <a:off x="3359239" y="2094683"/>
              <a:ext cx="1737358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lnSpc>
                  <a:spcPct val="150000"/>
                </a:lnSpc>
                <a:buNone/>
              </a:pPr>
              <a:r>
                <a:rPr lang="en-US" sz="100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📎 칭찬 분석.PDF </a:t>
              </a:r>
            </a:p>
            <a:p>
              <a:pPr marL="0" indent="0">
                <a:lnSpc>
                  <a:spcPct val="150000"/>
                </a:lnSpc>
                <a:buNone/>
              </a:pPr>
              <a:r>
                <a:rPr lang="en-US" sz="1000" dirty="0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논문</a:t>
              </a:r>
              <a:r>
                <a:rPr lang="en-US" sz="100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 </a:t>
              </a:r>
              <a:r>
                <a:rPr lang="ko-KR" altLang="en-US" sz="100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정보 정리해줘</a:t>
              </a:r>
              <a:endParaRPr 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Shape 12">
              <a:extLst>
                <a:ext uri="{FF2B5EF4-FFF2-40B4-BE49-F238E27FC236}">
                  <a16:creationId xmlns:a16="http://schemas.microsoft.com/office/drawing/2014/main" id="{061F034E-E4FD-4262-8D0E-48AF32E65CE5}"/>
                </a:ext>
              </a:extLst>
            </p:cNvPr>
            <p:cNvSpPr/>
            <p:nvPr/>
          </p:nvSpPr>
          <p:spPr>
            <a:xfrm>
              <a:off x="457200" y="2743200"/>
              <a:ext cx="4114800" cy="14630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48" name="Text 13">
              <a:extLst>
                <a:ext uri="{FF2B5EF4-FFF2-40B4-BE49-F238E27FC236}">
                  <a16:creationId xmlns:a16="http://schemas.microsoft.com/office/drawing/2014/main" id="{7D64064D-E1CB-4182-8A4C-E8DDFE8A3C64}"/>
                </a:ext>
              </a:extLst>
            </p:cNvPr>
            <p:cNvSpPr/>
            <p:nvPr/>
          </p:nvSpPr>
          <p:spPr>
            <a:xfrm>
              <a:off x="502920" y="2761488"/>
              <a:ext cx="3931920" cy="21945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PDF에서 논문 정보를 추출하여 정리했습니다.</a:t>
              </a:r>
              <a:endParaRPr 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49" name="Shape 14">
              <a:extLst>
                <a:ext uri="{FF2B5EF4-FFF2-40B4-BE49-F238E27FC236}">
                  <a16:creationId xmlns:a16="http://schemas.microsoft.com/office/drawing/2014/main" id="{A0613A47-2F6C-4712-BFC3-C58BADF590E3}"/>
                </a:ext>
              </a:extLst>
            </p:cNvPr>
            <p:cNvSpPr/>
            <p:nvPr/>
          </p:nvSpPr>
          <p:spPr>
            <a:xfrm>
              <a:off x="457200" y="2990088"/>
              <a:ext cx="4114800" cy="2286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E8BEEC57-886A-4C0B-B198-62C7F5205B47}"/>
                </a:ext>
              </a:extLst>
            </p:cNvPr>
            <p:cNvSpPr/>
            <p:nvPr/>
          </p:nvSpPr>
          <p:spPr>
            <a:xfrm>
              <a:off x="502920" y="3017520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논문 구분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1" name="Text 16">
              <a:extLst>
                <a:ext uri="{FF2B5EF4-FFF2-40B4-BE49-F238E27FC236}">
                  <a16:creationId xmlns:a16="http://schemas.microsoft.com/office/drawing/2014/main" id="{4C35D93B-EF21-4937-B803-2E4476DE9AED}"/>
                </a:ext>
              </a:extLst>
            </p:cNvPr>
            <p:cNvSpPr/>
            <p:nvPr/>
          </p:nvSpPr>
          <p:spPr>
            <a:xfrm>
              <a:off x="1627632" y="3017520"/>
              <a:ext cx="28346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국제전문학술지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2" name="Shape 17">
              <a:extLst>
                <a:ext uri="{FF2B5EF4-FFF2-40B4-BE49-F238E27FC236}">
                  <a16:creationId xmlns:a16="http://schemas.microsoft.com/office/drawing/2014/main" id="{BD941EB4-111F-4D0B-BDB1-0B638FEF96E7}"/>
                </a:ext>
              </a:extLst>
            </p:cNvPr>
            <p:cNvSpPr/>
            <p:nvPr/>
          </p:nvSpPr>
          <p:spPr>
            <a:xfrm>
              <a:off x="457200" y="3218688"/>
              <a:ext cx="4114800" cy="228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53" name="Text 18">
              <a:extLst>
                <a:ext uri="{FF2B5EF4-FFF2-40B4-BE49-F238E27FC236}">
                  <a16:creationId xmlns:a16="http://schemas.microsoft.com/office/drawing/2014/main" id="{19F56D2C-478F-48F1-8D76-A8128C6132E7}"/>
                </a:ext>
              </a:extLst>
            </p:cNvPr>
            <p:cNvSpPr/>
            <p:nvPr/>
          </p:nvSpPr>
          <p:spPr>
            <a:xfrm>
              <a:off x="502920" y="3246120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학술지명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6DB996D6-69BD-49BF-BEA3-A30329F654C4}"/>
                </a:ext>
              </a:extLst>
            </p:cNvPr>
            <p:cNvSpPr/>
            <p:nvPr/>
          </p:nvSpPr>
          <p:spPr>
            <a:xfrm>
              <a:off x="1627632" y="3246120"/>
              <a:ext cx="28346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BMJ OPEN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5" name="Shape 20">
              <a:extLst>
                <a:ext uri="{FF2B5EF4-FFF2-40B4-BE49-F238E27FC236}">
                  <a16:creationId xmlns:a16="http://schemas.microsoft.com/office/drawing/2014/main" id="{F38D3B3E-979F-4809-9149-667442579A41}"/>
                </a:ext>
              </a:extLst>
            </p:cNvPr>
            <p:cNvSpPr/>
            <p:nvPr/>
          </p:nvSpPr>
          <p:spPr>
            <a:xfrm>
              <a:off x="457200" y="3447288"/>
              <a:ext cx="4114800" cy="228600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56" name="Text 21">
              <a:extLst>
                <a:ext uri="{FF2B5EF4-FFF2-40B4-BE49-F238E27FC236}">
                  <a16:creationId xmlns:a16="http://schemas.microsoft.com/office/drawing/2014/main" id="{6A17148E-9620-42A0-B281-9D51786B2B54}"/>
                </a:ext>
              </a:extLst>
            </p:cNvPr>
            <p:cNvSpPr/>
            <p:nvPr/>
          </p:nvSpPr>
          <p:spPr>
            <a:xfrm>
              <a:off x="502920" y="3474720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발행일자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7" name="Text 22">
              <a:extLst>
                <a:ext uri="{FF2B5EF4-FFF2-40B4-BE49-F238E27FC236}">
                  <a16:creationId xmlns:a16="http://schemas.microsoft.com/office/drawing/2014/main" id="{90DB5EE7-FA8F-4F40-BCED-D962820DFB84}"/>
                </a:ext>
              </a:extLst>
            </p:cNvPr>
            <p:cNvSpPr/>
            <p:nvPr/>
          </p:nvSpPr>
          <p:spPr>
            <a:xfrm>
              <a:off x="1627632" y="3474720"/>
              <a:ext cx="28346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2026.03.16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8" name="Shape 23">
              <a:extLst>
                <a:ext uri="{FF2B5EF4-FFF2-40B4-BE49-F238E27FC236}">
                  <a16:creationId xmlns:a16="http://schemas.microsoft.com/office/drawing/2014/main" id="{27EE1CDB-14BD-4997-8FB4-E62740645A52}"/>
                </a:ext>
              </a:extLst>
            </p:cNvPr>
            <p:cNvSpPr/>
            <p:nvPr/>
          </p:nvSpPr>
          <p:spPr>
            <a:xfrm>
              <a:off x="457200" y="3675888"/>
              <a:ext cx="4114800" cy="2286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59" name="Text 24">
              <a:extLst>
                <a:ext uri="{FF2B5EF4-FFF2-40B4-BE49-F238E27FC236}">
                  <a16:creationId xmlns:a16="http://schemas.microsoft.com/office/drawing/2014/main" id="{24E21A3E-3F3E-4AA1-8FC9-FAA7E00D4CB4}"/>
                </a:ext>
              </a:extLst>
            </p:cNvPr>
            <p:cNvSpPr/>
            <p:nvPr/>
          </p:nvSpPr>
          <p:spPr>
            <a:xfrm>
              <a:off x="502920" y="3703320"/>
              <a:ext cx="109728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논문명(원어)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60" name="Text 25">
              <a:extLst>
                <a:ext uri="{FF2B5EF4-FFF2-40B4-BE49-F238E27FC236}">
                  <a16:creationId xmlns:a16="http://schemas.microsoft.com/office/drawing/2014/main" id="{F176D670-2E43-403B-894B-862659688647}"/>
                </a:ext>
              </a:extLst>
            </p:cNvPr>
            <p:cNvSpPr/>
            <p:nvPr/>
          </p:nvSpPr>
          <p:spPr>
            <a:xfrm>
              <a:off x="1627632" y="3703320"/>
              <a:ext cx="283464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What do patients value? ...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61" name="Shape 26">
              <a:extLst>
                <a:ext uri="{FF2B5EF4-FFF2-40B4-BE49-F238E27FC236}">
                  <a16:creationId xmlns:a16="http://schemas.microsoft.com/office/drawing/2014/main" id="{13B0BF47-1123-41EC-BDA7-ED4C625816F5}"/>
                </a:ext>
              </a:extLst>
            </p:cNvPr>
            <p:cNvSpPr/>
            <p:nvPr/>
          </p:nvSpPr>
          <p:spPr>
            <a:xfrm>
              <a:off x="320040" y="4325112"/>
              <a:ext cx="5029200" cy="429768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B0BEC5"/>
              </a:solidFill>
              <a:prstDash val="solid"/>
            </a:ln>
          </p:spPr>
        </p:sp>
        <p:sp>
          <p:nvSpPr>
            <p:cNvPr id="62" name="Text 27">
              <a:extLst>
                <a:ext uri="{FF2B5EF4-FFF2-40B4-BE49-F238E27FC236}">
                  <a16:creationId xmlns:a16="http://schemas.microsoft.com/office/drawing/2014/main" id="{6B24ECF6-1C41-4683-AA84-635B77F070DA}"/>
                </a:ext>
              </a:extLst>
            </p:cNvPr>
            <p:cNvSpPr/>
            <p:nvPr/>
          </p:nvSpPr>
          <p:spPr>
            <a:xfrm>
              <a:off x="411480" y="4352544"/>
              <a:ext cx="4114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800" dirty="0">
                  <a:solidFill>
                    <a:srgbClr val="B0BEC5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📎  논문 파일을 첨부하거나 정보를 입력하세요</a:t>
              </a:r>
              <a:endParaRPr lang="en-US" sz="800" dirty="0">
                <a:latin typeface="맑은 고딕" panose="020B0503020000020004" pitchFamily="50" charset="-127"/>
              </a:endParaRPr>
            </a:p>
          </p:txBody>
        </p:sp>
        <p:sp>
          <p:nvSpPr>
            <p:cNvPr id="63" name="Shape 28">
              <a:extLst>
                <a:ext uri="{FF2B5EF4-FFF2-40B4-BE49-F238E27FC236}">
                  <a16:creationId xmlns:a16="http://schemas.microsoft.com/office/drawing/2014/main" id="{7F23EEC7-09EA-4F2D-AB9E-26F04D4D1C76}"/>
                </a:ext>
              </a:extLst>
            </p:cNvPr>
            <p:cNvSpPr/>
            <p:nvPr/>
          </p:nvSpPr>
          <p:spPr>
            <a:xfrm>
              <a:off x="5029200" y="4361688"/>
              <a:ext cx="256032" cy="274320"/>
            </a:xfrm>
            <a:prstGeom prst="rect">
              <a:avLst/>
            </a:prstGeom>
            <a:solidFill>
              <a:srgbClr val="0D2D6B"/>
            </a:solidFill>
            <a:ln w="12700">
              <a:solidFill>
                <a:srgbClr val="0D2D6B"/>
              </a:solidFill>
              <a:prstDash val="solid"/>
            </a:ln>
          </p:spPr>
        </p:sp>
        <p:sp>
          <p:nvSpPr>
            <p:cNvPr id="64" name="Text 29">
              <a:extLst>
                <a:ext uri="{FF2B5EF4-FFF2-40B4-BE49-F238E27FC236}">
                  <a16:creationId xmlns:a16="http://schemas.microsoft.com/office/drawing/2014/main" id="{2C26C4AF-7795-4A25-BFB9-86D9BA1EBA3F}"/>
                </a:ext>
              </a:extLst>
            </p:cNvPr>
            <p:cNvSpPr/>
            <p:nvPr/>
          </p:nvSpPr>
          <p:spPr>
            <a:xfrm>
              <a:off x="5029200" y="4361688"/>
              <a:ext cx="25603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→</a:t>
              </a:r>
              <a:endParaRPr lang="en-US" sz="1000" dirty="0">
                <a:latin typeface="맑은 고딕" panose="020B0503020000020004" pitchFamily="50" charset="-127"/>
              </a:endParaRPr>
            </a:p>
          </p:txBody>
        </p:sp>
        <p:sp>
          <p:nvSpPr>
            <p:cNvPr id="65" name="Shape 30">
              <a:extLst>
                <a:ext uri="{FF2B5EF4-FFF2-40B4-BE49-F238E27FC236}">
                  <a16:creationId xmlns:a16="http://schemas.microsoft.com/office/drawing/2014/main" id="{E275480A-6709-48AE-90E7-A37B5DCBC37F}"/>
                </a:ext>
              </a:extLst>
            </p:cNvPr>
            <p:cNvSpPr/>
            <p:nvPr/>
          </p:nvSpPr>
          <p:spPr>
            <a:xfrm>
              <a:off x="5285232" y="942078"/>
              <a:ext cx="91440" cy="91440"/>
            </a:xfrm>
            <a:prstGeom prst="line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</p:sp>
        <p:sp>
          <p:nvSpPr>
            <p:cNvPr id="66" name="Shape 31">
              <a:extLst>
                <a:ext uri="{FF2B5EF4-FFF2-40B4-BE49-F238E27FC236}">
                  <a16:creationId xmlns:a16="http://schemas.microsoft.com/office/drawing/2014/main" id="{20D82396-A105-4397-A8AB-06BFBB1B52F8}"/>
                </a:ext>
              </a:extLst>
            </p:cNvPr>
            <p:cNvSpPr/>
            <p:nvPr/>
          </p:nvSpPr>
          <p:spPr>
            <a:xfrm>
              <a:off x="5367528" y="978654"/>
              <a:ext cx="228600" cy="18288"/>
            </a:xfrm>
            <a:prstGeom prst="rect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</p:sp>
        <p:sp>
          <p:nvSpPr>
            <p:cNvPr id="67" name="Text 32">
              <a:extLst>
                <a:ext uri="{FF2B5EF4-FFF2-40B4-BE49-F238E27FC236}">
                  <a16:creationId xmlns:a16="http://schemas.microsoft.com/office/drawing/2014/main" id="{B7A36735-A962-4932-A803-73D5C3F9A705}"/>
                </a:ext>
              </a:extLst>
            </p:cNvPr>
            <p:cNvSpPr/>
            <p:nvPr/>
          </p:nvSpPr>
          <p:spPr>
            <a:xfrm>
              <a:off x="5614417" y="877825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2D6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① 헤더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68" name="Text 33">
              <a:extLst>
                <a:ext uri="{FF2B5EF4-FFF2-40B4-BE49-F238E27FC236}">
                  <a16:creationId xmlns:a16="http://schemas.microsoft.com/office/drawing/2014/main" id="{129065DE-98BE-4104-82AF-674DCF0A064B}"/>
                </a:ext>
              </a:extLst>
            </p:cNvPr>
            <p:cNvSpPr/>
            <p:nvPr/>
          </p:nvSpPr>
          <p:spPr>
            <a:xfrm>
              <a:off x="5614417" y="1088137"/>
              <a:ext cx="3246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중앙대 브랜드 컬러</a:t>
              </a:r>
              <a:endParaRPr lang="en-US" sz="1200" dirty="0">
                <a:latin typeface="맑은 고딕" panose="020B0503020000020004" pitchFamily="50" charset="-127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시스템명 + 새 대화 버튼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69" name="Shape 34">
              <a:extLst>
                <a:ext uri="{FF2B5EF4-FFF2-40B4-BE49-F238E27FC236}">
                  <a16:creationId xmlns:a16="http://schemas.microsoft.com/office/drawing/2014/main" id="{53524326-C996-4A37-A722-CD374D50667D}"/>
                </a:ext>
              </a:extLst>
            </p:cNvPr>
            <p:cNvSpPr/>
            <p:nvPr/>
          </p:nvSpPr>
          <p:spPr>
            <a:xfrm>
              <a:off x="5289804" y="1567857"/>
              <a:ext cx="91440" cy="91440"/>
            </a:xfrm>
            <a:prstGeom prst="line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</p:sp>
        <p:sp>
          <p:nvSpPr>
            <p:cNvPr id="70" name="Shape 35">
              <a:extLst>
                <a:ext uri="{FF2B5EF4-FFF2-40B4-BE49-F238E27FC236}">
                  <a16:creationId xmlns:a16="http://schemas.microsoft.com/office/drawing/2014/main" id="{57F2A81D-8AA2-4A78-8B2A-0619C225752A}"/>
                </a:ext>
              </a:extLst>
            </p:cNvPr>
            <p:cNvSpPr/>
            <p:nvPr/>
          </p:nvSpPr>
          <p:spPr>
            <a:xfrm>
              <a:off x="5372100" y="1604433"/>
              <a:ext cx="228600" cy="18288"/>
            </a:xfrm>
            <a:prstGeom prst="rect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</p:sp>
        <p:sp>
          <p:nvSpPr>
            <p:cNvPr id="71" name="Text 36">
              <a:extLst>
                <a:ext uri="{FF2B5EF4-FFF2-40B4-BE49-F238E27FC236}">
                  <a16:creationId xmlns:a16="http://schemas.microsoft.com/office/drawing/2014/main" id="{5FFA2720-2C3C-4EDA-BB9F-CEA495BADCBB}"/>
                </a:ext>
              </a:extLst>
            </p:cNvPr>
            <p:cNvSpPr/>
            <p:nvPr/>
          </p:nvSpPr>
          <p:spPr>
            <a:xfrm>
              <a:off x="5614417" y="1504188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2D6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② 봇 메시지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72" name="Text 37">
              <a:extLst>
                <a:ext uri="{FF2B5EF4-FFF2-40B4-BE49-F238E27FC236}">
                  <a16:creationId xmlns:a16="http://schemas.microsoft.com/office/drawing/2014/main" id="{1CF90DAC-7A07-4C8F-AFD8-FBF81EC4F91D}"/>
                </a:ext>
              </a:extLst>
            </p:cNvPr>
            <p:cNvSpPr/>
            <p:nvPr/>
          </p:nvSpPr>
          <p:spPr>
            <a:xfrm>
              <a:off x="5614417" y="1714500"/>
              <a:ext cx="3246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환영 메시지</a:t>
              </a:r>
              <a:endParaRPr lang="en-US" sz="1200" dirty="0">
                <a:latin typeface="맑은 고딕" panose="020B0503020000020004" pitchFamily="50" charset="-127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첫 안내 자동 출력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73" name="Shape 38">
              <a:extLst>
                <a:ext uri="{FF2B5EF4-FFF2-40B4-BE49-F238E27FC236}">
                  <a16:creationId xmlns:a16="http://schemas.microsoft.com/office/drawing/2014/main" id="{EEAE3988-C5E0-4900-BFCD-3F66D224B50B}"/>
                </a:ext>
              </a:extLst>
            </p:cNvPr>
            <p:cNvSpPr/>
            <p:nvPr/>
          </p:nvSpPr>
          <p:spPr>
            <a:xfrm>
              <a:off x="5312664" y="2199671"/>
              <a:ext cx="91440" cy="91440"/>
            </a:xfrm>
            <a:prstGeom prst="line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</p:sp>
        <p:sp>
          <p:nvSpPr>
            <p:cNvPr id="74" name="Shape 39">
              <a:extLst>
                <a:ext uri="{FF2B5EF4-FFF2-40B4-BE49-F238E27FC236}">
                  <a16:creationId xmlns:a16="http://schemas.microsoft.com/office/drawing/2014/main" id="{DE8425CF-ADB8-4578-853F-6F889036BDDE}"/>
                </a:ext>
              </a:extLst>
            </p:cNvPr>
            <p:cNvSpPr/>
            <p:nvPr/>
          </p:nvSpPr>
          <p:spPr>
            <a:xfrm>
              <a:off x="5394960" y="2236247"/>
              <a:ext cx="228600" cy="18288"/>
            </a:xfrm>
            <a:prstGeom prst="rect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408B783C-FEE0-4CF3-B20A-8DA9ED8ED5A4}"/>
                </a:ext>
              </a:extLst>
            </p:cNvPr>
            <p:cNvSpPr/>
            <p:nvPr/>
          </p:nvSpPr>
          <p:spPr>
            <a:xfrm>
              <a:off x="5614417" y="2147184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2D6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③ 파일 첨부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4AFD79AC-52E1-4C70-84DF-9C6798CF2DD6}"/>
                </a:ext>
              </a:extLst>
            </p:cNvPr>
            <p:cNvSpPr/>
            <p:nvPr/>
          </p:nvSpPr>
          <p:spPr>
            <a:xfrm>
              <a:off x="5614417" y="2357496"/>
              <a:ext cx="3246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PDF·이미지 첨부</a:t>
              </a:r>
              <a:endParaRPr lang="en-US" sz="1200" dirty="0">
                <a:latin typeface="맑은 고딕" panose="020B0503020000020004" pitchFamily="50" charset="-127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+ 텍스트 입력 지원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77" name="Shape 42">
              <a:extLst>
                <a:ext uri="{FF2B5EF4-FFF2-40B4-BE49-F238E27FC236}">
                  <a16:creationId xmlns:a16="http://schemas.microsoft.com/office/drawing/2014/main" id="{14D0F392-1E82-4370-B667-08C34AC0F200}"/>
                </a:ext>
              </a:extLst>
            </p:cNvPr>
            <p:cNvSpPr/>
            <p:nvPr/>
          </p:nvSpPr>
          <p:spPr>
            <a:xfrm>
              <a:off x="5303521" y="2891622"/>
              <a:ext cx="91440" cy="91440"/>
            </a:xfrm>
            <a:prstGeom prst="line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</p:sp>
        <p:sp>
          <p:nvSpPr>
            <p:cNvPr id="78" name="Shape 43">
              <a:extLst>
                <a:ext uri="{FF2B5EF4-FFF2-40B4-BE49-F238E27FC236}">
                  <a16:creationId xmlns:a16="http://schemas.microsoft.com/office/drawing/2014/main" id="{20769FD6-FE52-4F44-871B-0761DD543DE9}"/>
                </a:ext>
              </a:extLst>
            </p:cNvPr>
            <p:cNvSpPr/>
            <p:nvPr/>
          </p:nvSpPr>
          <p:spPr>
            <a:xfrm>
              <a:off x="5385817" y="2928196"/>
              <a:ext cx="228600" cy="18288"/>
            </a:xfrm>
            <a:prstGeom prst="rect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</p:sp>
        <p:sp>
          <p:nvSpPr>
            <p:cNvPr id="79" name="Text 44">
              <a:extLst>
                <a:ext uri="{FF2B5EF4-FFF2-40B4-BE49-F238E27FC236}">
                  <a16:creationId xmlns:a16="http://schemas.microsoft.com/office/drawing/2014/main" id="{F2B44BE4-7668-4BD5-8E65-FC331BCC4CF4}"/>
                </a:ext>
              </a:extLst>
            </p:cNvPr>
            <p:cNvSpPr/>
            <p:nvPr/>
          </p:nvSpPr>
          <p:spPr>
            <a:xfrm>
              <a:off x="5623560" y="2834640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2D6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④ 결과 표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80" name="Text 45">
              <a:extLst>
                <a:ext uri="{FF2B5EF4-FFF2-40B4-BE49-F238E27FC236}">
                  <a16:creationId xmlns:a16="http://schemas.microsoft.com/office/drawing/2014/main" id="{14BCA386-6E67-4B64-8851-4D7DEB0F0446}"/>
                </a:ext>
              </a:extLst>
            </p:cNvPr>
            <p:cNvSpPr/>
            <p:nvPr/>
          </p:nvSpPr>
          <p:spPr>
            <a:xfrm>
              <a:off x="5623560" y="3044952"/>
              <a:ext cx="3246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20개 필드 자동 매핑</a:t>
              </a:r>
              <a:endParaRPr lang="en-US" sz="1200" dirty="0">
                <a:latin typeface="맑은 고딕" panose="020B0503020000020004" pitchFamily="50" charset="-127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누락 항목 강조 표시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81" name="Shape 46">
              <a:extLst>
                <a:ext uri="{FF2B5EF4-FFF2-40B4-BE49-F238E27FC236}">
                  <a16:creationId xmlns:a16="http://schemas.microsoft.com/office/drawing/2014/main" id="{CD510A4F-5817-42C6-9935-D0DD70254A87}"/>
                </a:ext>
              </a:extLst>
            </p:cNvPr>
            <p:cNvSpPr/>
            <p:nvPr/>
          </p:nvSpPr>
          <p:spPr>
            <a:xfrm>
              <a:off x="5248656" y="4406814"/>
              <a:ext cx="91440" cy="91440"/>
            </a:xfrm>
            <a:prstGeom prst="line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</p:sp>
        <p:sp>
          <p:nvSpPr>
            <p:cNvPr id="82" name="Shape 47">
              <a:extLst>
                <a:ext uri="{FF2B5EF4-FFF2-40B4-BE49-F238E27FC236}">
                  <a16:creationId xmlns:a16="http://schemas.microsoft.com/office/drawing/2014/main" id="{385CC404-584A-4409-A547-3AD35037692A}"/>
                </a:ext>
              </a:extLst>
            </p:cNvPr>
            <p:cNvSpPr/>
            <p:nvPr/>
          </p:nvSpPr>
          <p:spPr>
            <a:xfrm>
              <a:off x="5330952" y="4443390"/>
              <a:ext cx="228600" cy="18288"/>
            </a:xfrm>
            <a:prstGeom prst="rect">
              <a:avLst/>
            </a:prstGeom>
            <a:solidFill>
              <a:srgbClr val="EF9F27"/>
            </a:solidFill>
            <a:ln w="12700">
              <a:solidFill>
                <a:srgbClr val="EF9F27"/>
              </a:solidFill>
              <a:prstDash val="solid"/>
            </a:ln>
          </p:spPr>
        </p:sp>
        <p:sp>
          <p:nvSpPr>
            <p:cNvPr id="83" name="Text 48">
              <a:extLst>
                <a:ext uri="{FF2B5EF4-FFF2-40B4-BE49-F238E27FC236}">
                  <a16:creationId xmlns:a16="http://schemas.microsoft.com/office/drawing/2014/main" id="{E4382C88-C363-49DF-9DF5-AF509B2AFF8F}"/>
                </a:ext>
              </a:extLst>
            </p:cNvPr>
            <p:cNvSpPr/>
            <p:nvPr/>
          </p:nvSpPr>
          <p:spPr>
            <a:xfrm>
              <a:off x="5623560" y="4270248"/>
              <a:ext cx="100584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0D2D6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⑤ 입력창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84" name="Text 49">
              <a:extLst>
                <a:ext uri="{FF2B5EF4-FFF2-40B4-BE49-F238E27FC236}">
                  <a16:creationId xmlns:a16="http://schemas.microsoft.com/office/drawing/2014/main" id="{6C4707D3-2693-4481-AE92-D6F5295A90E2}"/>
                </a:ext>
              </a:extLst>
            </p:cNvPr>
            <p:cNvSpPr/>
            <p:nvPr/>
          </p:nvSpPr>
          <p:spPr>
            <a:xfrm>
              <a:off x="5623560" y="4480560"/>
              <a:ext cx="324612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클립보드 복사 버튼</a:t>
              </a:r>
              <a:endParaRPr lang="en-US" sz="1200" dirty="0">
                <a:latin typeface="맑은 고딕" panose="020B0503020000020004" pitchFamily="50" charset="-127"/>
              </a:endParaRPr>
            </a:p>
            <a:p>
              <a:pPr marL="0" indent="0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+ 파일 첨부 버튼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3360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3E4DE-348D-469C-BCC6-9AD471D2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실제 결과 예시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F15AEAE-E576-432F-A7E4-3E721943F524}"/>
              </a:ext>
            </a:extLst>
          </p:cNvPr>
          <p:cNvGrpSpPr/>
          <p:nvPr/>
        </p:nvGrpSpPr>
        <p:grpSpPr>
          <a:xfrm>
            <a:off x="633306" y="1056639"/>
            <a:ext cx="10796693" cy="4675293"/>
            <a:chOff x="633307" y="1056640"/>
            <a:chExt cx="8503920" cy="3712464"/>
          </a:xfrm>
        </p:grpSpPr>
        <p:sp>
          <p:nvSpPr>
            <p:cNvPr id="35" name="Shape 2">
              <a:extLst>
                <a:ext uri="{FF2B5EF4-FFF2-40B4-BE49-F238E27FC236}">
                  <a16:creationId xmlns:a16="http://schemas.microsoft.com/office/drawing/2014/main" id="{41B8BD06-F787-4CA6-B538-B31245F7D5EF}"/>
                </a:ext>
              </a:extLst>
            </p:cNvPr>
            <p:cNvSpPr/>
            <p:nvPr/>
          </p:nvSpPr>
          <p:spPr>
            <a:xfrm>
              <a:off x="633307" y="1056640"/>
              <a:ext cx="1371600" cy="274320"/>
            </a:xfrm>
            <a:prstGeom prst="rect">
              <a:avLst/>
            </a:prstGeom>
            <a:solidFill>
              <a:srgbClr val="0D2D6B"/>
            </a:solidFill>
            <a:ln w="12700">
              <a:solidFill>
                <a:srgbClr val="0D2D6B"/>
              </a:solidFill>
              <a:prstDash val="solid"/>
            </a:ln>
          </p:spPr>
        </p:sp>
        <p:sp>
          <p:nvSpPr>
            <p:cNvPr id="38" name="Text 3">
              <a:extLst>
                <a:ext uri="{FF2B5EF4-FFF2-40B4-BE49-F238E27FC236}">
                  <a16:creationId xmlns:a16="http://schemas.microsoft.com/office/drawing/2014/main" id="{19917D7C-6AEA-42BE-A160-6E55DEDFCBC4}"/>
                </a:ext>
              </a:extLst>
            </p:cNvPr>
            <p:cNvSpPr/>
            <p:nvPr/>
          </p:nvSpPr>
          <p:spPr>
            <a:xfrm>
              <a:off x="633307" y="1065784"/>
              <a:ext cx="137160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변환</a:t>
              </a:r>
              <a:r>
                <a:rPr lang="en-US" sz="900" b="1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 </a:t>
              </a:r>
              <a:r>
                <a:rPr lang="en-US" sz="900" b="1" dirty="0" err="1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결과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39" name="Shape 4">
              <a:extLst>
                <a:ext uri="{FF2B5EF4-FFF2-40B4-BE49-F238E27FC236}">
                  <a16:creationId xmlns:a16="http://schemas.microsoft.com/office/drawing/2014/main" id="{1889A2D6-4A75-4BA3-A5A1-942DB8E804BC}"/>
                </a:ext>
              </a:extLst>
            </p:cNvPr>
            <p:cNvSpPr/>
            <p:nvPr/>
          </p:nvSpPr>
          <p:spPr>
            <a:xfrm>
              <a:off x="633307" y="1394968"/>
              <a:ext cx="4114800" cy="320040"/>
            </a:xfrm>
            <a:prstGeom prst="rect">
              <a:avLst/>
            </a:prstGeom>
            <a:solidFill>
              <a:srgbClr val="0D2D6B"/>
            </a:solidFill>
            <a:ln w="12700">
              <a:solidFill>
                <a:srgbClr val="0D2D6B"/>
              </a:solidFill>
              <a:prstDash val="solid"/>
            </a:ln>
          </p:spPr>
        </p:sp>
        <p:sp>
          <p:nvSpPr>
            <p:cNvPr id="40" name="Text 5">
              <a:extLst>
                <a:ext uri="{FF2B5EF4-FFF2-40B4-BE49-F238E27FC236}">
                  <a16:creationId xmlns:a16="http://schemas.microsoft.com/office/drawing/2014/main" id="{DF849C5D-AB03-4C54-A538-59BFA481CE8E}"/>
                </a:ext>
              </a:extLst>
            </p:cNvPr>
            <p:cNvSpPr/>
            <p:nvPr/>
          </p:nvSpPr>
          <p:spPr>
            <a:xfrm>
              <a:off x="706459" y="1413256"/>
              <a:ext cx="1325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필드명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41" name="Text 6">
              <a:extLst>
                <a:ext uri="{FF2B5EF4-FFF2-40B4-BE49-F238E27FC236}">
                  <a16:creationId xmlns:a16="http://schemas.microsoft.com/office/drawing/2014/main" id="{03686FD7-5C28-41EF-8967-79788309E69B}"/>
                </a:ext>
              </a:extLst>
            </p:cNvPr>
            <p:cNvSpPr/>
            <p:nvPr/>
          </p:nvSpPr>
          <p:spPr>
            <a:xfrm>
              <a:off x="2123779" y="1413256"/>
              <a:ext cx="2542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추출 값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42" name="Shape 7">
              <a:extLst>
                <a:ext uri="{FF2B5EF4-FFF2-40B4-BE49-F238E27FC236}">
                  <a16:creationId xmlns:a16="http://schemas.microsoft.com/office/drawing/2014/main" id="{F41F808B-4A48-4F36-81AC-114645BB7C26}"/>
                </a:ext>
              </a:extLst>
            </p:cNvPr>
            <p:cNvSpPr/>
            <p:nvPr/>
          </p:nvSpPr>
          <p:spPr>
            <a:xfrm>
              <a:off x="5022427" y="1394968"/>
              <a:ext cx="4114800" cy="320040"/>
            </a:xfrm>
            <a:prstGeom prst="rect">
              <a:avLst/>
            </a:prstGeom>
            <a:solidFill>
              <a:srgbClr val="0D2D6B"/>
            </a:solidFill>
            <a:ln w="12700">
              <a:solidFill>
                <a:srgbClr val="0D2D6B"/>
              </a:solidFill>
              <a:prstDash val="solid"/>
            </a:ln>
          </p:spPr>
        </p:sp>
        <p:sp>
          <p:nvSpPr>
            <p:cNvPr id="43" name="Text 8">
              <a:extLst>
                <a:ext uri="{FF2B5EF4-FFF2-40B4-BE49-F238E27FC236}">
                  <a16:creationId xmlns:a16="http://schemas.microsoft.com/office/drawing/2014/main" id="{E5E49A8A-1D76-4340-AD7C-7B35D1CD42E2}"/>
                </a:ext>
              </a:extLst>
            </p:cNvPr>
            <p:cNvSpPr/>
            <p:nvPr/>
          </p:nvSpPr>
          <p:spPr>
            <a:xfrm>
              <a:off x="5095579" y="1413256"/>
              <a:ext cx="132588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필드명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44" name="Text 9">
              <a:extLst>
                <a:ext uri="{FF2B5EF4-FFF2-40B4-BE49-F238E27FC236}">
                  <a16:creationId xmlns:a16="http://schemas.microsoft.com/office/drawing/2014/main" id="{BC61997C-105E-4E89-8592-9A86F0DA7C4D}"/>
                </a:ext>
              </a:extLst>
            </p:cNvPr>
            <p:cNvSpPr/>
            <p:nvPr/>
          </p:nvSpPr>
          <p:spPr>
            <a:xfrm>
              <a:off x="6512899" y="1413256"/>
              <a:ext cx="2542032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추출 값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45" name="Shape 10">
              <a:extLst>
                <a:ext uri="{FF2B5EF4-FFF2-40B4-BE49-F238E27FC236}">
                  <a16:creationId xmlns:a16="http://schemas.microsoft.com/office/drawing/2014/main" id="{6AAD04F1-4297-493C-9787-ABD91966C8EC}"/>
                </a:ext>
              </a:extLst>
            </p:cNvPr>
            <p:cNvSpPr/>
            <p:nvPr/>
          </p:nvSpPr>
          <p:spPr>
            <a:xfrm>
              <a:off x="633307" y="1394968"/>
              <a:ext cx="4114800" cy="32918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46" name="Text 11">
              <a:extLst>
                <a:ext uri="{FF2B5EF4-FFF2-40B4-BE49-F238E27FC236}">
                  <a16:creationId xmlns:a16="http://schemas.microsoft.com/office/drawing/2014/main" id="{B6D51473-13EB-4844-9253-44ABDB96393C}"/>
                </a:ext>
              </a:extLst>
            </p:cNvPr>
            <p:cNvSpPr/>
            <p:nvPr/>
          </p:nvSpPr>
          <p:spPr>
            <a:xfrm>
              <a:off x="706459" y="1440688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논문 구분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47" name="Shape 12">
              <a:extLst>
                <a:ext uri="{FF2B5EF4-FFF2-40B4-BE49-F238E27FC236}">
                  <a16:creationId xmlns:a16="http://schemas.microsoft.com/office/drawing/2014/main" id="{B6544FF3-1F64-407A-BCC8-A6815241DE23}"/>
                </a:ext>
              </a:extLst>
            </p:cNvPr>
            <p:cNvSpPr/>
            <p:nvPr/>
          </p:nvSpPr>
          <p:spPr>
            <a:xfrm>
              <a:off x="2050627" y="1394968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48" name="Text 13">
              <a:extLst>
                <a:ext uri="{FF2B5EF4-FFF2-40B4-BE49-F238E27FC236}">
                  <a16:creationId xmlns:a16="http://schemas.microsoft.com/office/drawing/2014/main" id="{48FA2AFD-5E2F-4C28-8E60-F33A39323F37}"/>
                </a:ext>
              </a:extLst>
            </p:cNvPr>
            <p:cNvSpPr/>
            <p:nvPr/>
          </p:nvSpPr>
          <p:spPr>
            <a:xfrm>
              <a:off x="2123779" y="1440688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국제전문학술지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49" name="Shape 14">
              <a:extLst>
                <a:ext uri="{FF2B5EF4-FFF2-40B4-BE49-F238E27FC236}">
                  <a16:creationId xmlns:a16="http://schemas.microsoft.com/office/drawing/2014/main" id="{DD11F10F-C8ED-4523-8FFE-D06361117618}"/>
                </a:ext>
              </a:extLst>
            </p:cNvPr>
            <p:cNvSpPr/>
            <p:nvPr/>
          </p:nvSpPr>
          <p:spPr>
            <a:xfrm>
              <a:off x="633307" y="1733296"/>
              <a:ext cx="411480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50" name="Text 15">
              <a:extLst>
                <a:ext uri="{FF2B5EF4-FFF2-40B4-BE49-F238E27FC236}">
                  <a16:creationId xmlns:a16="http://schemas.microsoft.com/office/drawing/2014/main" id="{AB28DA7F-92B8-420A-A52A-2BFAEEB82B31}"/>
                </a:ext>
              </a:extLst>
            </p:cNvPr>
            <p:cNvSpPr/>
            <p:nvPr/>
          </p:nvSpPr>
          <p:spPr>
            <a:xfrm>
              <a:off x="706459" y="1779016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세부 구분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1" name="Shape 16">
              <a:extLst>
                <a:ext uri="{FF2B5EF4-FFF2-40B4-BE49-F238E27FC236}">
                  <a16:creationId xmlns:a16="http://schemas.microsoft.com/office/drawing/2014/main" id="{FA9C050B-AB6F-4742-93AA-42BD8012B389}"/>
                </a:ext>
              </a:extLst>
            </p:cNvPr>
            <p:cNvSpPr/>
            <p:nvPr/>
          </p:nvSpPr>
          <p:spPr>
            <a:xfrm>
              <a:off x="2050627" y="1733296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52" name="Text 17">
              <a:extLst>
                <a:ext uri="{FF2B5EF4-FFF2-40B4-BE49-F238E27FC236}">
                  <a16:creationId xmlns:a16="http://schemas.microsoft.com/office/drawing/2014/main" id="{51443470-92C3-4E25-AC64-76B485F12069}"/>
                </a:ext>
              </a:extLst>
            </p:cNvPr>
            <p:cNvSpPr/>
            <p:nvPr/>
          </p:nvSpPr>
          <p:spPr>
            <a:xfrm>
              <a:off x="2123779" y="1779016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SCI-E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3" name="Shape 18">
              <a:extLst>
                <a:ext uri="{FF2B5EF4-FFF2-40B4-BE49-F238E27FC236}">
                  <a16:creationId xmlns:a16="http://schemas.microsoft.com/office/drawing/2014/main" id="{0CB71AB5-9B21-4841-912B-C7059E9EF8C1}"/>
                </a:ext>
              </a:extLst>
            </p:cNvPr>
            <p:cNvSpPr/>
            <p:nvPr/>
          </p:nvSpPr>
          <p:spPr>
            <a:xfrm>
              <a:off x="633307" y="2071624"/>
              <a:ext cx="4114800" cy="32918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EE0CE593-6A39-4515-8AE9-5B9485F69C07}"/>
                </a:ext>
              </a:extLst>
            </p:cNvPr>
            <p:cNvSpPr/>
            <p:nvPr/>
          </p:nvSpPr>
          <p:spPr>
            <a:xfrm>
              <a:off x="706459" y="2117344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국내외 구분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5" name="Shape 20">
              <a:extLst>
                <a:ext uri="{FF2B5EF4-FFF2-40B4-BE49-F238E27FC236}">
                  <a16:creationId xmlns:a16="http://schemas.microsoft.com/office/drawing/2014/main" id="{73518C9B-11A3-402E-9A7D-2F3CED212FA7}"/>
                </a:ext>
              </a:extLst>
            </p:cNvPr>
            <p:cNvSpPr/>
            <p:nvPr/>
          </p:nvSpPr>
          <p:spPr>
            <a:xfrm>
              <a:off x="2050627" y="2071624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56" name="Text 21">
              <a:extLst>
                <a:ext uri="{FF2B5EF4-FFF2-40B4-BE49-F238E27FC236}">
                  <a16:creationId xmlns:a16="http://schemas.microsoft.com/office/drawing/2014/main" id="{3FA7F90B-89CD-42E7-A9C1-94E5244B5BEB}"/>
                </a:ext>
              </a:extLst>
            </p:cNvPr>
            <p:cNvSpPr/>
            <p:nvPr/>
          </p:nvSpPr>
          <p:spPr>
            <a:xfrm>
              <a:off x="2123779" y="2117344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국외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7" name="Shape 22">
              <a:extLst>
                <a:ext uri="{FF2B5EF4-FFF2-40B4-BE49-F238E27FC236}">
                  <a16:creationId xmlns:a16="http://schemas.microsoft.com/office/drawing/2014/main" id="{1CC25239-C055-484E-9C8B-AB45031F2D76}"/>
                </a:ext>
              </a:extLst>
            </p:cNvPr>
            <p:cNvSpPr/>
            <p:nvPr/>
          </p:nvSpPr>
          <p:spPr>
            <a:xfrm>
              <a:off x="633307" y="2409952"/>
              <a:ext cx="411480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58" name="Text 23">
              <a:extLst>
                <a:ext uri="{FF2B5EF4-FFF2-40B4-BE49-F238E27FC236}">
                  <a16:creationId xmlns:a16="http://schemas.microsoft.com/office/drawing/2014/main" id="{54C0CD4C-31D8-4AD3-A220-C7CB9A075530}"/>
                </a:ext>
              </a:extLst>
            </p:cNvPr>
            <p:cNvSpPr/>
            <p:nvPr/>
          </p:nvSpPr>
          <p:spPr>
            <a:xfrm>
              <a:off x="706459" y="2455672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학술지명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59" name="Shape 24">
              <a:extLst>
                <a:ext uri="{FF2B5EF4-FFF2-40B4-BE49-F238E27FC236}">
                  <a16:creationId xmlns:a16="http://schemas.microsoft.com/office/drawing/2014/main" id="{F8557CE3-6F1E-4FAD-B5C6-A21F42B616B2}"/>
                </a:ext>
              </a:extLst>
            </p:cNvPr>
            <p:cNvSpPr/>
            <p:nvPr/>
          </p:nvSpPr>
          <p:spPr>
            <a:xfrm>
              <a:off x="2050627" y="2409952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60" name="Text 25">
              <a:extLst>
                <a:ext uri="{FF2B5EF4-FFF2-40B4-BE49-F238E27FC236}">
                  <a16:creationId xmlns:a16="http://schemas.microsoft.com/office/drawing/2014/main" id="{E047B4A0-91DE-4D70-AEAD-832D4C4060BD}"/>
                </a:ext>
              </a:extLst>
            </p:cNvPr>
            <p:cNvSpPr/>
            <p:nvPr/>
          </p:nvSpPr>
          <p:spPr>
            <a:xfrm>
              <a:off x="2123779" y="2455672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BMJ OPEN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61" name="Shape 26">
              <a:extLst>
                <a:ext uri="{FF2B5EF4-FFF2-40B4-BE49-F238E27FC236}">
                  <a16:creationId xmlns:a16="http://schemas.microsoft.com/office/drawing/2014/main" id="{1845D4FD-2303-4775-90AA-EBEBCE8516B5}"/>
                </a:ext>
              </a:extLst>
            </p:cNvPr>
            <p:cNvSpPr/>
            <p:nvPr/>
          </p:nvSpPr>
          <p:spPr>
            <a:xfrm>
              <a:off x="633307" y="2748280"/>
              <a:ext cx="4114800" cy="32918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62" name="Text 27">
              <a:extLst>
                <a:ext uri="{FF2B5EF4-FFF2-40B4-BE49-F238E27FC236}">
                  <a16:creationId xmlns:a16="http://schemas.microsoft.com/office/drawing/2014/main" id="{DCF965AC-CB67-44D7-B837-AA9881D423E1}"/>
                </a:ext>
              </a:extLst>
            </p:cNvPr>
            <p:cNvSpPr/>
            <p:nvPr/>
          </p:nvSpPr>
          <p:spPr>
            <a:xfrm>
              <a:off x="706459" y="2794000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발행기관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63" name="Shape 28">
              <a:extLst>
                <a:ext uri="{FF2B5EF4-FFF2-40B4-BE49-F238E27FC236}">
                  <a16:creationId xmlns:a16="http://schemas.microsoft.com/office/drawing/2014/main" id="{6DBF9616-EEE8-459D-A8FD-3B3E15108FA2}"/>
                </a:ext>
              </a:extLst>
            </p:cNvPr>
            <p:cNvSpPr/>
            <p:nvPr/>
          </p:nvSpPr>
          <p:spPr>
            <a:xfrm>
              <a:off x="2050627" y="2748280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64" name="Text 29">
              <a:extLst>
                <a:ext uri="{FF2B5EF4-FFF2-40B4-BE49-F238E27FC236}">
                  <a16:creationId xmlns:a16="http://schemas.microsoft.com/office/drawing/2014/main" id="{DA69A9D0-384B-4374-A014-16250441FC75}"/>
                </a:ext>
              </a:extLst>
            </p:cNvPr>
            <p:cNvSpPr/>
            <p:nvPr/>
          </p:nvSpPr>
          <p:spPr>
            <a:xfrm>
              <a:off x="2123779" y="2794000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BMJ PUBLISHING GROUP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65" name="Shape 30">
              <a:extLst>
                <a:ext uri="{FF2B5EF4-FFF2-40B4-BE49-F238E27FC236}">
                  <a16:creationId xmlns:a16="http://schemas.microsoft.com/office/drawing/2014/main" id="{64D61DF6-2586-4F85-8240-BF14B9CE3A28}"/>
                </a:ext>
              </a:extLst>
            </p:cNvPr>
            <p:cNvSpPr/>
            <p:nvPr/>
          </p:nvSpPr>
          <p:spPr>
            <a:xfrm>
              <a:off x="633307" y="3086608"/>
              <a:ext cx="411480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66" name="Text 31">
              <a:extLst>
                <a:ext uri="{FF2B5EF4-FFF2-40B4-BE49-F238E27FC236}">
                  <a16:creationId xmlns:a16="http://schemas.microsoft.com/office/drawing/2014/main" id="{8059EA5E-F764-47C8-AEBA-4695E0315339}"/>
                </a:ext>
              </a:extLst>
            </p:cNvPr>
            <p:cNvSpPr/>
            <p:nvPr/>
          </p:nvSpPr>
          <p:spPr>
            <a:xfrm>
              <a:off x="706459" y="3132328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공동연구 구분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67" name="Shape 32">
              <a:extLst>
                <a:ext uri="{FF2B5EF4-FFF2-40B4-BE49-F238E27FC236}">
                  <a16:creationId xmlns:a16="http://schemas.microsoft.com/office/drawing/2014/main" id="{0F416783-31C7-409E-805C-BDCB89086794}"/>
                </a:ext>
              </a:extLst>
            </p:cNvPr>
            <p:cNvSpPr/>
            <p:nvPr/>
          </p:nvSpPr>
          <p:spPr>
            <a:xfrm>
              <a:off x="2050627" y="3086608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68" name="Text 33">
              <a:extLst>
                <a:ext uri="{FF2B5EF4-FFF2-40B4-BE49-F238E27FC236}">
                  <a16:creationId xmlns:a16="http://schemas.microsoft.com/office/drawing/2014/main" id="{93B76BB9-4300-476E-B262-14B087D76EE3}"/>
                </a:ext>
              </a:extLst>
            </p:cNvPr>
            <p:cNvSpPr/>
            <p:nvPr/>
          </p:nvSpPr>
          <p:spPr>
            <a:xfrm>
              <a:off x="2123779" y="3132328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공동-수인 (공동-6인)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69" name="Shape 34">
              <a:extLst>
                <a:ext uri="{FF2B5EF4-FFF2-40B4-BE49-F238E27FC236}">
                  <a16:creationId xmlns:a16="http://schemas.microsoft.com/office/drawing/2014/main" id="{BE228EDC-31F4-405E-B079-E63671DDF73D}"/>
                </a:ext>
              </a:extLst>
            </p:cNvPr>
            <p:cNvSpPr/>
            <p:nvPr/>
          </p:nvSpPr>
          <p:spPr>
            <a:xfrm>
              <a:off x="633307" y="3424936"/>
              <a:ext cx="4114800" cy="32918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70" name="Text 35">
              <a:extLst>
                <a:ext uri="{FF2B5EF4-FFF2-40B4-BE49-F238E27FC236}">
                  <a16:creationId xmlns:a16="http://schemas.microsoft.com/office/drawing/2014/main" id="{EC4377BD-AAA1-4857-BE42-19420A367DC1}"/>
                </a:ext>
              </a:extLst>
            </p:cNvPr>
            <p:cNvSpPr/>
            <p:nvPr/>
          </p:nvSpPr>
          <p:spPr>
            <a:xfrm>
              <a:off x="706459" y="3470656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전체주저자수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71" name="Shape 36">
              <a:extLst>
                <a:ext uri="{FF2B5EF4-FFF2-40B4-BE49-F238E27FC236}">
                  <a16:creationId xmlns:a16="http://schemas.microsoft.com/office/drawing/2014/main" id="{D5A00103-29EB-4219-8387-E0ED94961B14}"/>
                </a:ext>
              </a:extLst>
            </p:cNvPr>
            <p:cNvSpPr/>
            <p:nvPr/>
          </p:nvSpPr>
          <p:spPr>
            <a:xfrm>
              <a:off x="2050627" y="3424936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72" name="Text 37">
              <a:extLst>
                <a:ext uri="{FF2B5EF4-FFF2-40B4-BE49-F238E27FC236}">
                  <a16:creationId xmlns:a16="http://schemas.microsoft.com/office/drawing/2014/main" id="{21EC5DE3-7235-4715-B712-7738474244A8}"/>
                </a:ext>
              </a:extLst>
            </p:cNvPr>
            <p:cNvSpPr/>
            <p:nvPr/>
          </p:nvSpPr>
          <p:spPr>
            <a:xfrm>
              <a:off x="2123779" y="3470656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2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73" name="Shape 38">
              <a:extLst>
                <a:ext uri="{FF2B5EF4-FFF2-40B4-BE49-F238E27FC236}">
                  <a16:creationId xmlns:a16="http://schemas.microsoft.com/office/drawing/2014/main" id="{45EB9B95-3FDD-4C1F-8360-806D4754852E}"/>
                </a:ext>
              </a:extLst>
            </p:cNvPr>
            <p:cNvSpPr/>
            <p:nvPr/>
          </p:nvSpPr>
          <p:spPr>
            <a:xfrm>
              <a:off x="633307" y="3763264"/>
              <a:ext cx="411480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4666C55-4BE5-4788-B425-1DE8ED015E49}"/>
                </a:ext>
              </a:extLst>
            </p:cNvPr>
            <p:cNvSpPr/>
            <p:nvPr/>
          </p:nvSpPr>
          <p:spPr>
            <a:xfrm>
              <a:off x="706459" y="3808984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참여구분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75" name="Shape 40">
              <a:extLst>
                <a:ext uri="{FF2B5EF4-FFF2-40B4-BE49-F238E27FC236}">
                  <a16:creationId xmlns:a16="http://schemas.microsoft.com/office/drawing/2014/main" id="{3306A9D3-F7C6-477A-8E77-C38654C59330}"/>
                </a:ext>
              </a:extLst>
            </p:cNvPr>
            <p:cNvSpPr/>
            <p:nvPr/>
          </p:nvSpPr>
          <p:spPr>
            <a:xfrm>
              <a:off x="2050627" y="3763264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3E3FCE17-2598-4874-B432-A1D8C60FC5ED}"/>
                </a:ext>
              </a:extLst>
            </p:cNvPr>
            <p:cNvSpPr/>
            <p:nvPr/>
          </p:nvSpPr>
          <p:spPr>
            <a:xfrm>
              <a:off x="2123779" y="3808984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공동(교신)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77" name="Shape 42">
              <a:extLst>
                <a:ext uri="{FF2B5EF4-FFF2-40B4-BE49-F238E27FC236}">
                  <a16:creationId xmlns:a16="http://schemas.microsoft.com/office/drawing/2014/main" id="{B43AE10B-8B55-4869-9E2E-ACC48D4BEB44}"/>
                </a:ext>
              </a:extLst>
            </p:cNvPr>
            <p:cNvSpPr/>
            <p:nvPr/>
          </p:nvSpPr>
          <p:spPr>
            <a:xfrm>
              <a:off x="633307" y="4101592"/>
              <a:ext cx="4114800" cy="32918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78" name="Text 43">
              <a:extLst>
                <a:ext uri="{FF2B5EF4-FFF2-40B4-BE49-F238E27FC236}">
                  <a16:creationId xmlns:a16="http://schemas.microsoft.com/office/drawing/2014/main" id="{471F9429-06F0-4C6B-BC53-98DFFAAE4E6D}"/>
                </a:ext>
              </a:extLst>
            </p:cNvPr>
            <p:cNvSpPr/>
            <p:nvPr/>
          </p:nvSpPr>
          <p:spPr>
            <a:xfrm>
              <a:off x="706459" y="4147312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전체저자수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79" name="Shape 44">
              <a:extLst>
                <a:ext uri="{FF2B5EF4-FFF2-40B4-BE49-F238E27FC236}">
                  <a16:creationId xmlns:a16="http://schemas.microsoft.com/office/drawing/2014/main" id="{597CDDB6-2F4A-4A52-9DD0-0DA818F45DBD}"/>
                </a:ext>
              </a:extLst>
            </p:cNvPr>
            <p:cNvSpPr/>
            <p:nvPr/>
          </p:nvSpPr>
          <p:spPr>
            <a:xfrm>
              <a:off x="2050627" y="4101592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80" name="Text 45">
              <a:extLst>
                <a:ext uri="{FF2B5EF4-FFF2-40B4-BE49-F238E27FC236}">
                  <a16:creationId xmlns:a16="http://schemas.microsoft.com/office/drawing/2014/main" id="{0A7CE21C-0831-4063-9E53-B682CD033B6A}"/>
                </a:ext>
              </a:extLst>
            </p:cNvPr>
            <p:cNvSpPr/>
            <p:nvPr/>
          </p:nvSpPr>
          <p:spPr>
            <a:xfrm>
              <a:off x="2123779" y="4147312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6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81" name="Shape 46">
              <a:extLst>
                <a:ext uri="{FF2B5EF4-FFF2-40B4-BE49-F238E27FC236}">
                  <a16:creationId xmlns:a16="http://schemas.microsoft.com/office/drawing/2014/main" id="{16B26972-F25C-4A23-AAA2-659538993482}"/>
                </a:ext>
              </a:extLst>
            </p:cNvPr>
            <p:cNvSpPr/>
            <p:nvPr/>
          </p:nvSpPr>
          <p:spPr>
            <a:xfrm>
              <a:off x="633307" y="4439920"/>
              <a:ext cx="411480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82" name="Text 47">
              <a:extLst>
                <a:ext uri="{FF2B5EF4-FFF2-40B4-BE49-F238E27FC236}">
                  <a16:creationId xmlns:a16="http://schemas.microsoft.com/office/drawing/2014/main" id="{1A372B06-1C23-435C-9602-1F3FE26272DE}"/>
                </a:ext>
              </a:extLst>
            </p:cNvPr>
            <p:cNvSpPr/>
            <p:nvPr/>
          </p:nvSpPr>
          <p:spPr>
            <a:xfrm>
              <a:off x="706459" y="4485640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연구보조원수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83" name="Shape 48">
              <a:extLst>
                <a:ext uri="{FF2B5EF4-FFF2-40B4-BE49-F238E27FC236}">
                  <a16:creationId xmlns:a16="http://schemas.microsoft.com/office/drawing/2014/main" id="{4018A1AE-64F7-4C9B-85EF-552997A53B5B}"/>
                </a:ext>
              </a:extLst>
            </p:cNvPr>
            <p:cNvSpPr/>
            <p:nvPr/>
          </p:nvSpPr>
          <p:spPr>
            <a:xfrm>
              <a:off x="2050627" y="4439920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84" name="Text 49">
              <a:extLst>
                <a:ext uri="{FF2B5EF4-FFF2-40B4-BE49-F238E27FC236}">
                  <a16:creationId xmlns:a16="http://schemas.microsoft.com/office/drawing/2014/main" id="{9E6920A5-DC50-4471-AB78-CF6FA59B7C5B}"/>
                </a:ext>
              </a:extLst>
            </p:cNvPr>
            <p:cNvSpPr/>
            <p:nvPr/>
          </p:nvSpPr>
          <p:spPr>
            <a:xfrm>
              <a:off x="2123779" y="4485640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0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85" name="Shape 50">
              <a:extLst>
                <a:ext uri="{FF2B5EF4-FFF2-40B4-BE49-F238E27FC236}">
                  <a16:creationId xmlns:a16="http://schemas.microsoft.com/office/drawing/2014/main" id="{F674D184-C3E4-4A8A-81FA-52E354BB53B2}"/>
                </a:ext>
              </a:extLst>
            </p:cNvPr>
            <p:cNvSpPr/>
            <p:nvPr/>
          </p:nvSpPr>
          <p:spPr>
            <a:xfrm>
              <a:off x="5022427" y="1394968"/>
              <a:ext cx="4114800" cy="32918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86" name="Text 51">
              <a:extLst>
                <a:ext uri="{FF2B5EF4-FFF2-40B4-BE49-F238E27FC236}">
                  <a16:creationId xmlns:a16="http://schemas.microsoft.com/office/drawing/2014/main" id="{2BD68F67-A907-408A-83B3-DC49307C61DE}"/>
                </a:ext>
              </a:extLst>
            </p:cNvPr>
            <p:cNvSpPr/>
            <p:nvPr/>
          </p:nvSpPr>
          <p:spPr>
            <a:xfrm>
              <a:off x="5095579" y="1440688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논문명(원어)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87" name="Shape 52">
              <a:extLst>
                <a:ext uri="{FF2B5EF4-FFF2-40B4-BE49-F238E27FC236}">
                  <a16:creationId xmlns:a16="http://schemas.microsoft.com/office/drawing/2014/main" id="{36DA0B2F-6B96-497E-B4CC-BE1F799CC03E}"/>
                </a:ext>
              </a:extLst>
            </p:cNvPr>
            <p:cNvSpPr/>
            <p:nvPr/>
          </p:nvSpPr>
          <p:spPr>
            <a:xfrm>
              <a:off x="6439747" y="1394968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88" name="Text 53">
              <a:extLst>
                <a:ext uri="{FF2B5EF4-FFF2-40B4-BE49-F238E27FC236}">
                  <a16:creationId xmlns:a16="http://schemas.microsoft.com/office/drawing/2014/main" id="{12C18A2E-CF19-4299-BF28-9EEDF11A42D2}"/>
                </a:ext>
              </a:extLst>
            </p:cNvPr>
            <p:cNvSpPr/>
            <p:nvPr/>
          </p:nvSpPr>
          <p:spPr>
            <a:xfrm>
              <a:off x="6512899" y="1440688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What do patients value? A retrospective study...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89" name="Shape 54">
              <a:extLst>
                <a:ext uri="{FF2B5EF4-FFF2-40B4-BE49-F238E27FC236}">
                  <a16:creationId xmlns:a16="http://schemas.microsoft.com/office/drawing/2014/main" id="{8D8DF5BA-2991-4D89-A610-ED3C5C6B9A7C}"/>
                </a:ext>
              </a:extLst>
            </p:cNvPr>
            <p:cNvSpPr/>
            <p:nvPr/>
          </p:nvSpPr>
          <p:spPr>
            <a:xfrm>
              <a:off x="5022427" y="1733296"/>
              <a:ext cx="411480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90" name="Text 55">
              <a:extLst>
                <a:ext uri="{FF2B5EF4-FFF2-40B4-BE49-F238E27FC236}">
                  <a16:creationId xmlns:a16="http://schemas.microsoft.com/office/drawing/2014/main" id="{7F177BB2-5B48-4554-B460-C64A8490A981}"/>
                </a:ext>
              </a:extLst>
            </p:cNvPr>
            <p:cNvSpPr/>
            <p:nvPr/>
          </p:nvSpPr>
          <p:spPr>
            <a:xfrm>
              <a:off x="5095579" y="1779016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논문명(타언어)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91" name="Shape 56">
              <a:extLst>
                <a:ext uri="{FF2B5EF4-FFF2-40B4-BE49-F238E27FC236}">
                  <a16:creationId xmlns:a16="http://schemas.microsoft.com/office/drawing/2014/main" id="{579C517E-2269-4662-BDDC-3AE872B14FDB}"/>
                </a:ext>
              </a:extLst>
            </p:cNvPr>
            <p:cNvSpPr/>
            <p:nvPr/>
          </p:nvSpPr>
          <p:spPr>
            <a:xfrm>
              <a:off x="6439747" y="1733296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92" name="Text 57">
              <a:extLst>
                <a:ext uri="{FF2B5EF4-FFF2-40B4-BE49-F238E27FC236}">
                  <a16:creationId xmlns:a16="http://schemas.microsoft.com/office/drawing/2014/main" id="{A6280578-A23C-4239-A5C0-60AE31308BE4}"/>
                </a:ext>
              </a:extLst>
            </p:cNvPr>
            <p:cNvSpPr/>
            <p:nvPr/>
          </p:nvSpPr>
          <p:spPr>
            <a:xfrm>
              <a:off x="6512899" y="1779016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A32D2D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(미입력)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93" name="Shape 58">
              <a:extLst>
                <a:ext uri="{FF2B5EF4-FFF2-40B4-BE49-F238E27FC236}">
                  <a16:creationId xmlns:a16="http://schemas.microsoft.com/office/drawing/2014/main" id="{C2E0D3C3-11D5-4FBB-8B48-445E09F6B407}"/>
                </a:ext>
              </a:extLst>
            </p:cNvPr>
            <p:cNvSpPr/>
            <p:nvPr/>
          </p:nvSpPr>
          <p:spPr>
            <a:xfrm>
              <a:off x="5022427" y="2071624"/>
              <a:ext cx="4114800" cy="32918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94" name="Text 59">
              <a:extLst>
                <a:ext uri="{FF2B5EF4-FFF2-40B4-BE49-F238E27FC236}">
                  <a16:creationId xmlns:a16="http://schemas.microsoft.com/office/drawing/2014/main" id="{E1348BFB-ED0D-4BC6-B532-FC601BF66664}"/>
                </a:ext>
              </a:extLst>
            </p:cNvPr>
            <p:cNvSpPr/>
            <p:nvPr/>
          </p:nvSpPr>
          <p:spPr>
            <a:xfrm>
              <a:off x="5095579" y="2117344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시작페이지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95" name="Shape 60">
              <a:extLst>
                <a:ext uri="{FF2B5EF4-FFF2-40B4-BE49-F238E27FC236}">
                  <a16:creationId xmlns:a16="http://schemas.microsoft.com/office/drawing/2014/main" id="{F62246A1-7CC5-4E1A-8799-51EAF23B66D9}"/>
                </a:ext>
              </a:extLst>
            </p:cNvPr>
            <p:cNvSpPr/>
            <p:nvPr/>
          </p:nvSpPr>
          <p:spPr>
            <a:xfrm>
              <a:off x="6439747" y="2071624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96" name="Text 61">
              <a:extLst>
                <a:ext uri="{FF2B5EF4-FFF2-40B4-BE49-F238E27FC236}">
                  <a16:creationId xmlns:a16="http://schemas.microsoft.com/office/drawing/2014/main" id="{6D028E4C-83CE-476D-BB71-D408E933604A}"/>
                </a:ext>
              </a:extLst>
            </p:cNvPr>
            <p:cNvSpPr/>
            <p:nvPr/>
          </p:nvSpPr>
          <p:spPr>
            <a:xfrm>
              <a:off x="6512899" y="2117344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e101505(1~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97" name="Shape 62">
              <a:extLst>
                <a:ext uri="{FF2B5EF4-FFF2-40B4-BE49-F238E27FC236}">
                  <a16:creationId xmlns:a16="http://schemas.microsoft.com/office/drawing/2014/main" id="{B76B39F0-A76F-40A7-8990-7CDAFC5F490F}"/>
                </a:ext>
              </a:extLst>
            </p:cNvPr>
            <p:cNvSpPr/>
            <p:nvPr/>
          </p:nvSpPr>
          <p:spPr>
            <a:xfrm>
              <a:off x="5022427" y="2409952"/>
              <a:ext cx="411480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98" name="Text 63">
              <a:extLst>
                <a:ext uri="{FF2B5EF4-FFF2-40B4-BE49-F238E27FC236}">
                  <a16:creationId xmlns:a16="http://schemas.microsoft.com/office/drawing/2014/main" id="{57D6F13A-FFCB-4D8A-A762-0F454EFBE36D}"/>
                </a:ext>
              </a:extLst>
            </p:cNvPr>
            <p:cNvSpPr/>
            <p:nvPr/>
          </p:nvSpPr>
          <p:spPr>
            <a:xfrm>
              <a:off x="5095579" y="2455672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끝페이지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99" name="Shape 64">
              <a:extLst>
                <a:ext uri="{FF2B5EF4-FFF2-40B4-BE49-F238E27FC236}">
                  <a16:creationId xmlns:a16="http://schemas.microsoft.com/office/drawing/2014/main" id="{8113EDBD-7A32-4DB3-B6B3-9D1860D2DC7A}"/>
                </a:ext>
              </a:extLst>
            </p:cNvPr>
            <p:cNvSpPr/>
            <p:nvPr/>
          </p:nvSpPr>
          <p:spPr>
            <a:xfrm>
              <a:off x="6439747" y="2409952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00" name="Text 65">
              <a:extLst>
                <a:ext uri="{FF2B5EF4-FFF2-40B4-BE49-F238E27FC236}">
                  <a16:creationId xmlns:a16="http://schemas.microsoft.com/office/drawing/2014/main" id="{21072746-A526-4901-AB26-B552E0EDE6C6}"/>
                </a:ext>
              </a:extLst>
            </p:cNvPr>
            <p:cNvSpPr/>
            <p:nvPr/>
          </p:nvSpPr>
          <p:spPr>
            <a:xfrm>
              <a:off x="6512899" y="2455672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e101505(~7)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01" name="Shape 66">
              <a:extLst>
                <a:ext uri="{FF2B5EF4-FFF2-40B4-BE49-F238E27FC236}">
                  <a16:creationId xmlns:a16="http://schemas.microsoft.com/office/drawing/2014/main" id="{EF1DA754-70D0-4726-AE57-A5CEEF470D1D}"/>
                </a:ext>
              </a:extLst>
            </p:cNvPr>
            <p:cNvSpPr/>
            <p:nvPr/>
          </p:nvSpPr>
          <p:spPr>
            <a:xfrm>
              <a:off x="5022427" y="2748280"/>
              <a:ext cx="4114800" cy="32918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02" name="Text 67">
              <a:extLst>
                <a:ext uri="{FF2B5EF4-FFF2-40B4-BE49-F238E27FC236}">
                  <a16:creationId xmlns:a16="http://schemas.microsoft.com/office/drawing/2014/main" id="{9C422DA9-2C97-41FC-8E3F-D4710A36E981}"/>
                </a:ext>
              </a:extLst>
            </p:cNvPr>
            <p:cNvSpPr/>
            <p:nvPr/>
          </p:nvSpPr>
          <p:spPr>
            <a:xfrm>
              <a:off x="5095579" y="2794000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게재권/집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03" name="Shape 68">
              <a:extLst>
                <a:ext uri="{FF2B5EF4-FFF2-40B4-BE49-F238E27FC236}">
                  <a16:creationId xmlns:a16="http://schemas.microsoft.com/office/drawing/2014/main" id="{56E948C1-C512-4155-BAC8-171CA4AC0B89}"/>
                </a:ext>
              </a:extLst>
            </p:cNvPr>
            <p:cNvSpPr/>
            <p:nvPr/>
          </p:nvSpPr>
          <p:spPr>
            <a:xfrm>
              <a:off x="6439747" y="2748280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04" name="Text 69">
              <a:extLst>
                <a:ext uri="{FF2B5EF4-FFF2-40B4-BE49-F238E27FC236}">
                  <a16:creationId xmlns:a16="http://schemas.microsoft.com/office/drawing/2014/main" id="{2F986570-26F5-4A55-8463-37F597533884}"/>
                </a:ext>
              </a:extLst>
            </p:cNvPr>
            <p:cNvSpPr/>
            <p:nvPr/>
          </p:nvSpPr>
          <p:spPr>
            <a:xfrm>
              <a:off x="6512899" y="2794000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16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05" name="Shape 70">
              <a:extLst>
                <a:ext uri="{FF2B5EF4-FFF2-40B4-BE49-F238E27FC236}">
                  <a16:creationId xmlns:a16="http://schemas.microsoft.com/office/drawing/2014/main" id="{C63256AD-0844-4C17-9F8C-C7E3AAE52D97}"/>
                </a:ext>
              </a:extLst>
            </p:cNvPr>
            <p:cNvSpPr/>
            <p:nvPr/>
          </p:nvSpPr>
          <p:spPr>
            <a:xfrm>
              <a:off x="5022427" y="3086608"/>
              <a:ext cx="411480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06" name="Text 71">
              <a:extLst>
                <a:ext uri="{FF2B5EF4-FFF2-40B4-BE49-F238E27FC236}">
                  <a16:creationId xmlns:a16="http://schemas.microsoft.com/office/drawing/2014/main" id="{52E86C50-BB88-4EF1-8A82-EFCE43FCA5DB}"/>
                </a:ext>
              </a:extLst>
            </p:cNvPr>
            <p:cNvSpPr/>
            <p:nvPr/>
          </p:nvSpPr>
          <p:spPr>
            <a:xfrm>
              <a:off x="5095579" y="3132328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발행일자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07" name="Shape 72">
              <a:extLst>
                <a:ext uri="{FF2B5EF4-FFF2-40B4-BE49-F238E27FC236}">
                  <a16:creationId xmlns:a16="http://schemas.microsoft.com/office/drawing/2014/main" id="{26A0C05F-AA26-448E-B5A4-AA4A82D5171A}"/>
                </a:ext>
              </a:extLst>
            </p:cNvPr>
            <p:cNvSpPr/>
            <p:nvPr/>
          </p:nvSpPr>
          <p:spPr>
            <a:xfrm>
              <a:off x="6439747" y="3086608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08" name="Text 73">
              <a:extLst>
                <a:ext uri="{FF2B5EF4-FFF2-40B4-BE49-F238E27FC236}">
                  <a16:creationId xmlns:a16="http://schemas.microsoft.com/office/drawing/2014/main" id="{256CD7CD-40E9-410E-B990-03786450BB4E}"/>
                </a:ext>
              </a:extLst>
            </p:cNvPr>
            <p:cNvSpPr/>
            <p:nvPr/>
          </p:nvSpPr>
          <p:spPr>
            <a:xfrm>
              <a:off x="6512899" y="3132328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2026.03.16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09" name="Shape 74">
              <a:extLst>
                <a:ext uri="{FF2B5EF4-FFF2-40B4-BE49-F238E27FC236}">
                  <a16:creationId xmlns:a16="http://schemas.microsoft.com/office/drawing/2014/main" id="{E6D8DBEE-D724-47D1-9DDB-7076CA77FB2B}"/>
                </a:ext>
              </a:extLst>
            </p:cNvPr>
            <p:cNvSpPr/>
            <p:nvPr/>
          </p:nvSpPr>
          <p:spPr>
            <a:xfrm>
              <a:off x="5022427" y="3424936"/>
              <a:ext cx="4114800" cy="32918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10" name="Text 75">
              <a:extLst>
                <a:ext uri="{FF2B5EF4-FFF2-40B4-BE49-F238E27FC236}">
                  <a16:creationId xmlns:a16="http://schemas.microsoft.com/office/drawing/2014/main" id="{6BF8E34A-2905-445C-8C3A-E6B551650AA4}"/>
                </a:ext>
              </a:extLst>
            </p:cNvPr>
            <p:cNvSpPr/>
            <p:nvPr/>
          </p:nvSpPr>
          <p:spPr>
            <a:xfrm>
              <a:off x="5095579" y="3470656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게재시소속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11" name="Shape 76">
              <a:extLst>
                <a:ext uri="{FF2B5EF4-FFF2-40B4-BE49-F238E27FC236}">
                  <a16:creationId xmlns:a16="http://schemas.microsoft.com/office/drawing/2014/main" id="{60F178E6-E1E6-45B0-86DA-E422D93900A7}"/>
                </a:ext>
              </a:extLst>
            </p:cNvPr>
            <p:cNvSpPr/>
            <p:nvPr/>
          </p:nvSpPr>
          <p:spPr>
            <a:xfrm>
              <a:off x="6439747" y="3424936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12" name="Text 77">
              <a:extLst>
                <a:ext uri="{FF2B5EF4-FFF2-40B4-BE49-F238E27FC236}">
                  <a16:creationId xmlns:a16="http://schemas.microsoft.com/office/drawing/2014/main" id="{67E94E1B-1527-492E-A8FE-E7A41D7ECB29}"/>
                </a:ext>
              </a:extLst>
            </p:cNvPr>
            <p:cNvSpPr/>
            <p:nvPr/>
          </p:nvSpPr>
          <p:spPr>
            <a:xfrm>
              <a:off x="6512899" y="3470656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본교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13" name="Shape 78">
              <a:extLst>
                <a:ext uri="{FF2B5EF4-FFF2-40B4-BE49-F238E27FC236}">
                  <a16:creationId xmlns:a16="http://schemas.microsoft.com/office/drawing/2014/main" id="{2C6D53C3-2DDF-464B-99FC-C0729CE13C0E}"/>
                </a:ext>
              </a:extLst>
            </p:cNvPr>
            <p:cNvSpPr/>
            <p:nvPr/>
          </p:nvSpPr>
          <p:spPr>
            <a:xfrm>
              <a:off x="5022427" y="3763264"/>
              <a:ext cx="411480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14" name="Text 79">
              <a:extLst>
                <a:ext uri="{FF2B5EF4-FFF2-40B4-BE49-F238E27FC236}">
                  <a16:creationId xmlns:a16="http://schemas.microsoft.com/office/drawing/2014/main" id="{75FF006B-C7B8-443F-A141-E8F774F82821}"/>
                </a:ext>
              </a:extLst>
            </p:cNvPr>
            <p:cNvSpPr/>
            <p:nvPr/>
          </p:nvSpPr>
          <p:spPr>
            <a:xfrm>
              <a:off x="5095579" y="3808984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평가코드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15" name="Shape 80">
              <a:extLst>
                <a:ext uri="{FF2B5EF4-FFF2-40B4-BE49-F238E27FC236}">
                  <a16:creationId xmlns:a16="http://schemas.microsoft.com/office/drawing/2014/main" id="{B247D0B4-E943-4E2F-8F34-345E26A67F0D}"/>
                </a:ext>
              </a:extLst>
            </p:cNvPr>
            <p:cNvSpPr/>
            <p:nvPr/>
          </p:nvSpPr>
          <p:spPr>
            <a:xfrm>
              <a:off x="6439747" y="3763264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16" name="Text 81">
              <a:extLst>
                <a:ext uri="{FF2B5EF4-FFF2-40B4-BE49-F238E27FC236}">
                  <a16:creationId xmlns:a16="http://schemas.microsoft.com/office/drawing/2014/main" id="{DC7A0141-360E-4DB2-81BA-85483578DB1C}"/>
                </a:ext>
              </a:extLst>
            </p:cNvPr>
            <p:cNvSpPr/>
            <p:nvPr/>
          </p:nvSpPr>
          <p:spPr>
            <a:xfrm>
              <a:off x="6512899" y="3808984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R01104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17" name="Shape 82">
              <a:extLst>
                <a:ext uri="{FF2B5EF4-FFF2-40B4-BE49-F238E27FC236}">
                  <a16:creationId xmlns:a16="http://schemas.microsoft.com/office/drawing/2014/main" id="{2D64C16A-B341-4783-AF82-06D1D2DB85C1}"/>
                </a:ext>
              </a:extLst>
            </p:cNvPr>
            <p:cNvSpPr/>
            <p:nvPr/>
          </p:nvSpPr>
          <p:spPr>
            <a:xfrm>
              <a:off x="5022427" y="4101592"/>
              <a:ext cx="4114800" cy="329184"/>
            </a:xfrm>
            <a:prstGeom prst="rect">
              <a:avLst/>
            </a:prstGeom>
            <a:solidFill>
              <a:srgbClr val="F4F7FB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18" name="Text 83">
              <a:extLst>
                <a:ext uri="{FF2B5EF4-FFF2-40B4-BE49-F238E27FC236}">
                  <a16:creationId xmlns:a16="http://schemas.microsoft.com/office/drawing/2014/main" id="{CF50A821-35A2-4561-BE9B-02D3F7B5A320}"/>
                </a:ext>
              </a:extLst>
            </p:cNvPr>
            <p:cNvSpPr/>
            <p:nvPr/>
          </p:nvSpPr>
          <p:spPr>
            <a:xfrm>
              <a:off x="5095579" y="4147312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학술지구분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19" name="Shape 84">
              <a:extLst>
                <a:ext uri="{FF2B5EF4-FFF2-40B4-BE49-F238E27FC236}">
                  <a16:creationId xmlns:a16="http://schemas.microsoft.com/office/drawing/2014/main" id="{47AEFF0C-9DD5-4ECF-90ED-A03A36F7A125}"/>
                </a:ext>
              </a:extLst>
            </p:cNvPr>
            <p:cNvSpPr/>
            <p:nvPr/>
          </p:nvSpPr>
          <p:spPr>
            <a:xfrm>
              <a:off x="6439747" y="4101592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20" name="Text 85">
              <a:extLst>
                <a:ext uri="{FF2B5EF4-FFF2-40B4-BE49-F238E27FC236}">
                  <a16:creationId xmlns:a16="http://schemas.microsoft.com/office/drawing/2014/main" id="{14BD61F3-075B-4D43-A207-4320487649CB}"/>
                </a:ext>
              </a:extLst>
            </p:cNvPr>
            <p:cNvSpPr/>
            <p:nvPr/>
          </p:nvSpPr>
          <p:spPr>
            <a:xfrm>
              <a:off x="6512899" y="4147312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SCI Expanded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21" name="Shape 86">
              <a:extLst>
                <a:ext uri="{FF2B5EF4-FFF2-40B4-BE49-F238E27FC236}">
                  <a16:creationId xmlns:a16="http://schemas.microsoft.com/office/drawing/2014/main" id="{7BDEFAD5-9542-4FA0-843E-8F3FCF8FC788}"/>
                </a:ext>
              </a:extLst>
            </p:cNvPr>
            <p:cNvSpPr/>
            <p:nvPr/>
          </p:nvSpPr>
          <p:spPr>
            <a:xfrm>
              <a:off x="5022427" y="4439920"/>
              <a:ext cx="4114800" cy="32918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22" name="Text 87">
              <a:extLst>
                <a:ext uri="{FF2B5EF4-FFF2-40B4-BE49-F238E27FC236}">
                  <a16:creationId xmlns:a16="http://schemas.microsoft.com/office/drawing/2014/main" id="{F9C4CD6A-9342-4B5C-ACA7-501118EEA554}"/>
                </a:ext>
              </a:extLst>
            </p:cNvPr>
            <p:cNvSpPr/>
            <p:nvPr/>
          </p:nvSpPr>
          <p:spPr>
            <a:xfrm>
              <a:off x="5095579" y="4485640"/>
              <a:ext cx="1325880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사업구분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  <p:sp>
          <p:nvSpPr>
            <p:cNvPr id="123" name="Shape 88">
              <a:extLst>
                <a:ext uri="{FF2B5EF4-FFF2-40B4-BE49-F238E27FC236}">
                  <a16:creationId xmlns:a16="http://schemas.microsoft.com/office/drawing/2014/main" id="{5278E337-8313-4D77-B1A4-8CD40F33A0B4}"/>
                </a:ext>
              </a:extLst>
            </p:cNvPr>
            <p:cNvSpPr/>
            <p:nvPr/>
          </p:nvSpPr>
          <p:spPr>
            <a:xfrm>
              <a:off x="6439747" y="4439920"/>
              <a:ext cx="18288" cy="329184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24" name="Text 89">
              <a:extLst>
                <a:ext uri="{FF2B5EF4-FFF2-40B4-BE49-F238E27FC236}">
                  <a16:creationId xmlns:a16="http://schemas.microsoft.com/office/drawing/2014/main" id="{78CF7FED-BB39-4D02-9637-3D34A4D0CC85}"/>
                </a:ext>
              </a:extLst>
            </p:cNvPr>
            <p:cNvSpPr/>
            <p:nvPr/>
          </p:nvSpPr>
          <p:spPr>
            <a:xfrm>
              <a:off x="6512899" y="4485640"/>
              <a:ext cx="2542032" cy="23774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1E293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기관고유</a:t>
              </a:r>
              <a:endParaRPr lang="en-US" sz="900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125" name="Shape 90">
            <a:extLst>
              <a:ext uri="{FF2B5EF4-FFF2-40B4-BE49-F238E27FC236}">
                <a16:creationId xmlns:a16="http://schemas.microsoft.com/office/drawing/2014/main" id="{F815F0BC-99B0-4F21-B1A2-84BF5A4D1845}"/>
              </a:ext>
            </a:extLst>
          </p:cNvPr>
          <p:cNvSpPr/>
          <p:nvPr/>
        </p:nvSpPr>
        <p:spPr>
          <a:xfrm>
            <a:off x="633306" y="5857486"/>
            <a:ext cx="10796693" cy="278655"/>
          </a:xfrm>
          <a:prstGeom prst="rect">
            <a:avLst/>
          </a:prstGeom>
          <a:solidFill>
            <a:srgbClr val="FFF3D6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126" name="Text 91">
            <a:extLst>
              <a:ext uri="{FF2B5EF4-FFF2-40B4-BE49-F238E27FC236}">
                <a16:creationId xmlns:a16="http://schemas.microsoft.com/office/drawing/2014/main" id="{1150D9BB-6CBC-47CD-B7E8-34F7CFEF294A}"/>
              </a:ext>
            </a:extLst>
          </p:cNvPr>
          <p:cNvSpPr/>
          <p:nvPr/>
        </p:nvSpPr>
        <p:spPr>
          <a:xfrm>
            <a:off x="724747" y="5866631"/>
            <a:ext cx="10564506" cy="2533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3806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alibri" pitchFamily="34" charset="-120"/>
              </a:rPr>
              <a:t>⚠  논문명(타언어), ISSN 항목은 PDF에서 확인 불가 — AI가 채팅으로 안내하여 보완 처리됩니다.</a:t>
            </a:r>
            <a:endParaRPr lang="en-US" sz="850" dirty="0"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9079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A3E4DE-348D-469C-BCC6-9AD471D21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기술 스택 및 시스템 구조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866507C-2613-4B59-A527-75603DD5BDAB}"/>
              </a:ext>
            </a:extLst>
          </p:cNvPr>
          <p:cNvGrpSpPr/>
          <p:nvPr/>
        </p:nvGrpSpPr>
        <p:grpSpPr>
          <a:xfrm>
            <a:off x="396663" y="1026159"/>
            <a:ext cx="11336724" cy="5168381"/>
            <a:chOff x="365760" y="822960"/>
            <a:chExt cx="8366760" cy="3523668"/>
          </a:xfrm>
        </p:grpSpPr>
        <p:sp>
          <p:nvSpPr>
            <p:cNvPr id="119" name="Shape 2">
              <a:extLst>
                <a:ext uri="{FF2B5EF4-FFF2-40B4-BE49-F238E27FC236}">
                  <a16:creationId xmlns:a16="http://schemas.microsoft.com/office/drawing/2014/main" id="{22583696-47DF-49A9-8D07-DE9E24EDE6FD}"/>
                </a:ext>
              </a:extLst>
            </p:cNvPr>
            <p:cNvSpPr/>
            <p:nvPr/>
          </p:nvSpPr>
          <p:spPr>
            <a:xfrm>
              <a:off x="365760" y="822960"/>
              <a:ext cx="2606040" cy="2011680"/>
            </a:xfrm>
            <a:prstGeom prst="rect">
              <a:avLst/>
            </a:prstGeom>
            <a:solidFill>
              <a:srgbClr val="1E4DA0"/>
            </a:solidFill>
            <a:ln w="12700">
              <a:solidFill>
                <a:srgbClr val="1E4DA0"/>
              </a:solidFill>
              <a:prstDash val="solid"/>
            </a:ln>
          </p:spPr>
        </p:sp>
        <p:sp>
          <p:nvSpPr>
            <p:cNvPr id="120" name="Text 3">
              <a:extLst>
                <a:ext uri="{FF2B5EF4-FFF2-40B4-BE49-F238E27FC236}">
                  <a16:creationId xmlns:a16="http://schemas.microsoft.com/office/drawing/2014/main" id="{32FD91BA-2B0C-430C-893E-C784BC75B507}"/>
                </a:ext>
              </a:extLst>
            </p:cNvPr>
            <p:cNvSpPr/>
            <p:nvPr/>
          </p:nvSpPr>
          <p:spPr>
            <a:xfrm>
              <a:off x="457200" y="868680"/>
              <a:ext cx="24231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kern="0" spc="100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프론트엔드</a:t>
              </a:r>
              <a:endParaRPr lang="en-US" sz="2000" dirty="0">
                <a:latin typeface="맑은 고딕" panose="020B0503020000020004" pitchFamily="50" charset="-127"/>
              </a:endParaRPr>
            </a:p>
          </p:txBody>
        </p:sp>
        <p:sp>
          <p:nvSpPr>
            <p:cNvPr id="121" name="Text 4">
              <a:extLst>
                <a:ext uri="{FF2B5EF4-FFF2-40B4-BE49-F238E27FC236}">
                  <a16:creationId xmlns:a16="http://schemas.microsoft.com/office/drawing/2014/main" id="{C5779E57-EE3B-4419-A2BE-351237376CB3}"/>
                </a:ext>
              </a:extLst>
            </p:cNvPr>
            <p:cNvSpPr/>
            <p:nvPr/>
          </p:nvSpPr>
          <p:spPr>
            <a:xfrm>
              <a:off x="457200" y="1207008"/>
              <a:ext cx="24231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React + Vite</a:t>
              </a:r>
              <a:endParaRPr lang="en-US" sz="2000" dirty="0">
                <a:latin typeface="맑은 고딕" panose="020B0503020000020004" pitchFamily="50" charset="-127"/>
              </a:endParaRPr>
            </a:p>
          </p:txBody>
        </p:sp>
        <p:sp>
          <p:nvSpPr>
            <p:cNvPr id="122" name="Shape 5">
              <a:extLst>
                <a:ext uri="{FF2B5EF4-FFF2-40B4-BE49-F238E27FC236}">
                  <a16:creationId xmlns:a16="http://schemas.microsoft.com/office/drawing/2014/main" id="{40E185AE-BB9A-4458-B1D1-B761ACBE58ED}"/>
                </a:ext>
              </a:extLst>
            </p:cNvPr>
            <p:cNvSpPr/>
            <p:nvPr/>
          </p:nvSpPr>
          <p:spPr>
            <a:xfrm>
              <a:off x="731520" y="1609344"/>
              <a:ext cx="1874520" cy="18288"/>
            </a:xfrm>
            <a:prstGeom prst="rect">
              <a:avLst/>
            </a:prstGeom>
            <a:solidFill>
              <a:srgbClr val="7EB3FF">
                <a:alpha val="50000"/>
              </a:srgbClr>
            </a:solidFill>
            <a:ln w="12700">
              <a:solidFill>
                <a:srgbClr val="7EB3FF">
                  <a:alpha val="50000"/>
                </a:srgbClr>
              </a:solidFill>
              <a:prstDash val="solid"/>
            </a:ln>
          </p:spPr>
        </p:sp>
        <p:sp>
          <p:nvSpPr>
            <p:cNvPr id="123" name="Text 6">
              <a:extLst>
                <a:ext uri="{FF2B5EF4-FFF2-40B4-BE49-F238E27FC236}">
                  <a16:creationId xmlns:a16="http://schemas.microsoft.com/office/drawing/2014/main" id="{36A200EE-BF9F-4982-88C3-F10A0D71B121}"/>
                </a:ext>
              </a:extLst>
            </p:cNvPr>
            <p:cNvSpPr/>
            <p:nvPr/>
          </p:nvSpPr>
          <p:spPr>
            <a:xfrm>
              <a:off x="457200" y="1691640"/>
              <a:ext cx="24231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채팅 UI, 파일 첨부</a:t>
              </a:r>
              <a:endParaRPr lang="en-US" sz="1600" dirty="0">
                <a:latin typeface="맑은 고딕" panose="020B0503020000020004" pitchFamily="50" charset="-127"/>
              </a:endParaRPr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메시지 버블, 결과 표 렌더링</a:t>
              </a:r>
              <a:endParaRPr 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25" name="Shape 8">
              <a:extLst>
                <a:ext uri="{FF2B5EF4-FFF2-40B4-BE49-F238E27FC236}">
                  <a16:creationId xmlns:a16="http://schemas.microsoft.com/office/drawing/2014/main" id="{15E65BF5-14DA-48BC-996B-76FB138243EA}"/>
                </a:ext>
              </a:extLst>
            </p:cNvPr>
            <p:cNvSpPr/>
            <p:nvPr/>
          </p:nvSpPr>
          <p:spPr>
            <a:xfrm>
              <a:off x="3246120" y="822960"/>
              <a:ext cx="2606040" cy="2011680"/>
            </a:xfrm>
            <a:prstGeom prst="rect">
              <a:avLst/>
            </a:prstGeom>
            <a:solidFill>
              <a:srgbClr val="0D2D6B"/>
            </a:solidFill>
            <a:ln w="12700">
              <a:solidFill>
                <a:srgbClr val="0D2D6B"/>
              </a:solidFill>
              <a:prstDash val="solid"/>
            </a:ln>
          </p:spPr>
        </p:sp>
        <p:sp>
          <p:nvSpPr>
            <p:cNvPr id="126" name="Text 9">
              <a:extLst>
                <a:ext uri="{FF2B5EF4-FFF2-40B4-BE49-F238E27FC236}">
                  <a16:creationId xmlns:a16="http://schemas.microsoft.com/office/drawing/2014/main" id="{2D3EAFA2-3A03-4491-8501-1ED383C4D84D}"/>
                </a:ext>
              </a:extLst>
            </p:cNvPr>
            <p:cNvSpPr/>
            <p:nvPr/>
          </p:nvSpPr>
          <p:spPr>
            <a:xfrm>
              <a:off x="3337560" y="868680"/>
              <a:ext cx="24231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kern="0" spc="100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백엔드 서버</a:t>
              </a:r>
              <a:endParaRPr lang="en-US" sz="2000" dirty="0">
                <a:latin typeface="맑은 고딕" panose="020B0503020000020004" pitchFamily="50" charset="-127"/>
              </a:endParaRPr>
            </a:p>
          </p:txBody>
        </p:sp>
        <p:sp>
          <p:nvSpPr>
            <p:cNvPr id="127" name="Text 10">
              <a:extLst>
                <a:ext uri="{FF2B5EF4-FFF2-40B4-BE49-F238E27FC236}">
                  <a16:creationId xmlns:a16="http://schemas.microsoft.com/office/drawing/2014/main" id="{1ABF7A3A-07BA-4CD2-9953-B568C368CDA1}"/>
                </a:ext>
              </a:extLst>
            </p:cNvPr>
            <p:cNvSpPr/>
            <p:nvPr/>
          </p:nvSpPr>
          <p:spPr>
            <a:xfrm>
              <a:off x="3337560" y="1207008"/>
              <a:ext cx="24231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Node.js + Express</a:t>
              </a:r>
              <a:endParaRPr lang="en-US" sz="2000" dirty="0">
                <a:latin typeface="맑은 고딕" panose="020B0503020000020004" pitchFamily="50" charset="-127"/>
              </a:endParaRPr>
            </a:p>
          </p:txBody>
        </p:sp>
        <p:sp>
          <p:nvSpPr>
            <p:cNvPr id="128" name="Shape 11">
              <a:extLst>
                <a:ext uri="{FF2B5EF4-FFF2-40B4-BE49-F238E27FC236}">
                  <a16:creationId xmlns:a16="http://schemas.microsoft.com/office/drawing/2014/main" id="{1C951FD9-F55A-4E57-A046-E8B9865A7F00}"/>
                </a:ext>
              </a:extLst>
            </p:cNvPr>
            <p:cNvSpPr/>
            <p:nvPr/>
          </p:nvSpPr>
          <p:spPr>
            <a:xfrm>
              <a:off x="3611880" y="1609344"/>
              <a:ext cx="1874520" cy="18288"/>
            </a:xfrm>
            <a:prstGeom prst="rect">
              <a:avLst/>
            </a:prstGeom>
            <a:solidFill>
              <a:srgbClr val="7EB3FF">
                <a:alpha val="50000"/>
              </a:srgbClr>
            </a:solidFill>
            <a:ln w="12700">
              <a:solidFill>
                <a:srgbClr val="7EB3FF">
                  <a:alpha val="50000"/>
                </a:srgbClr>
              </a:solidFill>
              <a:prstDash val="solid"/>
            </a:ln>
          </p:spPr>
        </p:sp>
        <p:sp>
          <p:nvSpPr>
            <p:cNvPr id="129" name="Text 12">
              <a:extLst>
                <a:ext uri="{FF2B5EF4-FFF2-40B4-BE49-F238E27FC236}">
                  <a16:creationId xmlns:a16="http://schemas.microsoft.com/office/drawing/2014/main" id="{25558F41-42DC-4CCC-B2D5-3E213948AFCC}"/>
                </a:ext>
              </a:extLst>
            </p:cNvPr>
            <p:cNvSpPr/>
            <p:nvPr/>
          </p:nvSpPr>
          <p:spPr>
            <a:xfrm>
              <a:off x="3337560" y="1691640"/>
              <a:ext cx="24231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API 라우팅</a:t>
              </a:r>
              <a:endParaRPr lang="en-US" sz="1600" dirty="0">
                <a:latin typeface="맑은 고딕" panose="020B0503020000020004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요청 중계, 파일 처리</a:t>
              </a:r>
              <a:endParaRPr 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31" name="Shape 14">
              <a:extLst>
                <a:ext uri="{FF2B5EF4-FFF2-40B4-BE49-F238E27FC236}">
                  <a16:creationId xmlns:a16="http://schemas.microsoft.com/office/drawing/2014/main" id="{390155DC-6F8E-4D94-AF60-2B5CB36A50C4}"/>
                </a:ext>
              </a:extLst>
            </p:cNvPr>
            <p:cNvSpPr/>
            <p:nvPr/>
          </p:nvSpPr>
          <p:spPr>
            <a:xfrm>
              <a:off x="6126480" y="822960"/>
              <a:ext cx="2606040" cy="2011680"/>
            </a:xfrm>
            <a:prstGeom prst="rect">
              <a:avLst/>
            </a:prstGeom>
            <a:solidFill>
              <a:srgbClr val="081A45"/>
            </a:solidFill>
            <a:ln w="12700">
              <a:solidFill>
                <a:srgbClr val="081A45"/>
              </a:solidFill>
              <a:prstDash val="solid"/>
            </a:ln>
          </p:spPr>
        </p:sp>
        <p:sp>
          <p:nvSpPr>
            <p:cNvPr id="132" name="Text 15">
              <a:extLst>
                <a:ext uri="{FF2B5EF4-FFF2-40B4-BE49-F238E27FC236}">
                  <a16:creationId xmlns:a16="http://schemas.microsoft.com/office/drawing/2014/main" id="{7327F504-0D6A-4F41-B32B-B0CA8F72E1A1}"/>
                </a:ext>
              </a:extLst>
            </p:cNvPr>
            <p:cNvSpPr/>
            <p:nvPr/>
          </p:nvSpPr>
          <p:spPr>
            <a:xfrm>
              <a:off x="6217920" y="868680"/>
              <a:ext cx="24231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kern="0" spc="100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AI</a:t>
              </a:r>
              <a:endParaRPr lang="en-US" sz="2000" dirty="0">
                <a:latin typeface="맑은 고딕" panose="020B0503020000020004" pitchFamily="50" charset="-127"/>
              </a:endParaRPr>
            </a:p>
          </p:txBody>
        </p:sp>
        <p:sp>
          <p:nvSpPr>
            <p:cNvPr id="133" name="Text 16">
              <a:extLst>
                <a:ext uri="{FF2B5EF4-FFF2-40B4-BE49-F238E27FC236}">
                  <a16:creationId xmlns:a16="http://schemas.microsoft.com/office/drawing/2014/main" id="{58D62C0A-BCA8-41D2-9848-5C9C82632968}"/>
                </a:ext>
              </a:extLst>
            </p:cNvPr>
            <p:cNvSpPr/>
            <p:nvPr/>
          </p:nvSpPr>
          <p:spPr>
            <a:xfrm>
              <a:off x="6217920" y="1207008"/>
              <a:ext cx="24231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Claude API (Bedrock)</a:t>
              </a:r>
              <a:endParaRPr lang="en-US" sz="2000" dirty="0">
                <a:latin typeface="맑은 고딕" panose="020B0503020000020004" pitchFamily="50" charset="-127"/>
              </a:endParaRPr>
            </a:p>
          </p:txBody>
        </p:sp>
        <p:sp>
          <p:nvSpPr>
            <p:cNvPr id="134" name="Shape 17">
              <a:extLst>
                <a:ext uri="{FF2B5EF4-FFF2-40B4-BE49-F238E27FC236}">
                  <a16:creationId xmlns:a16="http://schemas.microsoft.com/office/drawing/2014/main" id="{ACB5DB9D-2166-4E05-84CC-95667C5AD5D3}"/>
                </a:ext>
              </a:extLst>
            </p:cNvPr>
            <p:cNvSpPr/>
            <p:nvPr/>
          </p:nvSpPr>
          <p:spPr>
            <a:xfrm>
              <a:off x="6492240" y="1609344"/>
              <a:ext cx="1874520" cy="18288"/>
            </a:xfrm>
            <a:prstGeom prst="rect">
              <a:avLst/>
            </a:prstGeom>
            <a:solidFill>
              <a:srgbClr val="7EB3FF">
                <a:alpha val="50000"/>
              </a:srgbClr>
            </a:solidFill>
            <a:ln w="12700">
              <a:solidFill>
                <a:srgbClr val="7EB3FF">
                  <a:alpha val="50000"/>
                </a:srgbClr>
              </a:solidFill>
              <a:prstDash val="solid"/>
            </a:ln>
          </p:spPr>
        </p:sp>
        <p:sp>
          <p:nvSpPr>
            <p:cNvPr id="135" name="Text 18">
              <a:extLst>
                <a:ext uri="{FF2B5EF4-FFF2-40B4-BE49-F238E27FC236}">
                  <a16:creationId xmlns:a16="http://schemas.microsoft.com/office/drawing/2014/main" id="{809736DD-2892-4DFE-AC54-C4916A2F2146}"/>
                </a:ext>
              </a:extLst>
            </p:cNvPr>
            <p:cNvSpPr/>
            <p:nvPr/>
          </p:nvSpPr>
          <p:spPr>
            <a:xfrm>
              <a:off x="6217920" y="1691640"/>
              <a:ext cx="242316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논문 파싱</a:t>
              </a:r>
              <a:endParaRPr lang="en-US" sz="1600" dirty="0">
                <a:latin typeface="맑은 고딕" panose="020B0503020000020004" pitchFamily="50" charset="-127"/>
              </a:endParaRPr>
            </a:p>
            <a:p>
              <a:pPr marL="0" indent="0" algn="ctr">
                <a:lnSpc>
                  <a:spcPct val="150000"/>
                </a:lnSpc>
                <a:buNone/>
              </a:pPr>
              <a:r>
                <a:rPr lang="en-US" sz="1600" dirty="0">
                  <a:solidFill>
                    <a:srgbClr val="CADCFC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20개 필드 자동 매핑</a:t>
              </a:r>
              <a:endParaRPr lang="en-US" sz="1600" dirty="0">
                <a:latin typeface="맑은 고딕" panose="020B0503020000020004" pitchFamily="50" charset="-127"/>
              </a:endParaRPr>
            </a:p>
          </p:txBody>
        </p:sp>
        <p:sp>
          <p:nvSpPr>
            <p:cNvPr id="136" name="Text 19">
              <a:extLst>
                <a:ext uri="{FF2B5EF4-FFF2-40B4-BE49-F238E27FC236}">
                  <a16:creationId xmlns:a16="http://schemas.microsoft.com/office/drawing/2014/main" id="{8A24826D-83F7-46BD-96FC-9FB11E20F2E4}"/>
                </a:ext>
              </a:extLst>
            </p:cNvPr>
            <p:cNvSpPr/>
            <p:nvPr/>
          </p:nvSpPr>
          <p:spPr>
            <a:xfrm>
              <a:off x="365760" y="29489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0D2D6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지원 입력 형식</a:t>
              </a:r>
              <a:endParaRPr lang="en-US" sz="2000" dirty="0">
                <a:latin typeface="맑은 고딕" panose="020B0503020000020004" pitchFamily="50" charset="-127"/>
              </a:endParaRPr>
            </a:p>
          </p:txBody>
        </p:sp>
        <p:sp>
          <p:nvSpPr>
            <p:cNvPr id="137" name="Shape 20">
              <a:extLst>
                <a:ext uri="{FF2B5EF4-FFF2-40B4-BE49-F238E27FC236}">
                  <a16:creationId xmlns:a16="http://schemas.microsoft.com/office/drawing/2014/main" id="{961C009F-BE80-456C-963A-E44B110DB1F0}"/>
                </a:ext>
              </a:extLst>
            </p:cNvPr>
            <p:cNvSpPr/>
            <p:nvPr/>
          </p:nvSpPr>
          <p:spPr>
            <a:xfrm>
              <a:off x="388568" y="3255264"/>
              <a:ext cx="1783080" cy="914400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B0BEC5"/>
              </a:solidFill>
              <a:prstDash val="solid"/>
            </a:ln>
          </p:spPr>
        </p:sp>
        <p:sp>
          <p:nvSpPr>
            <p:cNvPr id="138" name="Shape 21">
              <a:extLst>
                <a:ext uri="{FF2B5EF4-FFF2-40B4-BE49-F238E27FC236}">
                  <a16:creationId xmlns:a16="http://schemas.microsoft.com/office/drawing/2014/main" id="{1A6F6D7C-9D95-4FE7-B4DC-60971CFD030B}"/>
                </a:ext>
              </a:extLst>
            </p:cNvPr>
            <p:cNvSpPr/>
            <p:nvPr/>
          </p:nvSpPr>
          <p:spPr>
            <a:xfrm>
              <a:off x="388568" y="3255264"/>
              <a:ext cx="1783080" cy="91440"/>
            </a:xfrm>
            <a:prstGeom prst="rect">
              <a:avLst/>
            </a:prstGeom>
            <a:solidFill>
              <a:srgbClr val="1E4DA0"/>
            </a:solidFill>
            <a:ln w="12700">
              <a:solidFill>
                <a:srgbClr val="1E4DA0"/>
              </a:solidFill>
              <a:prstDash val="solid"/>
            </a:ln>
          </p:spPr>
        </p:sp>
        <p:sp>
          <p:nvSpPr>
            <p:cNvPr id="139" name="Text 22">
              <a:extLst>
                <a:ext uri="{FF2B5EF4-FFF2-40B4-BE49-F238E27FC236}">
                  <a16:creationId xmlns:a16="http://schemas.microsoft.com/office/drawing/2014/main" id="{50C43787-C4AE-485B-B1EB-FD2F1AE035AD}"/>
                </a:ext>
              </a:extLst>
            </p:cNvPr>
            <p:cNvSpPr/>
            <p:nvPr/>
          </p:nvSpPr>
          <p:spPr>
            <a:xfrm>
              <a:off x="434288" y="3386508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0D2D6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PDF</a:t>
              </a:r>
              <a:endParaRPr lang="en-US" sz="2000" dirty="0">
                <a:latin typeface="맑은 고딕" panose="020B0503020000020004" pitchFamily="50" charset="-127"/>
              </a:endParaRPr>
            </a:p>
          </p:txBody>
        </p:sp>
        <p:sp>
          <p:nvSpPr>
            <p:cNvPr id="140" name="Text 23">
              <a:extLst>
                <a:ext uri="{FF2B5EF4-FFF2-40B4-BE49-F238E27FC236}">
                  <a16:creationId xmlns:a16="http://schemas.microsoft.com/office/drawing/2014/main" id="{12E6C76B-DD27-4AE4-9986-F33B8B4F6F13}"/>
                </a:ext>
              </a:extLst>
            </p:cNvPr>
            <p:cNvSpPr/>
            <p:nvPr/>
          </p:nvSpPr>
          <p:spPr>
            <a:xfrm>
              <a:off x="434288" y="3630167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논문 원문</a:t>
              </a:r>
              <a:endParaRPr lang="en-US" sz="1200" dirty="0">
                <a:latin typeface="맑은 고딕" panose="020B0503020000020004" pitchFamily="50" charset="-127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PDF 파일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141" name="Shape 24">
              <a:extLst>
                <a:ext uri="{FF2B5EF4-FFF2-40B4-BE49-F238E27FC236}">
                  <a16:creationId xmlns:a16="http://schemas.microsoft.com/office/drawing/2014/main" id="{440F7FFA-DA71-4038-9BC9-D50A4F7E0687}"/>
                </a:ext>
              </a:extLst>
            </p:cNvPr>
            <p:cNvSpPr/>
            <p:nvPr/>
          </p:nvSpPr>
          <p:spPr>
            <a:xfrm>
              <a:off x="2308808" y="3255264"/>
              <a:ext cx="1783080" cy="914400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B0BEC5"/>
              </a:solidFill>
              <a:prstDash val="solid"/>
            </a:ln>
          </p:spPr>
        </p:sp>
        <p:sp>
          <p:nvSpPr>
            <p:cNvPr id="142" name="Shape 25">
              <a:extLst>
                <a:ext uri="{FF2B5EF4-FFF2-40B4-BE49-F238E27FC236}">
                  <a16:creationId xmlns:a16="http://schemas.microsoft.com/office/drawing/2014/main" id="{B0BBD955-698D-4170-84DC-FDC31407D7D0}"/>
                </a:ext>
              </a:extLst>
            </p:cNvPr>
            <p:cNvSpPr/>
            <p:nvPr/>
          </p:nvSpPr>
          <p:spPr>
            <a:xfrm>
              <a:off x="2308808" y="3255264"/>
              <a:ext cx="1783080" cy="91440"/>
            </a:xfrm>
            <a:prstGeom prst="rect">
              <a:avLst/>
            </a:prstGeom>
            <a:solidFill>
              <a:srgbClr val="1E4DA0"/>
            </a:solidFill>
            <a:ln w="12700">
              <a:solidFill>
                <a:srgbClr val="1E4DA0"/>
              </a:solidFill>
              <a:prstDash val="solid"/>
            </a:ln>
          </p:spPr>
        </p:sp>
        <p:sp>
          <p:nvSpPr>
            <p:cNvPr id="143" name="Text 26">
              <a:extLst>
                <a:ext uri="{FF2B5EF4-FFF2-40B4-BE49-F238E27FC236}">
                  <a16:creationId xmlns:a16="http://schemas.microsoft.com/office/drawing/2014/main" id="{50056319-DA0F-44A1-ADCE-08B9EC035445}"/>
                </a:ext>
              </a:extLst>
            </p:cNvPr>
            <p:cNvSpPr/>
            <p:nvPr/>
          </p:nvSpPr>
          <p:spPr>
            <a:xfrm>
              <a:off x="2357103" y="3376163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0D2D6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IMAGE</a:t>
              </a:r>
              <a:endParaRPr lang="en-US" sz="2000" dirty="0">
                <a:latin typeface="맑은 고딕" panose="020B0503020000020004" pitchFamily="50" charset="-127"/>
              </a:endParaRPr>
            </a:p>
          </p:txBody>
        </p:sp>
        <p:sp>
          <p:nvSpPr>
            <p:cNvPr id="144" name="Text 27">
              <a:extLst>
                <a:ext uri="{FF2B5EF4-FFF2-40B4-BE49-F238E27FC236}">
                  <a16:creationId xmlns:a16="http://schemas.microsoft.com/office/drawing/2014/main" id="{0627807E-8DF9-4660-A659-9E04E89D9978}"/>
                </a:ext>
              </a:extLst>
            </p:cNvPr>
            <p:cNvSpPr/>
            <p:nvPr/>
          </p:nvSpPr>
          <p:spPr>
            <a:xfrm>
              <a:off x="2349081" y="3630168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스크린샷</a:t>
              </a:r>
              <a:endParaRPr lang="en-US" sz="1200" dirty="0">
                <a:latin typeface="맑은 고딕" panose="020B0503020000020004" pitchFamily="50" charset="-127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JPG · PNG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145" name="Shape 28">
              <a:extLst>
                <a:ext uri="{FF2B5EF4-FFF2-40B4-BE49-F238E27FC236}">
                  <a16:creationId xmlns:a16="http://schemas.microsoft.com/office/drawing/2014/main" id="{7FEEFDF7-F790-4DA4-BF78-08AA0CBB12FC}"/>
                </a:ext>
              </a:extLst>
            </p:cNvPr>
            <p:cNvSpPr/>
            <p:nvPr/>
          </p:nvSpPr>
          <p:spPr>
            <a:xfrm>
              <a:off x="4229048" y="3255264"/>
              <a:ext cx="1783080" cy="914400"/>
            </a:xfrm>
            <a:prstGeom prst="rect">
              <a:avLst/>
            </a:prstGeom>
            <a:solidFill>
              <a:srgbClr val="E8EFF8"/>
            </a:solidFill>
            <a:ln w="12700">
              <a:solidFill>
                <a:srgbClr val="B0BEC5"/>
              </a:solidFill>
              <a:prstDash val="solid"/>
            </a:ln>
          </p:spPr>
        </p:sp>
        <p:sp>
          <p:nvSpPr>
            <p:cNvPr id="146" name="Shape 29">
              <a:extLst>
                <a:ext uri="{FF2B5EF4-FFF2-40B4-BE49-F238E27FC236}">
                  <a16:creationId xmlns:a16="http://schemas.microsoft.com/office/drawing/2014/main" id="{163B22FF-49EE-42DD-B409-BD51C7D9CAEE}"/>
                </a:ext>
              </a:extLst>
            </p:cNvPr>
            <p:cNvSpPr/>
            <p:nvPr/>
          </p:nvSpPr>
          <p:spPr>
            <a:xfrm>
              <a:off x="4229048" y="3255264"/>
              <a:ext cx="1783080" cy="91440"/>
            </a:xfrm>
            <a:prstGeom prst="rect">
              <a:avLst/>
            </a:prstGeom>
            <a:solidFill>
              <a:srgbClr val="1E4DA0"/>
            </a:solidFill>
            <a:ln w="12700">
              <a:solidFill>
                <a:srgbClr val="1E4DA0"/>
              </a:solidFill>
              <a:prstDash val="solid"/>
            </a:ln>
          </p:spPr>
        </p:sp>
        <p:sp>
          <p:nvSpPr>
            <p:cNvPr id="147" name="Text 30">
              <a:extLst>
                <a:ext uri="{FF2B5EF4-FFF2-40B4-BE49-F238E27FC236}">
                  <a16:creationId xmlns:a16="http://schemas.microsoft.com/office/drawing/2014/main" id="{17A61C46-87E5-4CAD-B682-941A1D9E0127}"/>
                </a:ext>
              </a:extLst>
            </p:cNvPr>
            <p:cNvSpPr/>
            <p:nvPr/>
          </p:nvSpPr>
          <p:spPr>
            <a:xfrm>
              <a:off x="4274768" y="3376163"/>
              <a:ext cx="1691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0D2D6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TEXT</a:t>
              </a:r>
              <a:endParaRPr lang="en-US" sz="2000" dirty="0">
                <a:latin typeface="맑은 고딕" panose="020B0503020000020004" pitchFamily="50" charset="-127"/>
              </a:endParaRPr>
            </a:p>
          </p:txBody>
        </p:sp>
        <p:sp>
          <p:nvSpPr>
            <p:cNvPr id="148" name="Text 31">
              <a:extLst>
                <a:ext uri="{FF2B5EF4-FFF2-40B4-BE49-F238E27FC236}">
                  <a16:creationId xmlns:a16="http://schemas.microsoft.com/office/drawing/2014/main" id="{4E21AD42-7CC1-4085-A901-A215D9C3C162}"/>
                </a:ext>
              </a:extLst>
            </p:cNvPr>
            <p:cNvSpPr/>
            <p:nvPr/>
          </p:nvSpPr>
          <p:spPr>
            <a:xfrm>
              <a:off x="4274768" y="3630168"/>
              <a:ext cx="169164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자유 형식</a:t>
              </a:r>
              <a:endParaRPr lang="en-US" sz="1200" dirty="0">
                <a:latin typeface="맑은 고딕" panose="020B0503020000020004" pitchFamily="50" charset="-127"/>
              </a:endParaRPr>
            </a:p>
            <a:p>
              <a:pPr marL="0" indent="0" algn="ctr">
                <a:buNone/>
              </a:pPr>
              <a:r>
                <a:rPr lang="en-US" sz="1200" dirty="0">
                  <a:solidFill>
                    <a:srgbClr val="64748B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텍스트 입력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149" name="Shape 32">
              <a:extLst>
                <a:ext uri="{FF2B5EF4-FFF2-40B4-BE49-F238E27FC236}">
                  <a16:creationId xmlns:a16="http://schemas.microsoft.com/office/drawing/2014/main" id="{1EE42D8F-8DC3-4D1F-BFF3-93438725601E}"/>
                </a:ext>
              </a:extLst>
            </p:cNvPr>
            <p:cNvSpPr/>
            <p:nvPr/>
          </p:nvSpPr>
          <p:spPr>
            <a:xfrm>
              <a:off x="5989318" y="3066468"/>
              <a:ext cx="2743202" cy="12801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8EFF8"/>
              </a:solidFill>
              <a:prstDash val="solid"/>
            </a:ln>
          </p:spPr>
        </p:sp>
        <p:sp>
          <p:nvSpPr>
            <p:cNvPr id="150" name="Shape 33">
              <a:extLst>
                <a:ext uri="{FF2B5EF4-FFF2-40B4-BE49-F238E27FC236}">
                  <a16:creationId xmlns:a16="http://schemas.microsoft.com/office/drawing/2014/main" id="{4244C628-F921-4894-A869-E75A2E80BDF1}"/>
                </a:ext>
              </a:extLst>
            </p:cNvPr>
            <p:cNvSpPr/>
            <p:nvPr/>
          </p:nvSpPr>
          <p:spPr>
            <a:xfrm>
              <a:off x="5989318" y="3072955"/>
              <a:ext cx="2743202" cy="320040"/>
            </a:xfrm>
            <a:prstGeom prst="rect">
              <a:avLst/>
            </a:prstGeom>
            <a:solidFill>
              <a:srgbClr val="1E4DA0"/>
            </a:solidFill>
            <a:ln w="12700">
              <a:solidFill>
                <a:srgbClr val="1E4DA0"/>
              </a:solidFill>
              <a:prstDash val="solid"/>
            </a:ln>
          </p:spPr>
        </p:sp>
        <p:sp>
          <p:nvSpPr>
            <p:cNvPr id="151" name="Text 34">
              <a:extLst>
                <a:ext uri="{FF2B5EF4-FFF2-40B4-BE49-F238E27FC236}">
                  <a16:creationId xmlns:a16="http://schemas.microsoft.com/office/drawing/2014/main" id="{41E4B863-E16A-4EA5-B741-CD22F33A8F67}"/>
                </a:ext>
              </a:extLst>
            </p:cNvPr>
            <p:cNvSpPr/>
            <p:nvPr/>
          </p:nvSpPr>
          <p:spPr>
            <a:xfrm>
              <a:off x="6030876" y="3096303"/>
              <a:ext cx="2354633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시스템 프롬프트 구성</a:t>
              </a:r>
              <a:endParaRPr lang="en-US" sz="1400" dirty="0">
                <a:latin typeface="맑은 고딕" panose="020B0503020000020004" pitchFamily="50" charset="-127"/>
              </a:endParaRPr>
            </a:p>
          </p:txBody>
        </p:sp>
        <p:sp>
          <p:nvSpPr>
            <p:cNvPr id="152" name="Text 35">
              <a:extLst>
                <a:ext uri="{FF2B5EF4-FFF2-40B4-BE49-F238E27FC236}">
                  <a16:creationId xmlns:a16="http://schemas.microsoft.com/office/drawing/2014/main" id="{EB24892E-DCEC-44F5-B0F9-12C97BFE5180}"/>
                </a:ext>
              </a:extLst>
            </p:cNvPr>
            <p:cNvSpPr/>
            <p:nvPr/>
          </p:nvSpPr>
          <p:spPr>
            <a:xfrm>
              <a:off x="6057847" y="3426910"/>
              <a:ext cx="2537514" cy="2103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F9F2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▸  </a:t>
              </a:r>
              <a:r>
                <a:rPr lang="en-US" sz="12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20개 필드 매핑 규칙 정의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153" name="Text 36">
              <a:extLst>
                <a:ext uri="{FF2B5EF4-FFF2-40B4-BE49-F238E27FC236}">
                  <a16:creationId xmlns:a16="http://schemas.microsoft.com/office/drawing/2014/main" id="{B8D83B83-F9DC-4E44-B686-DB591A32A028}"/>
                </a:ext>
              </a:extLst>
            </p:cNvPr>
            <p:cNvSpPr/>
            <p:nvPr/>
          </p:nvSpPr>
          <p:spPr>
            <a:xfrm>
              <a:off x="6057847" y="3655510"/>
              <a:ext cx="2537514" cy="2103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F9F2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▸  </a:t>
              </a:r>
              <a:r>
                <a:rPr lang="en-US" sz="12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표 형식 출력 포맷 지정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154" name="Text 37">
              <a:extLst>
                <a:ext uri="{FF2B5EF4-FFF2-40B4-BE49-F238E27FC236}">
                  <a16:creationId xmlns:a16="http://schemas.microsoft.com/office/drawing/2014/main" id="{A4ED2408-14A7-4130-B7E0-B65E26AB64E7}"/>
                </a:ext>
              </a:extLst>
            </p:cNvPr>
            <p:cNvSpPr/>
            <p:nvPr/>
          </p:nvSpPr>
          <p:spPr>
            <a:xfrm>
              <a:off x="6057847" y="3884110"/>
              <a:ext cx="2537514" cy="2103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F9F2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▸  </a:t>
              </a:r>
              <a:r>
                <a:rPr lang="en-US" sz="12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이미지·PDF 파싱 지시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  <p:sp>
          <p:nvSpPr>
            <p:cNvPr id="155" name="Text 38">
              <a:extLst>
                <a:ext uri="{FF2B5EF4-FFF2-40B4-BE49-F238E27FC236}">
                  <a16:creationId xmlns:a16="http://schemas.microsoft.com/office/drawing/2014/main" id="{6AD5E3CE-FBD1-43FC-91EC-41E926BB0E5B}"/>
                </a:ext>
              </a:extLst>
            </p:cNvPr>
            <p:cNvSpPr/>
            <p:nvPr/>
          </p:nvSpPr>
          <p:spPr>
            <a:xfrm>
              <a:off x="6057847" y="4112711"/>
              <a:ext cx="2537514" cy="2103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EF9F27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▸  </a:t>
              </a:r>
              <a:r>
                <a:rPr lang="en-US" sz="1200" dirty="0">
                  <a:solidFill>
                    <a:srgbClr val="36363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alibri" pitchFamily="34" charset="-120"/>
                </a:rPr>
                <a:t>누락 항목 안내 로직</a:t>
              </a:r>
              <a:endParaRPr lang="en-US" sz="1200" dirty="0">
                <a:latin typeface="맑은 고딕" panose="020B0503020000020004" pitchFamily="50" charset="-127"/>
              </a:endParaRPr>
            </a:p>
          </p:txBody>
        </p:sp>
      </p:grpSp>
      <p:sp>
        <p:nvSpPr>
          <p:cNvPr id="3" name="화살표: 왼쪽/오른쪽 2">
            <a:extLst>
              <a:ext uri="{FF2B5EF4-FFF2-40B4-BE49-F238E27FC236}">
                <a16:creationId xmlns:a16="http://schemas.microsoft.com/office/drawing/2014/main" id="{6A41DBAE-EEDA-4B8A-BACA-92E5B4819C44}"/>
              </a:ext>
            </a:extLst>
          </p:cNvPr>
          <p:cNvSpPr/>
          <p:nvPr/>
        </p:nvSpPr>
        <p:spPr>
          <a:xfrm>
            <a:off x="3599442" y="2253363"/>
            <a:ext cx="1028359" cy="484632"/>
          </a:xfrm>
          <a:prstGeom prst="leftRightArrow">
            <a:avLst>
              <a:gd name="adj1" fmla="val 63976"/>
              <a:gd name="adj2" fmla="val 46506"/>
            </a:avLst>
          </a:prstGeom>
          <a:solidFill>
            <a:srgbClr val="EF9F27"/>
          </a:solidFill>
          <a:ln>
            <a:solidFill>
              <a:srgbClr val="EF9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화살표: 왼쪽/오른쪽 42">
            <a:extLst>
              <a:ext uri="{FF2B5EF4-FFF2-40B4-BE49-F238E27FC236}">
                <a16:creationId xmlns:a16="http://schemas.microsoft.com/office/drawing/2014/main" id="{EFE16435-75E4-46F2-8A1A-8B9A3EA70980}"/>
              </a:ext>
            </a:extLst>
          </p:cNvPr>
          <p:cNvSpPr/>
          <p:nvPr/>
        </p:nvSpPr>
        <p:spPr>
          <a:xfrm>
            <a:off x="7502249" y="2253363"/>
            <a:ext cx="1028359" cy="484632"/>
          </a:xfrm>
          <a:prstGeom prst="leftRightArrow">
            <a:avLst>
              <a:gd name="adj1" fmla="val 63976"/>
              <a:gd name="adj2" fmla="val 46506"/>
            </a:avLst>
          </a:prstGeom>
          <a:solidFill>
            <a:srgbClr val="EF9F27"/>
          </a:solidFill>
          <a:ln>
            <a:solidFill>
              <a:srgbClr val="EF9F2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05323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C2FBF9-006B-48F2-B15C-3315057EC073}"/>
              </a:ext>
            </a:extLst>
          </p:cNvPr>
          <p:cNvSpPr txBox="1"/>
          <p:nvPr/>
        </p:nvSpPr>
        <p:spPr>
          <a:xfrm>
            <a:off x="4893490" y="2828836"/>
            <a:ext cx="23986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7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E.O.D</a:t>
            </a:r>
          </a:p>
        </p:txBody>
      </p:sp>
    </p:spTree>
    <p:extLst>
      <p:ext uri="{BB962C8B-B14F-4D97-AF65-F5344CB8AC3E}">
        <p14:creationId xmlns:p14="http://schemas.microsoft.com/office/powerpoint/2010/main" val="348093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347</TotalTime>
  <Words>474</Words>
  <Application>Microsoft Office PowerPoint</Application>
  <PresentationFormat>와이드스크린</PresentationFormat>
  <Paragraphs>142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맑은 고딕</vt:lpstr>
      <vt:lpstr>Arial</vt:lpstr>
      <vt:lpstr>Calibri</vt:lpstr>
      <vt:lpstr>Wingdings</vt:lpstr>
      <vt:lpstr>Office 테마</vt:lpstr>
      <vt:lpstr>[Kiro] 연구 성과 관리 시스템</vt:lpstr>
      <vt:lpstr>사용 프로세스</vt:lpstr>
      <vt:lpstr>UI 목업 – 챗봇 인터페이스</vt:lpstr>
      <vt:lpstr>실제 결과 예시</vt:lpstr>
      <vt:lpstr>기술 스택 및 시스템 구조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장선경(광명,기획팀)</dc:creator>
  <cp:lastModifiedBy>장유현(서울,디지털전략팀)</cp:lastModifiedBy>
  <cp:revision>25</cp:revision>
  <cp:lastPrinted>2026-03-27T00:54:14Z</cp:lastPrinted>
  <dcterms:created xsi:type="dcterms:W3CDTF">2025-10-10T00:44:40Z</dcterms:created>
  <dcterms:modified xsi:type="dcterms:W3CDTF">2026-03-27T01:14:01Z</dcterms:modified>
</cp:coreProperties>
</file>