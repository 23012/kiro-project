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8" r:id="rId4"/>
    <p:sldId id="270" r:id="rId5"/>
    <p:sldId id="266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  <a:srgbClr val="EF9F27"/>
    <a:srgbClr val="1E4DA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슬라이드 표지_주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74DE5B-A3B0-47B4-A809-818886072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2379"/>
          <a:stretch/>
        </p:blipFill>
        <p:spPr>
          <a:xfrm>
            <a:off x="5241294" y="0"/>
            <a:ext cx="6950706" cy="685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D38063DA-051E-44BB-A601-7A449BDD377B}"/>
              </a:ext>
            </a:extLst>
          </p:cNvPr>
          <p:cNvGrpSpPr/>
          <p:nvPr userDrawn="1"/>
        </p:nvGrpSpPr>
        <p:grpSpPr>
          <a:xfrm>
            <a:off x="-8709" y="-9526"/>
            <a:ext cx="6962788" cy="6867526"/>
            <a:chOff x="-8709" y="-9526"/>
            <a:chExt cx="6962788" cy="6867526"/>
          </a:xfrm>
        </p:grpSpPr>
        <p:sp>
          <p:nvSpPr>
            <p:cNvPr id="8" name="순서도: 수동 입력 7">
              <a:extLst>
                <a:ext uri="{FF2B5EF4-FFF2-40B4-BE49-F238E27FC236}">
                  <a16:creationId xmlns:a16="http://schemas.microsoft.com/office/drawing/2014/main" id="{67FEC675-B343-4435-96B8-7D6E2F5F09C3}"/>
                </a:ext>
              </a:extLst>
            </p:cNvPr>
            <p:cNvSpPr/>
            <p:nvPr/>
          </p:nvSpPr>
          <p:spPr>
            <a:xfrm rot="5400000">
              <a:off x="38922" y="-57157"/>
              <a:ext cx="6867526" cy="6962788"/>
            </a:xfrm>
            <a:prstGeom prst="flowChartManualInput">
              <a:avLst/>
            </a:prstGeom>
            <a:solidFill>
              <a:schemeClr val="bg1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7EA72F-D235-445C-8836-4604979E716F}"/>
                </a:ext>
              </a:extLst>
            </p:cNvPr>
            <p:cNvSpPr/>
            <p:nvPr/>
          </p:nvSpPr>
          <p:spPr>
            <a:xfrm>
              <a:off x="-8709" y="-9526"/>
              <a:ext cx="61200" cy="6867524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760A68-F316-4E60-B4E8-32797E5D4BED}"/>
              </a:ext>
            </a:extLst>
          </p:cNvPr>
          <p:cNvCxnSpPr>
            <a:cxnSpLocks/>
          </p:cNvCxnSpPr>
          <p:nvPr userDrawn="1"/>
        </p:nvCxnSpPr>
        <p:spPr>
          <a:xfrm>
            <a:off x="367350" y="2821271"/>
            <a:ext cx="438753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16">
            <a:extLst>
              <a:ext uri="{FF2B5EF4-FFF2-40B4-BE49-F238E27FC236}">
                <a16:creationId xmlns:a16="http://schemas.microsoft.com/office/drawing/2014/main" id="{38D61FDF-B1F8-4860-A437-A2012E74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26" y="2227821"/>
            <a:ext cx="5144588" cy="575400"/>
          </a:xfrm>
        </p:spPr>
        <p:txBody>
          <a:bodyPr>
            <a:normAutofit/>
          </a:bodyPr>
          <a:lstStyle>
            <a:lvl1pPr>
              <a:defRPr lang="ko-KR" altLang="en-US" sz="3500" b="1" kern="120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DDDD017-BF90-4252-AFF6-12CB00E5FE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9562" y="2856740"/>
            <a:ext cx="2743200" cy="363600"/>
          </a:xfrm>
        </p:spPr>
        <p:txBody>
          <a:bodyPr>
            <a:noAutofit/>
          </a:bodyPr>
          <a:lstStyle>
            <a:lvl1pPr marL="0" indent="0">
              <a:buNone/>
              <a:defRPr lang="ko-KR" altLang="en-US" sz="2000" b="1" kern="120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부제목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B75A64-A609-4B6A-90C4-9D7B65396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1123" y="6230325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8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중제목 슬라이드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6493F4B-C159-4141-9534-ADE376BE982B}"/>
              </a:ext>
            </a:extLst>
          </p:cNvPr>
          <p:cNvSpPr/>
          <p:nvPr userDrawn="1"/>
        </p:nvSpPr>
        <p:spPr>
          <a:xfrm>
            <a:off x="261276" y="211986"/>
            <a:ext cx="11661632" cy="6416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635" tIns="45318" rIns="90635" bIns="45318" rtlCol="0" anchor="ctr"/>
          <a:lstStyle/>
          <a:p>
            <a:pPr algn="ctr"/>
            <a:endParaRPr lang="ko-KR" altLang="en-US" sz="166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181CAFF-A409-416B-B8A7-0AB2F9A099E3}"/>
              </a:ext>
            </a:extLst>
          </p:cNvPr>
          <p:cNvCxnSpPr>
            <a:cxnSpLocks/>
          </p:cNvCxnSpPr>
          <p:nvPr userDrawn="1"/>
        </p:nvCxnSpPr>
        <p:spPr>
          <a:xfrm>
            <a:off x="4068175" y="4255229"/>
            <a:ext cx="404783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916CB2-620C-425E-A4E6-A6DC7CF4E692}"/>
              </a:ext>
            </a:extLst>
          </p:cNvPr>
          <p:cNvCxnSpPr>
            <a:cxnSpLocks/>
          </p:cNvCxnSpPr>
          <p:nvPr userDrawn="1"/>
        </p:nvCxnSpPr>
        <p:spPr>
          <a:xfrm>
            <a:off x="4068175" y="2667386"/>
            <a:ext cx="404783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85A6367-6F87-414F-A524-A3ABFA86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4800" y="3004108"/>
            <a:ext cx="6602400" cy="914400"/>
          </a:xfrm>
        </p:spPr>
        <p:txBody>
          <a:bodyPr>
            <a:normAutofit/>
          </a:bodyPr>
          <a:lstStyle>
            <a:lvl1pPr algn="ctr">
              <a:defRPr lang="ko-KR" altLang="en-US" sz="3500" b="1" kern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 err="1"/>
              <a:t>중제목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AF7561-BC9A-49E5-A970-D5B837B9B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467" y="6105276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9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문_제목 및 내용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CDE53-FE9C-469B-A2CF-3A1F78E4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67" y="234250"/>
            <a:ext cx="11336866" cy="532342"/>
          </a:xfrm>
        </p:spPr>
        <p:txBody>
          <a:bodyPr>
            <a:normAutofit/>
          </a:bodyPr>
          <a:lstStyle>
            <a:lvl1pPr>
              <a:defRPr sz="2500" b="1">
                <a:solidFill>
                  <a:srgbClr val="00206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93BE8-9BBD-47FE-A512-CED833E013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567" y="836740"/>
            <a:ext cx="11336866" cy="5427630"/>
          </a:xfrm>
        </p:spPr>
        <p:txBody>
          <a:bodyPr>
            <a:normAutofit/>
          </a:bodyPr>
          <a:lstStyle>
            <a:lvl1pPr marL="177800" indent="-1778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"/>
              <a:defRPr sz="15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4500" indent="-173038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4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44500" indent="-87313">
              <a:lnSpc>
                <a:spcPct val="150000"/>
              </a:lnSpc>
              <a:spcBef>
                <a:spcPts val="0"/>
              </a:spcBef>
              <a:buFont typeface="맑은 고딕" panose="020B0503020000020004" pitchFamily="50" charset="-127"/>
              <a:buChar char="–"/>
              <a:defRPr sz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442913" indent="96838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ko-KR" altLang="en-US" dirty="0"/>
              <a:t> 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 셋째 수준</a:t>
            </a:r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26AE84-7895-426D-88DA-D81DC5E064C5}"/>
              </a:ext>
            </a:extLst>
          </p:cNvPr>
          <p:cNvCxnSpPr/>
          <p:nvPr userDrawn="1"/>
        </p:nvCxnSpPr>
        <p:spPr>
          <a:xfrm>
            <a:off x="397934" y="802874"/>
            <a:ext cx="11396133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E2F5D2D-3058-4F5C-AE11-6EBDA3174E93}"/>
              </a:ext>
            </a:extLst>
          </p:cNvPr>
          <p:cNvCxnSpPr/>
          <p:nvPr userDrawn="1"/>
        </p:nvCxnSpPr>
        <p:spPr>
          <a:xfrm>
            <a:off x="397934" y="6300654"/>
            <a:ext cx="11396133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763E3FC-B538-482E-A1A1-EE6C0907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7567" y="6444574"/>
            <a:ext cx="499535" cy="262791"/>
          </a:xfrm>
        </p:spPr>
        <p:txBody>
          <a:bodyPr/>
          <a:lstStyle>
            <a:lvl1pPr algn="l">
              <a:defRPr sz="1000"/>
            </a:lvl1pPr>
          </a:lstStyle>
          <a:p>
            <a:fld id="{18E65F12-5BB2-440B-A9D8-754C6FC218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325468-6F59-4715-A951-B2909C862B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467" y="6357824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8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OD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1547F6-3F68-4975-A555-DDF1AFFD4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00"/>
            <a:ext cx="12184183" cy="6839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463" y="946232"/>
            <a:ext cx="1109075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2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A2C14E-9CE9-434B-A7E5-1E1D60B3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85418B-1E17-4959-87F3-3D4A606FB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EAD60-D987-448C-BFE5-325EC38E8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AF05884-44D9-46F9-9718-DBF071077312}" type="datetimeFigureOut">
              <a:rPr lang="ko-KR" altLang="en-US" smtClean="0"/>
              <a:pPr/>
              <a:t>2026-04-02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B9C93-67E2-4C91-B003-601D033A6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FBE6F-F576-49EF-B3E1-4C70B59B1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8526F26-98F8-407A-B7D1-9E0D1BC3207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45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5" r:id="rId2"/>
    <p:sldLayoutId id="2147483666" r:id="rId3"/>
    <p:sldLayoutId id="214748367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0563-2070-4DB9-802E-8BB636D57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93" y="1937909"/>
            <a:ext cx="5582274" cy="8730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[</a:t>
            </a:r>
            <a:r>
              <a:rPr lang="en-US" altLang="ko-KR" dirty="0" err="1"/>
              <a:t>Kiro</a:t>
            </a:r>
            <a:r>
              <a:rPr lang="en-US" altLang="ko-KR" dirty="0"/>
              <a:t>] </a:t>
            </a:r>
            <a:r>
              <a:rPr lang="ko-KR" altLang="en-US" dirty="0"/>
              <a:t>약 처방 지원 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827B8F-06ED-46CF-80E5-8EF5F101E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593" y="2997666"/>
            <a:ext cx="2743200" cy="363600"/>
          </a:xfrm>
        </p:spPr>
        <p:txBody>
          <a:bodyPr/>
          <a:lstStyle/>
          <a:p>
            <a:r>
              <a:rPr lang="ko-KR" altLang="en-US" dirty="0"/>
              <a:t>디지털전략팀 장유현</a:t>
            </a:r>
          </a:p>
        </p:txBody>
      </p:sp>
    </p:spTree>
    <p:extLst>
      <p:ext uri="{BB962C8B-B14F-4D97-AF65-F5344CB8AC3E}">
        <p14:creationId xmlns:p14="http://schemas.microsoft.com/office/powerpoint/2010/main" val="106486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프로세스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F036371-B589-4584-8A58-C62F288A6BE5}"/>
              </a:ext>
            </a:extLst>
          </p:cNvPr>
          <p:cNvGrpSpPr/>
          <p:nvPr/>
        </p:nvGrpSpPr>
        <p:grpSpPr>
          <a:xfrm>
            <a:off x="685218" y="4540343"/>
            <a:ext cx="10805898" cy="1500357"/>
            <a:chOff x="1089404" y="4566241"/>
            <a:chExt cx="9961759" cy="1500357"/>
          </a:xfrm>
        </p:grpSpPr>
        <p:sp>
          <p:nvSpPr>
            <p:cNvPr id="42" name="Shape 11">
              <a:extLst>
                <a:ext uri="{FF2B5EF4-FFF2-40B4-BE49-F238E27FC236}">
                  <a16:creationId xmlns:a16="http://schemas.microsoft.com/office/drawing/2014/main" id="{73A55085-0332-43C9-9E24-360ED2D0288E}"/>
                </a:ext>
              </a:extLst>
            </p:cNvPr>
            <p:cNvSpPr/>
            <p:nvPr/>
          </p:nvSpPr>
          <p:spPr>
            <a:xfrm>
              <a:off x="1089405" y="4983433"/>
              <a:ext cx="9961758" cy="108316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9D6D3BC-7373-491D-B53C-049101CB02E8}"/>
                </a:ext>
              </a:extLst>
            </p:cNvPr>
            <p:cNvGrpSpPr/>
            <p:nvPr/>
          </p:nvGrpSpPr>
          <p:grpSpPr>
            <a:xfrm>
              <a:off x="1089404" y="4566241"/>
              <a:ext cx="8921954" cy="1263516"/>
              <a:chOff x="1089404" y="4566241"/>
              <a:chExt cx="8921954" cy="1263516"/>
            </a:xfrm>
          </p:grpSpPr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A016C5C2-F68F-4158-A1E1-8ED007766BEF}"/>
                  </a:ext>
                </a:extLst>
              </p:cNvPr>
              <p:cNvSpPr/>
              <p:nvPr/>
            </p:nvSpPr>
            <p:spPr>
              <a:xfrm>
                <a:off x="1089404" y="4566241"/>
                <a:ext cx="1357462" cy="26951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ko-KR" altLang="en-US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세부 기능</a:t>
                </a:r>
                <a:endParaRPr lang="en-US" dirty="0">
                  <a:solidFill>
                    <a:srgbClr val="1E4DA0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Text 14">
                <a:extLst>
                  <a:ext uri="{FF2B5EF4-FFF2-40B4-BE49-F238E27FC236}">
                    <a16:creationId xmlns:a16="http://schemas.microsoft.com/office/drawing/2014/main" id="{AFFD3D2A-33C9-4E49-9B97-D6217B5D4CC0}"/>
                  </a:ext>
                </a:extLst>
              </p:cNvPr>
              <p:cNvSpPr/>
              <p:nvPr/>
            </p:nvSpPr>
            <p:spPr>
              <a:xfrm>
                <a:off x="1180844" y="5166381"/>
                <a:ext cx="3802637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</a:t>
                </a:r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원하는 증상 관련 과거 처방 이력 추출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B0C86AE1-C259-4034-8029-F1E9CE9066CC}"/>
                  </a:ext>
                </a:extLst>
              </p:cNvPr>
              <p:cNvSpPr/>
              <p:nvPr/>
            </p:nvSpPr>
            <p:spPr>
              <a:xfrm>
                <a:off x="1180844" y="5575639"/>
                <a:ext cx="3612574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</a:t>
                </a:r>
                <a:r>
                  <a:rPr lang="en-US" altLang="ko-KR" sz="1200" dirty="0">
                    <a:latin typeface="맑은 고딕" panose="020B0503020000020004" pitchFamily="50" charset="-127"/>
                    <a:cs typeface="Calibri" pitchFamily="34" charset="-120"/>
                  </a:rPr>
                  <a:t>ATC </a:t>
                </a:r>
                <a:r>
                  <a:rPr lang="ko-KR" altLang="en-US" sz="1200" dirty="0">
                    <a:latin typeface="맑은 고딕" panose="020B0503020000020004" pitchFamily="50" charset="-127"/>
                    <a:cs typeface="Calibri" pitchFamily="34" charset="-120"/>
                  </a:rPr>
                  <a:t>코드 기반 약물 계통 자동 분류</a:t>
                </a:r>
              </a:p>
            </p:txBody>
          </p:sp>
          <p:sp>
            <p:nvSpPr>
              <p:cNvPr id="47" name="Text 16">
                <a:extLst>
                  <a:ext uri="{FF2B5EF4-FFF2-40B4-BE49-F238E27FC236}">
                    <a16:creationId xmlns:a16="http://schemas.microsoft.com/office/drawing/2014/main" id="{241B438B-B4F3-49C0-831D-DA1102EE2DED}"/>
                  </a:ext>
                </a:extLst>
              </p:cNvPr>
              <p:cNvSpPr/>
              <p:nvPr/>
            </p:nvSpPr>
            <p:spPr>
              <a:xfrm>
                <a:off x="5106617" y="5166615"/>
                <a:ext cx="3802637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 </a:t>
                </a:r>
                <a:r>
                  <a:rPr lang="ko-KR" alt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개별 약물 용량 </a:t>
                </a:r>
                <a:r>
                  <a:rPr lang="en-US" altLang="ko-KR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cs typeface="Calibri" pitchFamily="34" charset="-120"/>
                  </a:rPr>
                  <a:t>· </a:t>
                </a:r>
                <a:r>
                  <a:rPr lang="ko-KR" alt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용법을 기준 값과 비교해 자동 감지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 17">
                <a:extLst>
                  <a:ext uri="{FF2B5EF4-FFF2-40B4-BE49-F238E27FC236}">
                    <a16:creationId xmlns:a16="http://schemas.microsoft.com/office/drawing/2014/main" id="{BDBCF9C0-7F9B-496D-8B0B-DB82C968255F}"/>
                  </a:ext>
                </a:extLst>
              </p:cNvPr>
              <p:cNvSpPr/>
              <p:nvPr/>
            </p:nvSpPr>
            <p:spPr>
              <a:xfrm>
                <a:off x="5106616" y="5575389"/>
                <a:ext cx="4904742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 </a:t>
                </a:r>
                <a:r>
                  <a:rPr 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DDI</a:t>
                </a:r>
                <a:r>
                  <a:rPr lang="ko-KR" alt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를 기반으로 실시간으로 감지하고 위험 등급 표시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F056C0-CCAB-4D83-B16B-4B1426F4E8C7}"/>
              </a:ext>
            </a:extLst>
          </p:cNvPr>
          <p:cNvGrpSpPr/>
          <p:nvPr/>
        </p:nvGrpSpPr>
        <p:grpSpPr>
          <a:xfrm>
            <a:off x="693050" y="1305060"/>
            <a:ext cx="10805899" cy="3083284"/>
            <a:chOff x="721095" y="1114117"/>
            <a:chExt cx="10805899" cy="3083284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D73C8AE-1A5E-4275-972F-BB131500BD27}"/>
                </a:ext>
              </a:extLst>
            </p:cNvPr>
            <p:cNvGrpSpPr/>
            <p:nvPr/>
          </p:nvGrpSpPr>
          <p:grpSpPr>
            <a:xfrm>
              <a:off x="721095" y="1117566"/>
              <a:ext cx="2560320" cy="3079835"/>
              <a:chOff x="2015066" y="1554480"/>
              <a:chExt cx="2560320" cy="3079835"/>
            </a:xfrm>
          </p:grpSpPr>
          <p:sp>
            <p:nvSpPr>
              <p:cNvPr id="6" name="Shape 2">
                <a:extLst>
                  <a:ext uri="{FF2B5EF4-FFF2-40B4-BE49-F238E27FC236}">
                    <a16:creationId xmlns:a16="http://schemas.microsoft.com/office/drawing/2014/main" id="{BC331C45-FFD7-43DF-AF70-4D4C0796E1A2}"/>
                  </a:ext>
                </a:extLst>
              </p:cNvPr>
              <p:cNvSpPr/>
              <p:nvPr/>
            </p:nvSpPr>
            <p:spPr>
              <a:xfrm>
                <a:off x="2015066" y="1554480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34B5A0CA-D3A4-40FB-BC9A-7C2CA5E80F9C}"/>
                  </a:ext>
                </a:extLst>
              </p:cNvPr>
              <p:cNvGrpSpPr/>
              <p:nvPr/>
            </p:nvGrpSpPr>
            <p:grpSpPr>
              <a:xfrm>
                <a:off x="2015066" y="1554480"/>
                <a:ext cx="2560320" cy="2788920"/>
                <a:chOff x="2015066" y="1554480"/>
                <a:chExt cx="2560320" cy="2788920"/>
              </a:xfrm>
            </p:grpSpPr>
            <p:sp>
              <p:nvSpPr>
                <p:cNvPr id="7" name="Shape 3">
                  <a:extLst>
                    <a:ext uri="{FF2B5EF4-FFF2-40B4-BE49-F238E27FC236}">
                      <a16:creationId xmlns:a16="http://schemas.microsoft.com/office/drawing/2014/main" id="{2E03CCB9-E59F-43FF-BB3D-BCA5215FE2A2}"/>
                    </a:ext>
                  </a:extLst>
                </p:cNvPr>
                <p:cNvSpPr/>
                <p:nvPr/>
              </p:nvSpPr>
              <p:spPr>
                <a:xfrm>
                  <a:off x="2015066" y="1554480"/>
                  <a:ext cx="2560320" cy="1005840"/>
                </a:xfrm>
                <a:prstGeom prst="rect">
                  <a:avLst/>
                </a:prstGeom>
                <a:solidFill>
                  <a:srgbClr val="1E4DA0"/>
                </a:solidFill>
                <a:ln w="12700">
                  <a:solidFill>
                    <a:srgbClr val="0D2D6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A5A69D21-8A96-47F8-8F62-18CC00D561B5}"/>
                    </a:ext>
                  </a:extLst>
                </p:cNvPr>
                <p:cNvSpPr/>
                <p:nvPr/>
              </p:nvSpPr>
              <p:spPr>
                <a:xfrm>
                  <a:off x="2106506" y="1581912"/>
                  <a:ext cx="237744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000" b="1" kern="0" spc="300" dirty="0">
                      <a:solidFill>
                        <a:srgbClr val="CADCFC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STEP 1</a:t>
                  </a:r>
                  <a:endParaRPr lang="en-US" sz="10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9" name="Text 5">
                  <a:extLst>
                    <a:ext uri="{FF2B5EF4-FFF2-40B4-BE49-F238E27FC236}">
                      <a16:creationId xmlns:a16="http://schemas.microsoft.com/office/drawing/2014/main" id="{712A66A5-B5F8-47E2-BB25-58A201671F2C}"/>
                    </a:ext>
                  </a:extLst>
                </p:cNvPr>
                <p:cNvSpPr/>
                <p:nvPr/>
              </p:nvSpPr>
              <p:spPr>
                <a:xfrm>
                  <a:off x="2106506" y="1875252"/>
                  <a:ext cx="23774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b="1" dirty="0">
                      <a:solidFill>
                        <a:schemeClr val="bg1"/>
                      </a:solidFill>
                    </a:rPr>
                    <a:t>내원 환자 내역 클릭</a:t>
                  </a:r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604D45A2-B684-42C5-A0BB-B6C7B614E16B}"/>
                    </a:ext>
                  </a:extLst>
                </p:cNvPr>
                <p:cNvSpPr/>
                <p:nvPr/>
              </p:nvSpPr>
              <p:spPr>
                <a:xfrm>
                  <a:off x="2152226" y="2679192"/>
                  <a:ext cx="2286000" cy="10972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lnSpc>
                      <a:spcPct val="150000"/>
                    </a:lnSpc>
                    <a:buNone/>
                  </a:pPr>
                  <a:r>
                    <a:rPr lang="en-US" altLang="ko-KR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‘</a:t>
                  </a:r>
                  <a:r>
                    <a:rPr lang="ko-KR" altLang="en-US" sz="1100" dirty="0" err="1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카우누리</a:t>
                  </a:r>
                  <a:r>
                    <a:rPr lang="en-US" altLang="ko-KR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’</a:t>
                  </a:r>
                  <a:r>
                    <a:rPr lang="ko-KR" alt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 </a:t>
                  </a:r>
                  <a:r>
                    <a:rPr lang="ko-KR" altLang="en-US" sz="1100" dirty="0">
                      <a:latin typeface="맑은 고딕" panose="020B0503020000020004" pitchFamily="50" charset="-127"/>
                    </a:rPr>
                    <a:t>화면에서</a:t>
                  </a:r>
                  <a:endParaRPr lang="en-US" altLang="ko-KR" sz="1100" dirty="0">
                    <a:latin typeface="맑은 고딕" panose="020B0503020000020004" pitchFamily="50" charset="-127"/>
                  </a:endParaRPr>
                </a:p>
                <a:p>
                  <a:pPr marL="0" indent="0" algn="ctr">
                    <a:lnSpc>
                      <a:spcPct val="150000"/>
                    </a:lnSpc>
                    <a:buNone/>
                  </a:pPr>
                  <a:r>
                    <a:rPr lang="ko-KR" altLang="en-US" sz="1100" dirty="0">
                      <a:latin typeface="맑은 고딕" panose="020B0503020000020004" pitchFamily="50" charset="-127"/>
                    </a:rPr>
                    <a:t>내원한 환자 선택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1" name="Shape 7">
                  <a:extLst>
                    <a:ext uri="{FF2B5EF4-FFF2-40B4-BE49-F238E27FC236}">
                      <a16:creationId xmlns:a16="http://schemas.microsoft.com/office/drawing/2014/main" id="{017B8827-7152-4334-BBF5-56D9CA756FCB}"/>
                    </a:ext>
                  </a:extLst>
                </p:cNvPr>
                <p:cNvSpPr/>
                <p:nvPr/>
              </p:nvSpPr>
              <p:spPr>
                <a:xfrm>
                  <a:off x="2197946" y="3931920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12" name="Text 8">
                  <a:extLst>
                    <a:ext uri="{FF2B5EF4-FFF2-40B4-BE49-F238E27FC236}">
                      <a16:creationId xmlns:a16="http://schemas.microsoft.com/office/drawing/2014/main" id="{0D35B1D7-C6F2-4065-BEA8-6CF5AF157379}"/>
                    </a:ext>
                  </a:extLst>
                </p:cNvPr>
                <p:cNvSpPr/>
                <p:nvPr/>
              </p:nvSpPr>
              <p:spPr>
                <a:xfrm>
                  <a:off x="2197946" y="3950208"/>
                  <a:ext cx="21945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기존 워크플로우 유지</a:t>
                  </a:r>
                  <a:endParaRPr lang="en-US" sz="900" dirty="0">
                    <a:latin typeface="맑은 고딕" panose="020B0503020000020004" pitchFamily="50" charset="-127"/>
                  </a:endParaRPr>
                </a:p>
              </p:txBody>
            </p: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8349EEA-7594-48B2-9CE6-6CDC2EB64285}"/>
                </a:ext>
              </a:extLst>
            </p:cNvPr>
            <p:cNvGrpSpPr/>
            <p:nvPr/>
          </p:nvGrpSpPr>
          <p:grpSpPr>
            <a:xfrm>
              <a:off x="3464608" y="1117566"/>
              <a:ext cx="2560320" cy="3079835"/>
              <a:chOff x="4849706" y="1554480"/>
              <a:chExt cx="2560320" cy="3474720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C600D956-1B78-44DC-B0CC-9DD09641CCCE}"/>
                  </a:ext>
                </a:extLst>
              </p:cNvPr>
              <p:cNvGrpSpPr/>
              <p:nvPr/>
            </p:nvGrpSpPr>
            <p:grpSpPr>
              <a:xfrm>
                <a:off x="4849706" y="1554480"/>
                <a:ext cx="2560320" cy="3474720"/>
                <a:chOff x="4849706" y="1554480"/>
                <a:chExt cx="2560320" cy="3474720"/>
              </a:xfrm>
            </p:grpSpPr>
            <p:sp>
              <p:nvSpPr>
                <p:cNvPr id="15" name="Shape 11">
                  <a:extLst>
                    <a:ext uri="{FF2B5EF4-FFF2-40B4-BE49-F238E27FC236}">
                      <a16:creationId xmlns:a16="http://schemas.microsoft.com/office/drawing/2014/main" id="{0B17AC07-C46C-498F-8180-7FBAD3028C89}"/>
                    </a:ext>
                  </a:extLst>
                </p:cNvPr>
                <p:cNvSpPr/>
                <p:nvPr/>
              </p:nvSpPr>
              <p:spPr>
                <a:xfrm>
                  <a:off x="4849706" y="1554480"/>
                  <a:ext cx="2560320" cy="347472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" name="Shape 12">
                  <a:extLst>
                    <a:ext uri="{FF2B5EF4-FFF2-40B4-BE49-F238E27FC236}">
                      <a16:creationId xmlns:a16="http://schemas.microsoft.com/office/drawing/2014/main" id="{65C4E5D6-06A2-4ED3-B20A-1BC7AF683203}"/>
                    </a:ext>
                  </a:extLst>
                </p:cNvPr>
                <p:cNvSpPr/>
                <p:nvPr/>
              </p:nvSpPr>
              <p:spPr>
                <a:xfrm>
                  <a:off x="4849706" y="1554480"/>
                  <a:ext cx="2560320" cy="1134805"/>
                </a:xfrm>
                <a:prstGeom prst="rect">
                  <a:avLst/>
                </a:prstGeom>
                <a:solidFill>
                  <a:srgbClr val="1E4DA0"/>
                </a:solidFill>
                <a:ln w="12700">
                  <a:solidFill>
                    <a:srgbClr val="1E4DA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7" name="Text 13">
                  <a:extLst>
                    <a:ext uri="{FF2B5EF4-FFF2-40B4-BE49-F238E27FC236}">
                      <a16:creationId xmlns:a16="http://schemas.microsoft.com/office/drawing/2014/main" id="{E1F3333B-39BA-46BB-9EAD-06AFE5E73418}"/>
                    </a:ext>
                  </a:extLst>
                </p:cNvPr>
                <p:cNvSpPr/>
                <p:nvPr/>
              </p:nvSpPr>
              <p:spPr>
                <a:xfrm>
                  <a:off x="4941146" y="1581912"/>
                  <a:ext cx="237744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000" b="1" kern="0" spc="300" dirty="0">
                      <a:solidFill>
                        <a:srgbClr val="CADCFC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STEP 2</a:t>
                  </a:r>
                  <a:endParaRPr lang="en-US" sz="10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8" name="Text 14">
                  <a:extLst>
                    <a:ext uri="{FF2B5EF4-FFF2-40B4-BE49-F238E27FC236}">
                      <a16:creationId xmlns:a16="http://schemas.microsoft.com/office/drawing/2014/main" id="{BB817E29-3A11-4F30-AA47-4596DA09A04C}"/>
                    </a:ext>
                  </a:extLst>
                </p:cNvPr>
                <p:cNvSpPr/>
                <p:nvPr/>
              </p:nvSpPr>
              <p:spPr>
                <a:xfrm>
                  <a:off x="4941146" y="1948621"/>
                  <a:ext cx="23774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b="1" dirty="0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팝업 창 실행</a:t>
                  </a:r>
                  <a:endParaRPr lang="en-US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9" name="Text 15">
                  <a:extLst>
                    <a:ext uri="{FF2B5EF4-FFF2-40B4-BE49-F238E27FC236}">
                      <a16:creationId xmlns:a16="http://schemas.microsoft.com/office/drawing/2014/main" id="{DF28B58A-BE3B-4E0C-AED7-DF28A8382E20}"/>
                    </a:ext>
                  </a:extLst>
                </p:cNvPr>
                <p:cNvSpPr/>
                <p:nvPr/>
              </p:nvSpPr>
              <p:spPr>
                <a:xfrm>
                  <a:off x="4986866" y="2893743"/>
                  <a:ext cx="2286000" cy="1097279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lnSpc>
                      <a:spcPct val="150000"/>
                    </a:lnSpc>
                    <a:buNone/>
                  </a:pPr>
                  <a:r>
                    <a:rPr lang="ko-KR" alt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시스템 팝업 창 형태로</a:t>
                  </a:r>
                  <a:r>
                    <a:rPr lang="en-US" altLang="ko-KR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 </a:t>
                  </a:r>
                  <a:r>
                    <a:rPr lang="ko-KR" alt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실행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20" name="Shape 16">
                  <a:extLst>
                    <a:ext uri="{FF2B5EF4-FFF2-40B4-BE49-F238E27FC236}">
                      <a16:creationId xmlns:a16="http://schemas.microsoft.com/office/drawing/2014/main" id="{AE68711A-E1A2-4A33-BFD5-241B9E2C9571}"/>
                    </a:ext>
                  </a:extLst>
                </p:cNvPr>
                <p:cNvSpPr/>
                <p:nvPr/>
              </p:nvSpPr>
              <p:spPr>
                <a:xfrm>
                  <a:off x="5032586" y="4236747"/>
                  <a:ext cx="2194560" cy="464238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1" name="Text 17">
                <a:extLst>
                  <a:ext uri="{FF2B5EF4-FFF2-40B4-BE49-F238E27FC236}">
                    <a16:creationId xmlns:a16="http://schemas.microsoft.com/office/drawing/2014/main" id="{028D9C3E-3E92-4331-8CDB-762E4242A8BC}"/>
                  </a:ext>
                </a:extLst>
              </p:cNvPr>
              <p:cNvSpPr/>
              <p:nvPr/>
            </p:nvSpPr>
            <p:spPr>
              <a:xfrm>
                <a:off x="5032586" y="4275667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약 5</a:t>
                </a:r>
                <a:r>
                  <a:rPr lang="ko-KR" altLang="en-US" sz="900" dirty="0">
                    <a:solidFill>
                      <a:srgbClr val="64748B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초 이내</a:t>
                </a:r>
                <a:endParaRPr lang="en-US" sz="900" dirty="0"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E7059CCC-21BB-42B5-AA57-A31E9D576579}"/>
                </a:ext>
              </a:extLst>
            </p:cNvPr>
            <p:cNvGrpSpPr/>
            <p:nvPr/>
          </p:nvGrpSpPr>
          <p:grpSpPr>
            <a:xfrm>
              <a:off x="6207808" y="1114685"/>
              <a:ext cx="2568153" cy="3079835"/>
              <a:chOff x="8360281" y="1299293"/>
              <a:chExt cx="2568153" cy="3079835"/>
            </a:xfrm>
          </p:grpSpPr>
          <p:sp>
            <p:nvSpPr>
              <p:cNvPr id="24" name="Shape 20">
                <a:extLst>
                  <a:ext uri="{FF2B5EF4-FFF2-40B4-BE49-F238E27FC236}">
                    <a16:creationId xmlns:a16="http://schemas.microsoft.com/office/drawing/2014/main" id="{93F86CFA-9D90-456F-A849-1F7285E572EF}"/>
                  </a:ext>
                </a:extLst>
              </p:cNvPr>
              <p:cNvSpPr/>
              <p:nvPr/>
            </p:nvSpPr>
            <p:spPr>
              <a:xfrm>
                <a:off x="8360281" y="1299293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5" name="Shape 21">
                <a:extLst>
                  <a:ext uri="{FF2B5EF4-FFF2-40B4-BE49-F238E27FC236}">
                    <a16:creationId xmlns:a16="http://schemas.microsoft.com/office/drawing/2014/main" id="{588B8ECC-B882-4E05-BB2B-51DDB166E57C}"/>
                  </a:ext>
                </a:extLst>
              </p:cNvPr>
              <p:cNvSpPr/>
              <p:nvPr/>
            </p:nvSpPr>
            <p:spPr>
              <a:xfrm>
                <a:off x="8368114" y="1299294"/>
                <a:ext cx="2560320" cy="1005840"/>
              </a:xfrm>
              <a:prstGeom prst="rect">
                <a:avLst/>
              </a:prstGeom>
              <a:solidFill>
                <a:srgbClr val="1E4DA0"/>
              </a:solidFill>
              <a:ln w="1270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" name="Text 22">
                <a:extLst>
                  <a:ext uri="{FF2B5EF4-FFF2-40B4-BE49-F238E27FC236}">
                    <a16:creationId xmlns:a16="http://schemas.microsoft.com/office/drawing/2014/main" id="{F446F613-B4E6-4823-83DD-46E20BED1FA7}"/>
                  </a:ext>
                </a:extLst>
              </p:cNvPr>
              <p:cNvSpPr/>
              <p:nvPr/>
            </p:nvSpPr>
            <p:spPr>
              <a:xfrm>
                <a:off x="8459554" y="1325394"/>
                <a:ext cx="2377440" cy="30441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kern="0" spc="300" dirty="0">
                    <a:solidFill>
                      <a:srgbClr val="CADCFC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STEP 3</a:t>
                </a:r>
                <a:endParaRPr lang="en-US" sz="10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1DDC8DD6-75C8-464E-A4A4-27E1C3B137D3}"/>
                  </a:ext>
                </a:extLst>
              </p:cNvPr>
              <p:cNvSpPr/>
              <p:nvPr/>
            </p:nvSpPr>
            <p:spPr>
              <a:xfrm>
                <a:off x="8451721" y="1629805"/>
                <a:ext cx="2377440" cy="44059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ko-KR" altLang="en-US" b="1" dirty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처방 이력 조회</a:t>
                </a:r>
                <a:endParaRPr lang="en-US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" name="Text 24">
                <a:extLst>
                  <a:ext uri="{FF2B5EF4-FFF2-40B4-BE49-F238E27FC236}">
                    <a16:creationId xmlns:a16="http://schemas.microsoft.com/office/drawing/2014/main" id="{E6FC6492-F102-4080-8ED8-BB52A19F9CD4}"/>
                  </a:ext>
                </a:extLst>
              </p:cNvPr>
              <p:cNvSpPr/>
              <p:nvPr/>
            </p:nvSpPr>
            <p:spPr>
              <a:xfrm>
                <a:off x="8505274" y="2488316"/>
                <a:ext cx="2286000" cy="96129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rgbClr val="363636"/>
                    </a:solidFill>
                    <a:latin typeface="맑은 고딕" panose="020B0503020000020004" pitchFamily="50" charset="-127"/>
                    <a:cs typeface="Calibri" pitchFamily="34" charset="-120"/>
                  </a:rPr>
                  <a:t>기간 및 진료 과 선택해</a:t>
                </a:r>
                <a:endParaRPr lang="en-US" altLang="ko-KR" sz="11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유사 증상 처방 이력 조회</a:t>
                </a:r>
                <a:endParaRPr lang="en-US" sz="1100" dirty="0"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2DAC54EF-C89B-4C5B-A48C-0DE3AAC3692B}"/>
                  </a:ext>
                </a:extLst>
              </p:cNvPr>
              <p:cNvGrpSpPr/>
              <p:nvPr/>
            </p:nvGrpSpPr>
            <p:grpSpPr>
              <a:xfrm>
                <a:off x="8545511" y="3683086"/>
                <a:ext cx="2197693" cy="411480"/>
                <a:chOff x="8553344" y="3706881"/>
                <a:chExt cx="2197693" cy="411480"/>
              </a:xfrm>
            </p:grpSpPr>
            <p:sp>
              <p:nvSpPr>
                <p:cNvPr id="29" name="Shape 25">
                  <a:extLst>
                    <a:ext uri="{FF2B5EF4-FFF2-40B4-BE49-F238E27FC236}">
                      <a16:creationId xmlns:a16="http://schemas.microsoft.com/office/drawing/2014/main" id="{CBD32D23-6F51-4249-B1F9-524930B95519}"/>
                    </a:ext>
                  </a:extLst>
                </p:cNvPr>
                <p:cNvSpPr/>
                <p:nvPr/>
              </p:nvSpPr>
              <p:spPr>
                <a:xfrm>
                  <a:off x="8553344" y="3706881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30" name="Text 26">
                  <a:extLst>
                    <a:ext uri="{FF2B5EF4-FFF2-40B4-BE49-F238E27FC236}">
                      <a16:creationId xmlns:a16="http://schemas.microsoft.com/office/drawing/2014/main" id="{FC3CC500-D71E-4A6F-A01C-3CB68954BC71}"/>
                    </a:ext>
                  </a:extLst>
                </p:cNvPr>
                <p:cNvSpPr/>
                <p:nvPr/>
              </p:nvSpPr>
              <p:spPr>
                <a:xfrm>
                  <a:off x="8556477" y="3745139"/>
                  <a:ext cx="2194560" cy="3204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</a:rPr>
                    <a:t>추출을 통한 인사이트 제공</a:t>
                  </a:r>
                  <a:endParaRPr lang="en-US" sz="900" dirty="0">
                    <a:solidFill>
                      <a:srgbClr val="64748B"/>
                    </a:solidFill>
                    <a:latin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6E70F467-5D54-4547-A338-11A79F420D6B}"/>
                </a:ext>
              </a:extLst>
            </p:cNvPr>
            <p:cNvSpPr/>
            <p:nvPr/>
          </p:nvSpPr>
          <p:spPr>
            <a:xfrm>
              <a:off x="3200601" y="2558780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D39676B-56D3-4AE7-AB16-DC33F3E7E739}"/>
                </a:ext>
              </a:extLst>
            </p:cNvPr>
            <p:cNvGrpSpPr/>
            <p:nvPr/>
          </p:nvGrpSpPr>
          <p:grpSpPr>
            <a:xfrm>
              <a:off x="8958841" y="1114117"/>
              <a:ext cx="2568153" cy="3079835"/>
              <a:chOff x="8360281" y="1299293"/>
              <a:chExt cx="2568153" cy="3079835"/>
            </a:xfrm>
          </p:grpSpPr>
          <p:sp>
            <p:nvSpPr>
              <p:cNvPr id="52" name="Shape 20">
                <a:extLst>
                  <a:ext uri="{FF2B5EF4-FFF2-40B4-BE49-F238E27FC236}">
                    <a16:creationId xmlns:a16="http://schemas.microsoft.com/office/drawing/2014/main" id="{FCB126F0-DFB2-4423-9291-F64B76581787}"/>
                  </a:ext>
                </a:extLst>
              </p:cNvPr>
              <p:cNvSpPr/>
              <p:nvPr/>
            </p:nvSpPr>
            <p:spPr>
              <a:xfrm>
                <a:off x="8360281" y="1299293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3" name="Shape 21">
                <a:extLst>
                  <a:ext uri="{FF2B5EF4-FFF2-40B4-BE49-F238E27FC236}">
                    <a16:creationId xmlns:a16="http://schemas.microsoft.com/office/drawing/2014/main" id="{2CBACA02-1811-4D7B-AA5E-7BC4FFAE7E22}"/>
                  </a:ext>
                </a:extLst>
              </p:cNvPr>
              <p:cNvSpPr/>
              <p:nvPr/>
            </p:nvSpPr>
            <p:spPr>
              <a:xfrm>
                <a:off x="8368114" y="1299294"/>
                <a:ext cx="2560320" cy="1005840"/>
              </a:xfrm>
              <a:prstGeom prst="rect">
                <a:avLst/>
              </a:prstGeom>
              <a:solidFill>
                <a:srgbClr val="1E4DA0"/>
              </a:solidFill>
              <a:ln w="1270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4" name="Text 22">
                <a:extLst>
                  <a:ext uri="{FF2B5EF4-FFF2-40B4-BE49-F238E27FC236}">
                    <a16:creationId xmlns:a16="http://schemas.microsoft.com/office/drawing/2014/main" id="{13F06192-8FB3-4334-82E3-90B1EC4B20C4}"/>
                  </a:ext>
                </a:extLst>
              </p:cNvPr>
              <p:cNvSpPr/>
              <p:nvPr/>
            </p:nvSpPr>
            <p:spPr>
              <a:xfrm>
                <a:off x="8459554" y="1325394"/>
                <a:ext cx="2377440" cy="30441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kern="0" spc="300" dirty="0">
                    <a:solidFill>
                      <a:srgbClr val="CADCFC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STEP 4</a:t>
                </a:r>
                <a:endParaRPr lang="en-US" sz="10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5" name="Text 23">
                <a:extLst>
                  <a:ext uri="{FF2B5EF4-FFF2-40B4-BE49-F238E27FC236}">
                    <a16:creationId xmlns:a16="http://schemas.microsoft.com/office/drawing/2014/main" id="{78C9736C-3F3D-4E1A-9094-D2E63976E57B}"/>
                  </a:ext>
                </a:extLst>
              </p:cNvPr>
              <p:cNvSpPr/>
              <p:nvPr/>
            </p:nvSpPr>
            <p:spPr>
              <a:xfrm>
                <a:off x="8451721" y="1629805"/>
                <a:ext cx="2377440" cy="44059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ko-KR" altLang="en-US" b="1" dirty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약물 정보 확인</a:t>
                </a:r>
                <a:endParaRPr lang="en-US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 24">
                <a:extLst>
                  <a:ext uri="{FF2B5EF4-FFF2-40B4-BE49-F238E27FC236}">
                    <a16:creationId xmlns:a16="http://schemas.microsoft.com/office/drawing/2014/main" id="{8B427E52-88AC-436F-A674-238ABF886B7E}"/>
                  </a:ext>
                </a:extLst>
              </p:cNvPr>
              <p:cNvSpPr/>
              <p:nvPr/>
            </p:nvSpPr>
            <p:spPr>
              <a:xfrm>
                <a:off x="8505274" y="2488884"/>
                <a:ext cx="2286000" cy="96129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ko-KR" altLang="en-US" sz="1100" dirty="0">
                    <a:latin typeface="맑은 고딕" panose="020B0503020000020004" pitchFamily="50" charset="-127"/>
                  </a:rPr>
                  <a:t>계통</a:t>
                </a:r>
                <a:r>
                  <a:rPr lang="en-US" altLang="ko-KR" sz="11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100" dirty="0">
                    <a:latin typeface="맑은 고딕" panose="020B0503020000020004" pitchFamily="50" charset="-127"/>
                  </a:rPr>
                  <a:t>처방 기간</a:t>
                </a:r>
                <a:r>
                  <a:rPr lang="en-US" altLang="ko-KR" sz="11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100" dirty="0">
                    <a:latin typeface="맑은 고딕" panose="020B0503020000020004" pitchFamily="50" charset="-127"/>
                  </a:rPr>
                  <a:t>용량</a:t>
                </a:r>
                <a:r>
                  <a:rPr lang="en-US" altLang="ko-KR" sz="11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100" dirty="0">
                    <a:latin typeface="맑은 고딕" panose="020B0503020000020004" pitchFamily="50" charset="-127"/>
                  </a:rPr>
                  <a:t>상태 등</a:t>
                </a:r>
                <a:endParaRPr lang="en-US" altLang="ko-KR" sz="1100" dirty="0">
                  <a:latin typeface="맑은 고딕" panose="020B0503020000020004" pitchFamily="50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ko-KR" altLang="en-US" sz="1100" dirty="0">
                    <a:latin typeface="맑은 고딕" panose="020B0503020000020004" pitchFamily="50" charset="-127"/>
                  </a:rPr>
                  <a:t>정보 확인</a:t>
                </a:r>
                <a:r>
                  <a:rPr lang="en-US" altLang="ko-KR" sz="1100" dirty="0">
                    <a:latin typeface="맑은 고딕" panose="020B0503020000020004" pitchFamily="50" charset="-127"/>
                  </a:rPr>
                  <a:t> </a:t>
                </a: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BC31925F-29E0-4C96-9E57-75ED8CA1F780}"/>
                  </a:ext>
                </a:extLst>
              </p:cNvPr>
              <p:cNvGrpSpPr/>
              <p:nvPr/>
            </p:nvGrpSpPr>
            <p:grpSpPr>
              <a:xfrm>
                <a:off x="8543161" y="3680182"/>
                <a:ext cx="2197693" cy="411480"/>
                <a:chOff x="8550994" y="3703977"/>
                <a:chExt cx="2197693" cy="411480"/>
              </a:xfrm>
            </p:grpSpPr>
            <p:sp>
              <p:nvSpPr>
                <p:cNvPr id="58" name="Shape 25">
                  <a:extLst>
                    <a:ext uri="{FF2B5EF4-FFF2-40B4-BE49-F238E27FC236}">
                      <a16:creationId xmlns:a16="http://schemas.microsoft.com/office/drawing/2014/main" id="{3388B81F-75EA-4737-BFA0-EF21669FFC96}"/>
                    </a:ext>
                  </a:extLst>
                </p:cNvPr>
                <p:cNvSpPr/>
                <p:nvPr/>
              </p:nvSpPr>
              <p:spPr>
                <a:xfrm>
                  <a:off x="8550994" y="3703977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59" name="Text 26">
                  <a:extLst>
                    <a:ext uri="{FF2B5EF4-FFF2-40B4-BE49-F238E27FC236}">
                      <a16:creationId xmlns:a16="http://schemas.microsoft.com/office/drawing/2014/main" id="{7CE46781-013C-4A34-BB5D-361B72115FA5}"/>
                    </a:ext>
                  </a:extLst>
                </p:cNvPr>
                <p:cNvSpPr/>
                <p:nvPr/>
              </p:nvSpPr>
              <p:spPr>
                <a:xfrm>
                  <a:off x="8554127" y="3742235"/>
                  <a:ext cx="2194560" cy="3204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주의사항에서 상호작용</a:t>
                  </a:r>
                  <a:r>
                    <a:rPr lang="en-US" altLang="ko-KR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다제약물 확인</a:t>
                  </a:r>
                  <a:endParaRPr lang="en-US" altLang="ko-KR" sz="900" dirty="0">
                    <a:solidFill>
                      <a:srgbClr val="64748B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endParaRPr>
                </a:p>
              </p:txBody>
            </p:sp>
          </p:grpSp>
        </p:grpSp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E0A4AA71-E0B5-4643-8FBA-0F17F8937567}"/>
                </a:ext>
              </a:extLst>
            </p:cNvPr>
            <p:cNvSpPr/>
            <p:nvPr/>
          </p:nvSpPr>
          <p:spPr>
            <a:xfrm>
              <a:off x="5933488" y="2558781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E39B706B-63D0-4141-BFBE-B78C1EAB7586}"/>
                </a:ext>
              </a:extLst>
            </p:cNvPr>
            <p:cNvSpPr/>
            <p:nvPr/>
          </p:nvSpPr>
          <p:spPr>
            <a:xfrm>
              <a:off x="8684995" y="2558780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04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 </a:t>
            </a:r>
            <a:r>
              <a:rPr lang="ko-KR" altLang="en-US" dirty="0" err="1"/>
              <a:t>목업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팝업 창 인터페이스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844D71-B509-415B-BF4E-BF09323E8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79" y="1060016"/>
            <a:ext cx="5051802" cy="4881516"/>
          </a:xfrm>
          <a:prstGeom prst="roundRect">
            <a:avLst>
              <a:gd name="adj" fmla="val 1647"/>
            </a:avLst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5" name="Shape 30">
            <a:extLst>
              <a:ext uri="{FF2B5EF4-FFF2-40B4-BE49-F238E27FC236}">
                <a16:creationId xmlns:a16="http://schemas.microsoft.com/office/drawing/2014/main" id="{94CD0C36-3DCA-4CEE-B718-39BF618A7891}"/>
              </a:ext>
            </a:extLst>
          </p:cNvPr>
          <p:cNvSpPr/>
          <p:nvPr/>
        </p:nvSpPr>
        <p:spPr>
          <a:xfrm>
            <a:off x="6740056" y="1468902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74ABF882-B806-497C-B6ED-B60A41A91E8A}"/>
              </a:ext>
            </a:extLst>
          </p:cNvPr>
          <p:cNvSpPr/>
          <p:nvPr/>
        </p:nvSpPr>
        <p:spPr>
          <a:xfrm>
            <a:off x="6840640" y="1513858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07135F4E-5935-46E5-AE80-1076D1961265}"/>
              </a:ext>
            </a:extLst>
          </p:cNvPr>
          <p:cNvSpPr/>
          <p:nvPr/>
        </p:nvSpPr>
        <p:spPr>
          <a:xfrm>
            <a:off x="7142392" y="1333747"/>
            <a:ext cx="1925407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①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환자 정보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8" name="Text 33">
            <a:extLst>
              <a:ext uri="{FF2B5EF4-FFF2-40B4-BE49-F238E27FC236}">
                <a16:creationId xmlns:a16="http://schemas.microsoft.com/office/drawing/2014/main" id="{45EB1B89-90B0-4368-A5A9-E3484FC2FB73}"/>
              </a:ext>
            </a:extLst>
          </p:cNvPr>
          <p:cNvSpPr/>
          <p:nvPr/>
        </p:nvSpPr>
        <p:spPr>
          <a:xfrm>
            <a:off x="7142393" y="1592244"/>
            <a:ext cx="3967480" cy="33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내원한 환자 정보 및 </a:t>
            </a:r>
            <a:r>
              <a:rPr lang="ko-KR" altLang="en-US" sz="1200" dirty="0" err="1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주증상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및 진단명 표시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3" name="Shape 38">
            <a:extLst>
              <a:ext uri="{FF2B5EF4-FFF2-40B4-BE49-F238E27FC236}">
                <a16:creationId xmlns:a16="http://schemas.microsoft.com/office/drawing/2014/main" id="{1D8A9A12-9305-43BA-9264-AF9A64B1F0CD}"/>
              </a:ext>
            </a:extLst>
          </p:cNvPr>
          <p:cNvSpPr/>
          <p:nvPr/>
        </p:nvSpPr>
        <p:spPr>
          <a:xfrm>
            <a:off x="6784758" y="2582832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Shape 39">
            <a:extLst>
              <a:ext uri="{FF2B5EF4-FFF2-40B4-BE49-F238E27FC236}">
                <a16:creationId xmlns:a16="http://schemas.microsoft.com/office/drawing/2014/main" id="{DDC9B6BA-254E-4411-813F-EC42155CF743}"/>
              </a:ext>
            </a:extLst>
          </p:cNvPr>
          <p:cNvSpPr/>
          <p:nvPr/>
        </p:nvSpPr>
        <p:spPr>
          <a:xfrm>
            <a:off x="6885342" y="2627788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40">
            <a:extLst>
              <a:ext uri="{FF2B5EF4-FFF2-40B4-BE49-F238E27FC236}">
                <a16:creationId xmlns:a16="http://schemas.microsoft.com/office/drawing/2014/main" id="{23AB6AE5-F1B2-4389-BF29-B189194A1D00}"/>
              </a:ext>
            </a:extLst>
          </p:cNvPr>
          <p:cNvSpPr/>
          <p:nvPr/>
        </p:nvSpPr>
        <p:spPr>
          <a:xfrm>
            <a:off x="7164741" y="2414247"/>
            <a:ext cx="2337567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dirty="0">
                <a:solidFill>
                  <a:srgbClr val="0D2D6B"/>
                </a:solidFill>
                <a:latin typeface="맑은 고딕" panose="020B0503020000020004" pitchFamily="50" charset="-127"/>
                <a:cs typeface="Calibri" pitchFamily="34" charset="-120"/>
              </a:rPr>
              <a:t>②</a:t>
            </a: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유사 증상 처방 이력 조회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6" name="Text 41">
            <a:extLst>
              <a:ext uri="{FF2B5EF4-FFF2-40B4-BE49-F238E27FC236}">
                <a16:creationId xmlns:a16="http://schemas.microsoft.com/office/drawing/2014/main" id="{C2AD93EF-A5D9-44CD-93FC-BDEE394285E0}"/>
              </a:ext>
            </a:extLst>
          </p:cNvPr>
          <p:cNvSpPr/>
          <p:nvPr/>
        </p:nvSpPr>
        <p:spPr>
          <a:xfrm>
            <a:off x="7164741" y="2703330"/>
            <a:ext cx="3967480" cy="33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기간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및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진료과로 필터링해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과거 처방 이력 확인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7" name="Shape 42">
            <a:extLst>
              <a:ext uri="{FF2B5EF4-FFF2-40B4-BE49-F238E27FC236}">
                <a16:creationId xmlns:a16="http://schemas.microsoft.com/office/drawing/2014/main" id="{451F1A08-8E41-4D06-9DCA-12B47253E820}"/>
              </a:ext>
            </a:extLst>
          </p:cNvPr>
          <p:cNvSpPr/>
          <p:nvPr/>
        </p:nvSpPr>
        <p:spPr>
          <a:xfrm>
            <a:off x="6762408" y="3361429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Shape 43">
            <a:extLst>
              <a:ext uri="{FF2B5EF4-FFF2-40B4-BE49-F238E27FC236}">
                <a16:creationId xmlns:a16="http://schemas.microsoft.com/office/drawing/2014/main" id="{1E059888-4F11-42FA-995A-E83B2656A94B}"/>
              </a:ext>
            </a:extLst>
          </p:cNvPr>
          <p:cNvSpPr/>
          <p:nvPr/>
        </p:nvSpPr>
        <p:spPr>
          <a:xfrm>
            <a:off x="6862992" y="3406382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44">
            <a:extLst>
              <a:ext uri="{FF2B5EF4-FFF2-40B4-BE49-F238E27FC236}">
                <a16:creationId xmlns:a16="http://schemas.microsoft.com/office/drawing/2014/main" id="{7E91FBAA-2CF3-4F91-AB5A-29C9E21E6A78}"/>
              </a:ext>
            </a:extLst>
          </p:cNvPr>
          <p:cNvSpPr/>
          <p:nvPr/>
        </p:nvSpPr>
        <p:spPr>
          <a:xfrm>
            <a:off x="7153567" y="3200427"/>
            <a:ext cx="1575566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dirty="0">
                <a:solidFill>
                  <a:srgbClr val="0D2D6B"/>
                </a:solidFill>
                <a:latin typeface="맑은 고딕" panose="020B0503020000020004" pitchFamily="50" charset="-127"/>
                <a:cs typeface="Calibri" pitchFamily="34" charset="-120"/>
              </a:rPr>
              <a:t>③</a:t>
            </a: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처방 이력 확인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20" name="Text 45">
            <a:extLst>
              <a:ext uri="{FF2B5EF4-FFF2-40B4-BE49-F238E27FC236}">
                <a16:creationId xmlns:a16="http://schemas.microsoft.com/office/drawing/2014/main" id="{9503F9B2-72DF-4232-815D-7B523D73D0F7}"/>
              </a:ext>
            </a:extLst>
          </p:cNvPr>
          <p:cNvSpPr/>
          <p:nvPr/>
        </p:nvSpPr>
        <p:spPr>
          <a:xfrm>
            <a:off x="7164742" y="3481402"/>
            <a:ext cx="3367791" cy="337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약품명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용량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용법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처방기간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계통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상태 표시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58B456-4A02-411D-B9EC-AD3C9A91E2D5}"/>
              </a:ext>
            </a:extLst>
          </p:cNvPr>
          <p:cNvSpPr txBox="1"/>
          <p:nvPr/>
        </p:nvSpPr>
        <p:spPr>
          <a:xfrm>
            <a:off x="9674700" y="421399"/>
            <a:ext cx="2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*</a:t>
            </a:r>
            <a:r>
              <a:rPr lang="ko-KR" altLang="en-US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처장님 내용 검토 필요</a:t>
            </a:r>
          </a:p>
        </p:txBody>
      </p:sp>
      <p:sp>
        <p:nvSpPr>
          <p:cNvPr id="34" name="Shape 42">
            <a:extLst>
              <a:ext uri="{FF2B5EF4-FFF2-40B4-BE49-F238E27FC236}">
                <a16:creationId xmlns:a16="http://schemas.microsoft.com/office/drawing/2014/main" id="{27EA0142-7BBC-4421-85F0-F9495D37A22B}"/>
              </a:ext>
            </a:extLst>
          </p:cNvPr>
          <p:cNvSpPr/>
          <p:nvPr/>
        </p:nvSpPr>
        <p:spPr>
          <a:xfrm>
            <a:off x="6736581" y="4272291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5" name="Shape 43">
            <a:extLst>
              <a:ext uri="{FF2B5EF4-FFF2-40B4-BE49-F238E27FC236}">
                <a16:creationId xmlns:a16="http://schemas.microsoft.com/office/drawing/2014/main" id="{0E7178A7-D00E-4C21-9389-DA5A5155B9E7}"/>
              </a:ext>
            </a:extLst>
          </p:cNvPr>
          <p:cNvSpPr/>
          <p:nvPr/>
        </p:nvSpPr>
        <p:spPr>
          <a:xfrm>
            <a:off x="6837165" y="4317244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6" name="Text 44">
            <a:extLst>
              <a:ext uri="{FF2B5EF4-FFF2-40B4-BE49-F238E27FC236}">
                <a16:creationId xmlns:a16="http://schemas.microsoft.com/office/drawing/2014/main" id="{FAFAC258-152C-49EA-9320-340C714CAEED}"/>
              </a:ext>
            </a:extLst>
          </p:cNvPr>
          <p:cNvSpPr/>
          <p:nvPr/>
        </p:nvSpPr>
        <p:spPr>
          <a:xfrm>
            <a:off x="7164741" y="4099548"/>
            <a:ext cx="1575566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dirty="0">
                <a:solidFill>
                  <a:srgbClr val="0D2D6B"/>
                </a:solidFill>
                <a:latin typeface="맑은 고딕" panose="020B0503020000020004" pitchFamily="50" charset="-127"/>
                <a:cs typeface="Calibri" pitchFamily="34" charset="-120"/>
              </a:rPr>
              <a:t>④</a:t>
            </a: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주의사항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37" name="Text 45">
            <a:extLst>
              <a:ext uri="{FF2B5EF4-FFF2-40B4-BE49-F238E27FC236}">
                <a16:creationId xmlns:a16="http://schemas.microsoft.com/office/drawing/2014/main" id="{1C5B4896-03A7-48F4-A888-8E1618DCB570}"/>
              </a:ext>
            </a:extLst>
          </p:cNvPr>
          <p:cNvSpPr/>
          <p:nvPr/>
        </p:nvSpPr>
        <p:spPr>
          <a:xfrm>
            <a:off x="7164741" y="4384681"/>
            <a:ext cx="3833885" cy="337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약물 간 상호작용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다제약물 관련 주의할 점 표시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6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 </a:t>
            </a:r>
            <a:r>
              <a:rPr lang="ko-KR" altLang="en-US" dirty="0" err="1"/>
              <a:t>목업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팝업 창 인터페이스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844D71-B509-415B-BF4E-BF09323E8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016" y="1531766"/>
            <a:ext cx="5750049" cy="3575771"/>
          </a:xfrm>
          <a:prstGeom prst="roundRect">
            <a:avLst>
              <a:gd name="adj" fmla="val 2038"/>
            </a:avLst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21" name="Shape 46">
            <a:extLst>
              <a:ext uri="{FF2B5EF4-FFF2-40B4-BE49-F238E27FC236}">
                <a16:creationId xmlns:a16="http://schemas.microsoft.com/office/drawing/2014/main" id="{718E62E8-6434-4180-9586-2E82CB300520}"/>
              </a:ext>
            </a:extLst>
          </p:cNvPr>
          <p:cNvSpPr/>
          <p:nvPr/>
        </p:nvSpPr>
        <p:spPr>
          <a:xfrm>
            <a:off x="6756059" y="1800764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Shape 47">
            <a:extLst>
              <a:ext uri="{FF2B5EF4-FFF2-40B4-BE49-F238E27FC236}">
                <a16:creationId xmlns:a16="http://schemas.microsoft.com/office/drawing/2014/main" id="{8A5F473C-3E2A-4EC2-9726-E4D9F385040A}"/>
              </a:ext>
            </a:extLst>
          </p:cNvPr>
          <p:cNvSpPr/>
          <p:nvPr/>
        </p:nvSpPr>
        <p:spPr>
          <a:xfrm>
            <a:off x="6856643" y="1845720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48">
            <a:extLst>
              <a:ext uri="{FF2B5EF4-FFF2-40B4-BE49-F238E27FC236}">
                <a16:creationId xmlns:a16="http://schemas.microsoft.com/office/drawing/2014/main" id="{C984B889-68A4-4961-AFDC-BA54B48CA10D}"/>
              </a:ext>
            </a:extLst>
          </p:cNvPr>
          <p:cNvSpPr/>
          <p:nvPr/>
        </p:nvSpPr>
        <p:spPr>
          <a:xfrm>
            <a:off x="7136042" y="1715987"/>
            <a:ext cx="1524765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⑤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약물 상호작용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24" name="Text 49">
            <a:extLst>
              <a:ext uri="{FF2B5EF4-FFF2-40B4-BE49-F238E27FC236}">
                <a16:creationId xmlns:a16="http://schemas.microsoft.com/office/drawing/2014/main" id="{24ABE5F4-CFDC-4664-B4BA-25AB91554355}"/>
              </a:ext>
            </a:extLst>
          </p:cNvPr>
          <p:cNvSpPr/>
          <p:nvPr/>
        </p:nvSpPr>
        <p:spPr>
          <a:xfrm>
            <a:off x="7136043" y="1974484"/>
            <a:ext cx="3967480" cy="33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주의가 필요한 상호작용 분석 후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경고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29" name="Shape 46">
            <a:extLst>
              <a:ext uri="{FF2B5EF4-FFF2-40B4-BE49-F238E27FC236}">
                <a16:creationId xmlns:a16="http://schemas.microsoft.com/office/drawing/2014/main" id="{82435918-1E5C-4DA8-BA47-F3F523798F0B}"/>
              </a:ext>
            </a:extLst>
          </p:cNvPr>
          <p:cNvSpPr/>
          <p:nvPr/>
        </p:nvSpPr>
        <p:spPr>
          <a:xfrm>
            <a:off x="6744884" y="3114244"/>
            <a:ext cx="111760" cy="112390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Shape 47">
            <a:extLst>
              <a:ext uri="{FF2B5EF4-FFF2-40B4-BE49-F238E27FC236}">
                <a16:creationId xmlns:a16="http://schemas.microsoft.com/office/drawing/2014/main" id="{369F9DED-A6A6-4804-AD8D-7A4FA1BE572B}"/>
              </a:ext>
            </a:extLst>
          </p:cNvPr>
          <p:cNvSpPr/>
          <p:nvPr/>
        </p:nvSpPr>
        <p:spPr>
          <a:xfrm>
            <a:off x="6856643" y="3159006"/>
            <a:ext cx="279400" cy="2247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48">
            <a:extLst>
              <a:ext uri="{FF2B5EF4-FFF2-40B4-BE49-F238E27FC236}">
                <a16:creationId xmlns:a16="http://schemas.microsoft.com/office/drawing/2014/main" id="{5ECF8657-6912-4D8E-9759-14E63891101C}"/>
              </a:ext>
            </a:extLst>
          </p:cNvPr>
          <p:cNvSpPr/>
          <p:nvPr/>
        </p:nvSpPr>
        <p:spPr>
          <a:xfrm>
            <a:off x="7136042" y="3006989"/>
            <a:ext cx="1773008" cy="2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⑥ </a:t>
            </a:r>
            <a:r>
              <a:rPr lang="ko-KR" altLang="en-US" sz="1200" b="1" dirty="0">
                <a:solidFill>
                  <a:srgbClr val="0D2D6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다제약물 주의사항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32" name="Text 49">
            <a:extLst>
              <a:ext uri="{FF2B5EF4-FFF2-40B4-BE49-F238E27FC236}">
                <a16:creationId xmlns:a16="http://schemas.microsoft.com/office/drawing/2014/main" id="{0B6DEEB5-091F-44FB-8D6C-9B948F734E32}"/>
              </a:ext>
            </a:extLst>
          </p:cNvPr>
          <p:cNvSpPr/>
          <p:nvPr/>
        </p:nvSpPr>
        <p:spPr>
          <a:xfrm>
            <a:off x="7136043" y="3265292"/>
            <a:ext cx="3967480" cy="33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종합적으로 처방 내역 확인 후</a:t>
            </a:r>
            <a:r>
              <a:rPr lang="en-US" altLang="ko-KR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주의사항 표시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58B456-4A02-411D-B9EC-AD3C9A91E2D5}"/>
              </a:ext>
            </a:extLst>
          </p:cNvPr>
          <p:cNvSpPr txBox="1"/>
          <p:nvPr/>
        </p:nvSpPr>
        <p:spPr>
          <a:xfrm>
            <a:off x="9674700" y="421399"/>
            <a:ext cx="2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*</a:t>
            </a:r>
            <a:r>
              <a:rPr lang="ko-KR" altLang="en-US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처장님 내용 검토 필요</a:t>
            </a:r>
          </a:p>
        </p:txBody>
      </p:sp>
    </p:spTree>
    <p:extLst>
      <p:ext uri="{BB962C8B-B14F-4D97-AF65-F5344CB8AC3E}">
        <p14:creationId xmlns:p14="http://schemas.microsoft.com/office/powerpoint/2010/main" val="226985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FBF9-006B-48F2-B15C-3315057EC073}"/>
              </a:ext>
            </a:extLst>
          </p:cNvPr>
          <p:cNvSpPr txBox="1"/>
          <p:nvPr/>
        </p:nvSpPr>
        <p:spPr>
          <a:xfrm>
            <a:off x="4893490" y="2828836"/>
            <a:ext cx="23986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E.O.D</a:t>
            </a:r>
          </a:p>
        </p:txBody>
      </p:sp>
    </p:spTree>
    <p:extLst>
      <p:ext uri="{BB962C8B-B14F-4D97-AF65-F5344CB8AC3E}">
        <p14:creationId xmlns:p14="http://schemas.microsoft.com/office/powerpoint/2010/main" val="348093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226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Wingdings</vt:lpstr>
      <vt:lpstr>Office 테마</vt:lpstr>
      <vt:lpstr>[Kiro] 약 처방 지원 시스템</vt:lpstr>
      <vt:lpstr>사용 프로세스</vt:lpstr>
      <vt:lpstr>UI 목업 – 팝업 창 인터페이스 (1)</vt:lpstr>
      <vt:lpstr>UI 목업 – 팝업 창 인터페이스 (2)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장선경(광명,기획팀)</dc:creator>
  <cp:lastModifiedBy>장유현(서울,디지털전략팀)</cp:lastModifiedBy>
  <cp:revision>44</cp:revision>
  <cp:lastPrinted>2026-03-27T00:54:14Z</cp:lastPrinted>
  <dcterms:created xsi:type="dcterms:W3CDTF">2025-10-10T00:44:40Z</dcterms:created>
  <dcterms:modified xsi:type="dcterms:W3CDTF">2026-04-02T06:29:54Z</dcterms:modified>
</cp:coreProperties>
</file>