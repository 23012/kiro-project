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  <p:sldId id="259" r:id="rId3"/>
    <p:sldId id="268" r:id="rId4"/>
    <p:sldId id="267" r:id="rId5"/>
    <p:sldId id="269" r:id="rId6"/>
    <p:sldId id="266" r:id="rId7"/>
  </p:sldIdLst>
  <p:sldSz cx="12192000" cy="6858000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F9F27"/>
    <a:srgbClr val="1E4DA0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06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396" y="10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3" d="100"/>
          <a:sy n="83" d="100"/>
        </p:scale>
        <p:origin x="3852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슬라이드 표지_주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EE74DE5B-A3B0-47B4-A809-8188860727C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32379"/>
          <a:stretch/>
        </p:blipFill>
        <p:spPr>
          <a:xfrm>
            <a:off x="5241294" y="0"/>
            <a:ext cx="6950706" cy="6858000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D38063DA-051E-44BB-A601-7A449BDD377B}"/>
              </a:ext>
            </a:extLst>
          </p:cNvPr>
          <p:cNvGrpSpPr/>
          <p:nvPr userDrawn="1"/>
        </p:nvGrpSpPr>
        <p:grpSpPr>
          <a:xfrm>
            <a:off x="-8709" y="-9526"/>
            <a:ext cx="6962788" cy="6867526"/>
            <a:chOff x="-8709" y="-9526"/>
            <a:chExt cx="6962788" cy="6867526"/>
          </a:xfrm>
        </p:grpSpPr>
        <p:sp>
          <p:nvSpPr>
            <p:cNvPr id="8" name="순서도: 수동 입력 7">
              <a:extLst>
                <a:ext uri="{FF2B5EF4-FFF2-40B4-BE49-F238E27FC236}">
                  <a16:creationId xmlns:a16="http://schemas.microsoft.com/office/drawing/2014/main" id="{67FEC675-B343-4435-96B8-7D6E2F5F09C3}"/>
                </a:ext>
              </a:extLst>
            </p:cNvPr>
            <p:cNvSpPr/>
            <p:nvPr/>
          </p:nvSpPr>
          <p:spPr>
            <a:xfrm rot="5400000">
              <a:off x="38922" y="-57157"/>
              <a:ext cx="6867526" cy="6962788"/>
            </a:xfrm>
            <a:prstGeom prst="flowChartManualInput">
              <a:avLst/>
            </a:prstGeom>
            <a:solidFill>
              <a:schemeClr val="bg1"/>
            </a:solidFill>
            <a:ln>
              <a:noFill/>
            </a:ln>
            <a:effectLst>
              <a:softEdge rad="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787EA72F-D235-445C-8836-4604979E716F}"/>
                </a:ext>
              </a:extLst>
            </p:cNvPr>
            <p:cNvSpPr/>
            <p:nvPr/>
          </p:nvSpPr>
          <p:spPr>
            <a:xfrm>
              <a:off x="-8709" y="-9526"/>
              <a:ext cx="61200" cy="6867524"/>
            </a:xfrm>
            <a:prstGeom prst="rect">
              <a:avLst/>
            </a:prstGeom>
            <a:solidFill>
              <a:srgbClr val="00206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E7760A68-F316-4E60-B4E8-32797E5D4BED}"/>
              </a:ext>
            </a:extLst>
          </p:cNvPr>
          <p:cNvCxnSpPr>
            <a:cxnSpLocks/>
          </p:cNvCxnSpPr>
          <p:nvPr userDrawn="1"/>
        </p:nvCxnSpPr>
        <p:spPr>
          <a:xfrm>
            <a:off x="367350" y="2821271"/>
            <a:ext cx="4387530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제목 16">
            <a:extLst>
              <a:ext uri="{FF2B5EF4-FFF2-40B4-BE49-F238E27FC236}">
                <a16:creationId xmlns:a16="http://schemas.microsoft.com/office/drawing/2014/main" id="{38D61FDF-B1F8-4860-A437-A2012E7497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4726" y="2227821"/>
            <a:ext cx="5144588" cy="575400"/>
          </a:xfrm>
        </p:spPr>
        <p:txBody>
          <a:bodyPr>
            <a:normAutofit/>
          </a:bodyPr>
          <a:lstStyle>
            <a:lvl1pPr>
              <a:defRPr lang="ko-KR" altLang="en-US" sz="3500" b="1" kern="1200" smtClean="0">
                <a:solidFill>
                  <a:srgbClr val="00206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4" name="텍스트 개체 틀 23">
            <a:extLst>
              <a:ext uri="{FF2B5EF4-FFF2-40B4-BE49-F238E27FC236}">
                <a16:creationId xmlns:a16="http://schemas.microsoft.com/office/drawing/2014/main" id="{9DDDD017-BF90-4252-AFF6-12CB00E5FE4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89562" y="2856740"/>
            <a:ext cx="2743200" cy="363600"/>
          </a:xfrm>
        </p:spPr>
        <p:txBody>
          <a:bodyPr>
            <a:noAutofit/>
          </a:bodyPr>
          <a:lstStyle>
            <a:lvl1pPr marL="0" indent="0">
              <a:buNone/>
              <a:defRPr lang="ko-KR" altLang="en-US" sz="2000" b="1" kern="1200" smtClean="0">
                <a:solidFill>
                  <a:srgbClr val="00206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lvl="0"/>
            <a:r>
              <a:rPr lang="ko-KR" altLang="en-US" dirty="0"/>
              <a:t>부제목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22B75A64-A609-4B6A-90C4-9D7B6539628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371123" y="6230325"/>
            <a:ext cx="1965600" cy="436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68889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_중제목 슬라이드(blu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36493F4B-C159-4141-9534-ADE376BE982B}"/>
              </a:ext>
            </a:extLst>
          </p:cNvPr>
          <p:cNvSpPr/>
          <p:nvPr userDrawn="1"/>
        </p:nvSpPr>
        <p:spPr>
          <a:xfrm>
            <a:off x="261276" y="211986"/>
            <a:ext cx="11661632" cy="641656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635" tIns="45318" rIns="90635" bIns="45318" rtlCol="0" anchor="ctr"/>
          <a:lstStyle/>
          <a:p>
            <a:pPr algn="ctr"/>
            <a:endParaRPr lang="ko-KR" altLang="en-US" sz="1662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B181CAFF-A409-416B-B8A7-0AB2F9A099E3}"/>
              </a:ext>
            </a:extLst>
          </p:cNvPr>
          <p:cNvCxnSpPr>
            <a:cxnSpLocks/>
          </p:cNvCxnSpPr>
          <p:nvPr userDrawn="1"/>
        </p:nvCxnSpPr>
        <p:spPr>
          <a:xfrm>
            <a:off x="4068175" y="4255229"/>
            <a:ext cx="4047835" cy="0"/>
          </a:xfrm>
          <a:prstGeom prst="line">
            <a:avLst/>
          </a:prstGeom>
          <a:ln w="285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81916CB2-620C-425E-A4E6-A6DC7CF4E692}"/>
              </a:ext>
            </a:extLst>
          </p:cNvPr>
          <p:cNvCxnSpPr>
            <a:cxnSpLocks/>
          </p:cNvCxnSpPr>
          <p:nvPr userDrawn="1"/>
        </p:nvCxnSpPr>
        <p:spPr>
          <a:xfrm>
            <a:off x="4068175" y="2667386"/>
            <a:ext cx="4047835" cy="0"/>
          </a:xfrm>
          <a:prstGeom prst="line">
            <a:avLst/>
          </a:prstGeom>
          <a:ln w="285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제목 1">
            <a:extLst>
              <a:ext uri="{FF2B5EF4-FFF2-40B4-BE49-F238E27FC236}">
                <a16:creationId xmlns:a16="http://schemas.microsoft.com/office/drawing/2014/main" id="{885A6367-6F87-414F-A524-A3ABFA8645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94800" y="3004108"/>
            <a:ext cx="6602400" cy="914400"/>
          </a:xfrm>
        </p:spPr>
        <p:txBody>
          <a:bodyPr>
            <a:normAutofit/>
          </a:bodyPr>
          <a:lstStyle>
            <a:lvl1pPr algn="ctr">
              <a:defRPr lang="ko-KR" altLang="en-US" sz="3500" b="1" kern="1200">
                <a:solidFill>
                  <a:srgbClr val="00206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</a:lstStyle>
          <a:p>
            <a:r>
              <a:rPr lang="ko-KR" altLang="en-US" dirty="0" err="1"/>
              <a:t>중제목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DAF7561-BC9A-49E5-A970-D5B837B9BE1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28467" y="6105276"/>
            <a:ext cx="1965600" cy="436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99971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본문_제목 및 내용(blu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7CDE53-FE9C-469B-A2CF-3A1F78E441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7567" y="234250"/>
            <a:ext cx="11336866" cy="532342"/>
          </a:xfrm>
        </p:spPr>
        <p:txBody>
          <a:bodyPr>
            <a:normAutofit/>
          </a:bodyPr>
          <a:lstStyle>
            <a:lvl1pPr>
              <a:defRPr sz="2500" b="1">
                <a:solidFill>
                  <a:srgbClr val="002060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FD93BE8-9BBD-47FE-A512-CED833E0130B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27567" y="836740"/>
            <a:ext cx="11336866" cy="5427630"/>
          </a:xfrm>
        </p:spPr>
        <p:txBody>
          <a:bodyPr>
            <a:normAutofit/>
          </a:bodyPr>
          <a:lstStyle>
            <a:lvl1pPr marL="177800" indent="-177800">
              <a:lnSpc>
                <a:spcPct val="150000"/>
              </a:lnSpc>
              <a:spcBef>
                <a:spcPts val="0"/>
              </a:spcBef>
              <a:buFont typeface="Wingdings" panose="05000000000000000000" pitchFamily="2" charset="2"/>
              <a:buChar char=""/>
              <a:defRPr sz="1500" b="1">
                <a:solidFill>
                  <a:srgbClr val="002060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44500" indent="-173038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1400">
                <a:solidFill>
                  <a:srgbClr val="002060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444500" indent="-87313">
              <a:lnSpc>
                <a:spcPct val="150000"/>
              </a:lnSpc>
              <a:spcBef>
                <a:spcPts val="0"/>
              </a:spcBef>
              <a:buFont typeface="맑은 고딕" panose="020B0503020000020004" pitchFamily="50" charset="-127"/>
              <a:buChar char="–"/>
              <a:defRPr sz="1200">
                <a:solidFill>
                  <a:srgbClr val="002060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442913" indent="96838">
              <a:lnSpc>
                <a:spcPct val="150000"/>
              </a:lnSpc>
              <a:spcBef>
                <a:spcPts val="0"/>
              </a:spcBef>
              <a:buFont typeface="Wingdings" panose="05000000000000000000" pitchFamily="2" charset="2"/>
              <a:buChar char="ü"/>
              <a:defRPr sz="1200">
                <a:solidFill>
                  <a:srgbClr val="002060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lnSpc>
                <a:spcPct val="150000"/>
              </a:lnSpc>
              <a:defRPr sz="1500"/>
            </a:lvl5pPr>
          </a:lstStyle>
          <a:p>
            <a:pPr lvl="0"/>
            <a:r>
              <a:rPr lang="ko-KR" altLang="en-US" dirty="0"/>
              <a:t> 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 셋째 수준</a:t>
            </a:r>
          </a:p>
          <a:p>
            <a:pPr lvl="3"/>
            <a:r>
              <a:rPr lang="ko-KR" altLang="en-US" dirty="0"/>
              <a:t> 넷째 수준</a:t>
            </a:r>
            <a:endParaRPr lang="en-US" altLang="ko-KR" dirty="0"/>
          </a:p>
          <a:p>
            <a:pPr lvl="3"/>
            <a:endParaRPr lang="ko-KR" altLang="en-US" dirty="0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CE26AE84-7895-426D-88DA-D81DC5E064C5}"/>
              </a:ext>
            </a:extLst>
          </p:cNvPr>
          <p:cNvCxnSpPr/>
          <p:nvPr userDrawn="1"/>
        </p:nvCxnSpPr>
        <p:spPr>
          <a:xfrm>
            <a:off x="397934" y="802874"/>
            <a:ext cx="11396133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4E2F5D2D-3058-4F5C-AE11-6EBDA3174E93}"/>
              </a:ext>
            </a:extLst>
          </p:cNvPr>
          <p:cNvCxnSpPr/>
          <p:nvPr userDrawn="1"/>
        </p:nvCxnSpPr>
        <p:spPr>
          <a:xfrm>
            <a:off x="397934" y="6300654"/>
            <a:ext cx="11396133" cy="0"/>
          </a:xfrm>
          <a:prstGeom prst="line">
            <a:avLst/>
          </a:prstGeom>
          <a:ln w="1905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슬라이드 번호 개체 틀 5">
            <a:extLst>
              <a:ext uri="{FF2B5EF4-FFF2-40B4-BE49-F238E27FC236}">
                <a16:creationId xmlns:a16="http://schemas.microsoft.com/office/drawing/2014/main" id="{4763E3FC-B538-482E-A1A1-EE6C0907D8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27567" y="6444574"/>
            <a:ext cx="499535" cy="262791"/>
          </a:xfrm>
        </p:spPr>
        <p:txBody>
          <a:bodyPr/>
          <a:lstStyle>
            <a:lvl1pPr algn="l">
              <a:defRPr sz="1000"/>
            </a:lvl1pPr>
          </a:lstStyle>
          <a:p>
            <a:fld id="{18E65F12-5BB2-440B-A9D8-754C6FC21897}" type="slidenum">
              <a:rPr lang="ko-KR" altLang="en-US" smtClean="0"/>
              <a:pPr/>
              <a:t>‹#›</a:t>
            </a:fld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1A325468-6F59-4715-A951-B2909C862B1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28467" y="6357824"/>
            <a:ext cx="1965600" cy="436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32831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EOD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CC1547F6-3F68-4975-A555-DDF1AFFD46F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500"/>
            <a:ext cx="12184183" cy="6839536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1463" y="946232"/>
            <a:ext cx="1109075" cy="6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85291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3A2C14E-9CE9-434B-A7E5-1E1D60B3AF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485418B-1E17-4959-87F3-3D4A606FB2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7EAD60-D987-448C-BFE5-325EC38E8F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3AF05884-44D9-46F9-9718-DBF071077312}" type="datetimeFigureOut">
              <a:rPr lang="ko-KR" altLang="en-US" smtClean="0"/>
              <a:pPr/>
              <a:t>2026-03-31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63B9C93-67E2-4C91-B003-601D033A64F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90FBE6F-F576-49EF-B3E1-4C70B59B1C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8526F26-98F8-407A-B7D1-9E0D1BC3207E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794571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65" r:id="rId2"/>
    <p:sldLayoutId id="2147483666" r:id="rId3"/>
    <p:sldLayoutId id="2147483671" r:id="rId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D90563-2070-4DB9-802E-8BB636D570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993" y="1937909"/>
            <a:ext cx="5582274" cy="873026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altLang="ko-KR" dirty="0"/>
              <a:t>[</a:t>
            </a:r>
            <a:r>
              <a:rPr lang="en-US" altLang="ko-KR" dirty="0" err="1"/>
              <a:t>Kiro</a:t>
            </a:r>
            <a:r>
              <a:rPr lang="en-US" altLang="ko-KR" dirty="0"/>
              <a:t>] </a:t>
            </a:r>
            <a:r>
              <a:rPr lang="ko-KR" altLang="en-US" dirty="0"/>
              <a:t>약 처방 지원 시스템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3827B8F-06ED-46CF-80E5-8EF5F101E81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20593" y="2997666"/>
            <a:ext cx="2743200" cy="363600"/>
          </a:xfrm>
        </p:spPr>
        <p:txBody>
          <a:bodyPr/>
          <a:lstStyle/>
          <a:p>
            <a:r>
              <a:rPr lang="ko-KR" altLang="en-US" dirty="0"/>
              <a:t>디지털전략팀 장유현</a:t>
            </a:r>
          </a:p>
        </p:txBody>
      </p:sp>
    </p:spTree>
    <p:extLst>
      <p:ext uri="{BB962C8B-B14F-4D97-AF65-F5344CB8AC3E}">
        <p14:creationId xmlns:p14="http://schemas.microsoft.com/office/powerpoint/2010/main" val="10648622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A3E4DE-348D-469C-BCC6-9AD471D21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사용 프로세스</a:t>
            </a:r>
          </a:p>
        </p:txBody>
      </p: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AF036371-B589-4584-8A58-C62F288A6BE5}"/>
              </a:ext>
            </a:extLst>
          </p:cNvPr>
          <p:cNvGrpSpPr/>
          <p:nvPr/>
        </p:nvGrpSpPr>
        <p:grpSpPr>
          <a:xfrm>
            <a:off x="685218" y="4540343"/>
            <a:ext cx="10805898" cy="1500357"/>
            <a:chOff x="1089404" y="4566241"/>
            <a:chExt cx="9961759" cy="1500357"/>
          </a:xfrm>
        </p:grpSpPr>
        <p:sp>
          <p:nvSpPr>
            <p:cNvPr id="42" name="Shape 11">
              <a:extLst>
                <a:ext uri="{FF2B5EF4-FFF2-40B4-BE49-F238E27FC236}">
                  <a16:creationId xmlns:a16="http://schemas.microsoft.com/office/drawing/2014/main" id="{73A55085-0332-43C9-9E24-360ED2D0288E}"/>
                </a:ext>
              </a:extLst>
            </p:cNvPr>
            <p:cNvSpPr/>
            <p:nvPr/>
          </p:nvSpPr>
          <p:spPr>
            <a:xfrm>
              <a:off x="1089405" y="4983433"/>
              <a:ext cx="9961758" cy="1083165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8EFF8"/>
              </a:solidFill>
              <a:prstDash val="solid"/>
            </a:ln>
          </p:spPr>
          <p:txBody>
            <a:bodyPr/>
            <a:lstStyle/>
            <a:p>
              <a:endPara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39D6D3BC-7373-491D-B53C-049101CB02E8}"/>
                </a:ext>
              </a:extLst>
            </p:cNvPr>
            <p:cNvGrpSpPr/>
            <p:nvPr/>
          </p:nvGrpSpPr>
          <p:grpSpPr>
            <a:xfrm>
              <a:off x="1089404" y="4566241"/>
              <a:ext cx="8921954" cy="1263516"/>
              <a:chOff x="1089404" y="4566241"/>
              <a:chExt cx="8921954" cy="1263516"/>
            </a:xfrm>
          </p:grpSpPr>
          <p:sp>
            <p:nvSpPr>
              <p:cNvPr id="44" name="Text 13">
                <a:extLst>
                  <a:ext uri="{FF2B5EF4-FFF2-40B4-BE49-F238E27FC236}">
                    <a16:creationId xmlns:a16="http://schemas.microsoft.com/office/drawing/2014/main" id="{A016C5C2-F68F-4158-A1E1-8ED007766BEF}"/>
                  </a:ext>
                </a:extLst>
              </p:cNvPr>
              <p:cNvSpPr/>
              <p:nvPr/>
            </p:nvSpPr>
            <p:spPr>
              <a:xfrm>
                <a:off x="1089404" y="4566241"/>
                <a:ext cx="1357462" cy="269519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ko-KR" altLang="en-US" b="1" dirty="0">
                    <a:solidFill>
                      <a:srgbClr val="1E4DA0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Calibri" pitchFamily="34" charset="-120"/>
                  </a:rPr>
                  <a:t>세부 기능</a:t>
                </a:r>
                <a:endParaRPr lang="en-US" dirty="0">
                  <a:solidFill>
                    <a:srgbClr val="1E4DA0"/>
                  </a:solidFill>
                  <a:latin typeface="맑은 고딕" panose="020B0503020000020004" pitchFamily="50" charset="-127"/>
                </a:endParaRPr>
              </a:p>
            </p:txBody>
          </p:sp>
          <p:sp>
            <p:nvSpPr>
              <p:cNvPr id="45" name="Text 14">
                <a:extLst>
                  <a:ext uri="{FF2B5EF4-FFF2-40B4-BE49-F238E27FC236}">
                    <a16:creationId xmlns:a16="http://schemas.microsoft.com/office/drawing/2014/main" id="{AFFD3D2A-33C9-4E49-9B97-D6217B5D4CC0}"/>
                  </a:ext>
                </a:extLst>
              </p:cNvPr>
              <p:cNvSpPr/>
              <p:nvPr/>
            </p:nvSpPr>
            <p:spPr>
              <a:xfrm>
                <a:off x="1180844" y="5166381"/>
                <a:ext cx="3802637" cy="254118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en-US" sz="1200" b="1" dirty="0">
                    <a:solidFill>
                      <a:srgbClr val="1E4DA0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Calibri" pitchFamily="34" charset="-120"/>
                  </a:rPr>
                  <a:t>✓</a:t>
                </a:r>
                <a:r>
                  <a:rPr lang="en-US" sz="1200" b="1" dirty="0">
                    <a:solidFill>
                      <a:srgbClr val="0F6E56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Calibri" pitchFamily="34" charset="-120"/>
                  </a:rPr>
                  <a:t>  </a:t>
                </a:r>
                <a:r>
                  <a:rPr lang="en-US" sz="1200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Calibri" pitchFamily="34" charset="-120"/>
                  </a:rPr>
                  <a:t>ATC </a:t>
                </a:r>
                <a:r>
                  <a:rPr lang="ko-KR" altLang="en-US" sz="1200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Calibri" pitchFamily="34" charset="-120"/>
                  </a:rPr>
                  <a:t>코드 기반 약물 계통 자동 분류</a:t>
                </a:r>
                <a:endParaRPr lang="en-US" sz="1200" dirty="0">
                  <a:latin typeface="맑은 고딕" panose="020B0503020000020004" pitchFamily="50" charset="-127"/>
                </a:endParaRPr>
              </a:p>
            </p:txBody>
          </p:sp>
          <p:sp>
            <p:nvSpPr>
              <p:cNvPr id="46" name="Text 15">
                <a:extLst>
                  <a:ext uri="{FF2B5EF4-FFF2-40B4-BE49-F238E27FC236}">
                    <a16:creationId xmlns:a16="http://schemas.microsoft.com/office/drawing/2014/main" id="{B0C86AE1-C259-4034-8029-F1E9CE9066CC}"/>
                  </a:ext>
                </a:extLst>
              </p:cNvPr>
              <p:cNvSpPr/>
              <p:nvPr/>
            </p:nvSpPr>
            <p:spPr>
              <a:xfrm>
                <a:off x="1180844" y="5575639"/>
                <a:ext cx="3612574" cy="254118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en-US" sz="1200" b="1" dirty="0">
                    <a:solidFill>
                      <a:srgbClr val="1E4DA0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Calibri" pitchFamily="34" charset="-120"/>
                  </a:rPr>
                  <a:t>✓</a:t>
                </a:r>
                <a:r>
                  <a:rPr lang="en-US" sz="1200" b="1" dirty="0">
                    <a:solidFill>
                      <a:srgbClr val="0F6E56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Calibri" pitchFamily="34" charset="-120"/>
                  </a:rPr>
                  <a:t>  </a:t>
                </a:r>
                <a:r>
                  <a:rPr lang="ko-KR" altLang="en-US" sz="1200" dirty="0">
                    <a:solidFill>
                      <a:srgbClr val="363636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Calibri" pitchFamily="34" charset="-120"/>
                  </a:rPr>
                  <a:t>처방 기간 타임라인에 따라</a:t>
                </a:r>
                <a:r>
                  <a:rPr lang="en-US" altLang="ko-KR" sz="1200" dirty="0">
                    <a:solidFill>
                      <a:srgbClr val="363636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Calibri" pitchFamily="34" charset="-120"/>
                  </a:rPr>
                  <a:t>, </a:t>
                </a:r>
                <a:r>
                  <a:rPr lang="ko-KR" altLang="en-US" sz="1200" dirty="0">
                    <a:solidFill>
                      <a:srgbClr val="363636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Calibri" pitchFamily="34" charset="-120"/>
                  </a:rPr>
                  <a:t>동시 복용 약물 파악</a:t>
                </a:r>
                <a:endParaRPr lang="en-US" sz="1200" dirty="0">
                  <a:latin typeface="맑은 고딕" panose="020B0503020000020004" pitchFamily="50" charset="-127"/>
                </a:endParaRPr>
              </a:p>
            </p:txBody>
          </p:sp>
          <p:sp>
            <p:nvSpPr>
              <p:cNvPr id="47" name="Text 16">
                <a:extLst>
                  <a:ext uri="{FF2B5EF4-FFF2-40B4-BE49-F238E27FC236}">
                    <a16:creationId xmlns:a16="http://schemas.microsoft.com/office/drawing/2014/main" id="{241B438B-B4F3-49C0-831D-DA1102EE2DED}"/>
                  </a:ext>
                </a:extLst>
              </p:cNvPr>
              <p:cNvSpPr/>
              <p:nvPr/>
            </p:nvSpPr>
            <p:spPr>
              <a:xfrm>
                <a:off x="5106617" y="5166615"/>
                <a:ext cx="3802637" cy="254118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r>
                  <a:rPr lang="en-US" sz="1200" b="1" dirty="0">
                    <a:solidFill>
                      <a:srgbClr val="1E4DA0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Calibri" pitchFamily="34" charset="-120"/>
                  </a:rPr>
                  <a:t>✓  </a:t>
                </a:r>
                <a:r>
                  <a:rPr lang="ko-KR" altLang="en-US" sz="1200" dirty="0">
                    <a:solidFill>
                      <a:srgbClr val="363636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Calibri" pitchFamily="34" charset="-120"/>
                  </a:rPr>
                  <a:t>개별 약물 용량 </a:t>
                </a:r>
                <a:r>
                  <a:rPr lang="en-US" altLang="ko-KR" sz="1200" dirty="0">
                    <a:solidFill>
                      <a:srgbClr val="363636"/>
                    </a:solidFill>
                    <a:latin typeface="맑은 고딕" panose="020B0503020000020004" pitchFamily="50" charset="-127"/>
                    <a:cs typeface="Calibri" pitchFamily="34" charset="-120"/>
                  </a:rPr>
                  <a:t>· </a:t>
                </a:r>
                <a:r>
                  <a:rPr lang="ko-KR" altLang="en-US" sz="1200" dirty="0">
                    <a:solidFill>
                      <a:srgbClr val="363636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Calibri" pitchFamily="34" charset="-120"/>
                  </a:rPr>
                  <a:t>용법을 기준 값과 비교해 자동 감지</a:t>
                </a:r>
                <a:endParaRPr lang="en-US" sz="1200" dirty="0">
                  <a:latin typeface="맑은 고딕" panose="020B0503020000020004" pitchFamily="50" charset="-127"/>
                </a:endParaRPr>
              </a:p>
            </p:txBody>
          </p:sp>
          <p:sp>
            <p:nvSpPr>
              <p:cNvPr id="48" name="Text 17">
                <a:extLst>
                  <a:ext uri="{FF2B5EF4-FFF2-40B4-BE49-F238E27FC236}">
                    <a16:creationId xmlns:a16="http://schemas.microsoft.com/office/drawing/2014/main" id="{BDBCF9C0-7F9B-496D-8B0B-DB82C968255F}"/>
                  </a:ext>
                </a:extLst>
              </p:cNvPr>
              <p:cNvSpPr/>
              <p:nvPr/>
            </p:nvSpPr>
            <p:spPr>
              <a:xfrm>
                <a:off x="5106616" y="5575389"/>
                <a:ext cx="4904742" cy="254118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en-US" sz="1200" b="1" dirty="0">
                    <a:solidFill>
                      <a:srgbClr val="1E4DA0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Calibri" pitchFamily="34" charset="-120"/>
                  </a:rPr>
                  <a:t>✓  </a:t>
                </a:r>
                <a:r>
                  <a:rPr lang="en-US" sz="1200" dirty="0">
                    <a:solidFill>
                      <a:srgbClr val="363636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Calibri" pitchFamily="34" charset="-120"/>
                  </a:rPr>
                  <a:t>DDI(</a:t>
                </a:r>
                <a:r>
                  <a:rPr lang="ko-KR" altLang="en-US" sz="1200" dirty="0">
                    <a:solidFill>
                      <a:srgbClr val="363636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Calibri" pitchFamily="34" charset="-120"/>
                  </a:rPr>
                  <a:t>약물 상호작용</a:t>
                </a:r>
                <a:r>
                  <a:rPr lang="en-US" altLang="ko-KR" sz="1200" dirty="0">
                    <a:solidFill>
                      <a:srgbClr val="363636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Calibri" pitchFamily="34" charset="-120"/>
                  </a:rPr>
                  <a:t>)</a:t>
                </a:r>
                <a:r>
                  <a:rPr lang="ko-KR" altLang="en-US" sz="1200" dirty="0">
                    <a:solidFill>
                      <a:srgbClr val="363636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Calibri" pitchFamily="34" charset="-120"/>
                  </a:rPr>
                  <a:t>를 기반으로 실시간으로 감지하고 위험 등급 표시</a:t>
                </a:r>
                <a:endParaRPr lang="en-US" sz="1200" dirty="0">
                  <a:latin typeface="맑은 고딕" panose="020B0503020000020004" pitchFamily="50" charset="-127"/>
                </a:endParaRPr>
              </a:p>
            </p:txBody>
          </p:sp>
        </p:grp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F3F056C0-CCAB-4D83-B16B-4B1426F4E8C7}"/>
              </a:ext>
            </a:extLst>
          </p:cNvPr>
          <p:cNvGrpSpPr/>
          <p:nvPr/>
        </p:nvGrpSpPr>
        <p:grpSpPr>
          <a:xfrm>
            <a:off x="693050" y="1305060"/>
            <a:ext cx="10805899" cy="3083284"/>
            <a:chOff x="721095" y="1114117"/>
            <a:chExt cx="10805899" cy="3083284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6D73C8AE-1A5E-4275-972F-BB131500BD27}"/>
                </a:ext>
              </a:extLst>
            </p:cNvPr>
            <p:cNvGrpSpPr/>
            <p:nvPr/>
          </p:nvGrpSpPr>
          <p:grpSpPr>
            <a:xfrm>
              <a:off x="721095" y="1117566"/>
              <a:ext cx="2560320" cy="3079835"/>
              <a:chOff x="2015066" y="1554480"/>
              <a:chExt cx="2560320" cy="3079835"/>
            </a:xfrm>
          </p:grpSpPr>
          <p:sp>
            <p:nvSpPr>
              <p:cNvPr id="6" name="Shape 2">
                <a:extLst>
                  <a:ext uri="{FF2B5EF4-FFF2-40B4-BE49-F238E27FC236}">
                    <a16:creationId xmlns:a16="http://schemas.microsoft.com/office/drawing/2014/main" id="{BC331C45-FFD7-43DF-AF70-4D4C0796E1A2}"/>
                  </a:ext>
                </a:extLst>
              </p:cNvPr>
              <p:cNvSpPr/>
              <p:nvPr/>
            </p:nvSpPr>
            <p:spPr>
              <a:xfrm>
                <a:off x="2015066" y="1554480"/>
                <a:ext cx="2560320" cy="3079835"/>
              </a:xfrm>
              <a:prstGeom prst="rect">
                <a:avLst/>
              </a:prstGeom>
              <a:solidFill>
                <a:srgbClr val="FFFFFF"/>
              </a:solidFill>
              <a:ln w="12700">
                <a:solidFill>
                  <a:srgbClr val="E8EFF8"/>
                </a:solidFill>
                <a:prstDash val="solid"/>
              </a:ln>
            </p:spPr>
            <p:txBody>
              <a:bodyPr/>
              <a:lstStyle/>
              <a:p>
                <a:endParaRPr lang="ko-KR" altLang="en-US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  <p:grpSp>
            <p:nvGrpSpPr>
              <p:cNvPr id="31" name="그룹 30">
                <a:extLst>
                  <a:ext uri="{FF2B5EF4-FFF2-40B4-BE49-F238E27FC236}">
                    <a16:creationId xmlns:a16="http://schemas.microsoft.com/office/drawing/2014/main" id="{34B5A0CA-D3A4-40FB-BC9A-7C2CA5E80F9C}"/>
                  </a:ext>
                </a:extLst>
              </p:cNvPr>
              <p:cNvGrpSpPr/>
              <p:nvPr/>
            </p:nvGrpSpPr>
            <p:grpSpPr>
              <a:xfrm>
                <a:off x="2015066" y="1554480"/>
                <a:ext cx="2560320" cy="2788920"/>
                <a:chOff x="2015066" y="1554480"/>
                <a:chExt cx="2560320" cy="2788920"/>
              </a:xfrm>
            </p:grpSpPr>
            <p:sp>
              <p:nvSpPr>
                <p:cNvPr id="7" name="Shape 3">
                  <a:extLst>
                    <a:ext uri="{FF2B5EF4-FFF2-40B4-BE49-F238E27FC236}">
                      <a16:creationId xmlns:a16="http://schemas.microsoft.com/office/drawing/2014/main" id="{2E03CCB9-E59F-43FF-BB3D-BCA5215FE2A2}"/>
                    </a:ext>
                  </a:extLst>
                </p:cNvPr>
                <p:cNvSpPr/>
                <p:nvPr/>
              </p:nvSpPr>
              <p:spPr>
                <a:xfrm>
                  <a:off x="2015066" y="1554480"/>
                  <a:ext cx="2560320" cy="1005840"/>
                </a:xfrm>
                <a:prstGeom prst="rect">
                  <a:avLst/>
                </a:prstGeom>
                <a:solidFill>
                  <a:srgbClr val="1E4DA0"/>
                </a:solidFill>
                <a:ln w="12700">
                  <a:solidFill>
                    <a:srgbClr val="0D2D6B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endParaRPr>
                </a:p>
              </p:txBody>
            </p:sp>
            <p:sp>
              <p:nvSpPr>
                <p:cNvPr id="8" name="Text 4">
                  <a:extLst>
                    <a:ext uri="{FF2B5EF4-FFF2-40B4-BE49-F238E27FC236}">
                      <a16:creationId xmlns:a16="http://schemas.microsoft.com/office/drawing/2014/main" id="{A5A69D21-8A96-47F8-8F62-18CC00D561B5}"/>
                    </a:ext>
                  </a:extLst>
                </p:cNvPr>
                <p:cNvSpPr/>
                <p:nvPr/>
              </p:nvSpPr>
              <p:spPr>
                <a:xfrm>
                  <a:off x="2106506" y="1581912"/>
                  <a:ext cx="2377440" cy="347472"/>
                </a:xfrm>
                <a:prstGeom prst="rect">
                  <a:avLst/>
                </a:prstGeom>
                <a:noFill/>
                <a:ln/>
              </p:spPr>
              <p:txBody>
                <a:bodyPr wrap="square" rtlCol="0" anchor="ctr"/>
                <a:lstStyle/>
                <a:p>
                  <a:pPr marL="0" indent="0" algn="ctr">
                    <a:buNone/>
                  </a:pPr>
                  <a:r>
                    <a:rPr lang="en-US" sz="1000" b="1" kern="0" spc="300" dirty="0">
                      <a:solidFill>
                        <a:srgbClr val="CADCFC"/>
                      </a:solidFill>
                      <a:latin typeface="맑은 고딕" panose="020B0503020000020004" pitchFamily="50" charset="-127"/>
                      <a:ea typeface="맑은 고딕" panose="020B0503020000020004" pitchFamily="50" charset="-127"/>
                      <a:cs typeface="Calibri" pitchFamily="34" charset="-120"/>
                    </a:rPr>
                    <a:t>STEP 1</a:t>
                  </a:r>
                  <a:endParaRPr lang="en-US" sz="1000" dirty="0">
                    <a:latin typeface="맑은 고딕" panose="020B0503020000020004" pitchFamily="50" charset="-127"/>
                  </a:endParaRPr>
                </a:p>
              </p:txBody>
            </p:sp>
            <p:sp>
              <p:nvSpPr>
                <p:cNvPr id="9" name="Text 5">
                  <a:extLst>
                    <a:ext uri="{FF2B5EF4-FFF2-40B4-BE49-F238E27FC236}">
                      <a16:creationId xmlns:a16="http://schemas.microsoft.com/office/drawing/2014/main" id="{712A66A5-B5F8-47E2-BB25-58A201671F2C}"/>
                    </a:ext>
                  </a:extLst>
                </p:cNvPr>
                <p:cNvSpPr/>
                <p:nvPr/>
              </p:nvSpPr>
              <p:spPr>
                <a:xfrm>
                  <a:off x="2106506" y="1875252"/>
                  <a:ext cx="2377440" cy="502920"/>
                </a:xfrm>
                <a:prstGeom prst="rect">
                  <a:avLst/>
                </a:prstGeom>
                <a:noFill/>
                <a:ln/>
              </p:spPr>
              <p:txBody>
                <a:bodyPr wrap="square" rtlCol="0" anchor="ctr"/>
                <a:lstStyle/>
                <a:p>
                  <a:pPr marL="0" indent="0" algn="ctr">
                    <a:buNone/>
                  </a:pPr>
                  <a:r>
                    <a:rPr lang="en-US" b="1" dirty="0">
                      <a:solidFill>
                        <a:schemeClr val="bg1"/>
                      </a:solidFill>
                    </a:rPr>
                    <a:t>DUR </a:t>
                  </a:r>
                  <a:r>
                    <a:rPr lang="ko-KR" altLang="en-US" b="1" dirty="0">
                      <a:solidFill>
                        <a:schemeClr val="bg1"/>
                      </a:solidFill>
                    </a:rPr>
                    <a:t>내역 클릭</a:t>
                  </a:r>
                  <a:endParaRPr lang="en-US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0" name="Text 6">
                  <a:extLst>
                    <a:ext uri="{FF2B5EF4-FFF2-40B4-BE49-F238E27FC236}">
                      <a16:creationId xmlns:a16="http://schemas.microsoft.com/office/drawing/2014/main" id="{604D45A2-B684-42C5-A0BB-B6C7B614E16B}"/>
                    </a:ext>
                  </a:extLst>
                </p:cNvPr>
                <p:cNvSpPr/>
                <p:nvPr/>
              </p:nvSpPr>
              <p:spPr>
                <a:xfrm>
                  <a:off x="2152226" y="2679192"/>
                  <a:ext cx="2286000" cy="1097280"/>
                </a:xfrm>
                <a:prstGeom prst="rect">
                  <a:avLst/>
                </a:prstGeom>
                <a:noFill/>
                <a:ln/>
              </p:spPr>
              <p:txBody>
                <a:bodyPr wrap="square" rtlCol="0" anchor="ctr"/>
                <a:lstStyle/>
                <a:p>
                  <a:pPr marL="0" indent="0" algn="ctr">
                    <a:lnSpc>
                      <a:spcPct val="150000"/>
                    </a:lnSpc>
                    <a:buNone/>
                  </a:pPr>
                  <a:r>
                    <a:rPr lang="ko-KR" altLang="en-US" sz="1100" dirty="0" err="1">
                      <a:solidFill>
                        <a:srgbClr val="363636"/>
                      </a:solidFill>
                      <a:latin typeface="맑은 고딕" panose="020B0503020000020004" pitchFamily="50" charset="-127"/>
                      <a:ea typeface="맑은 고딕" panose="020B0503020000020004" pitchFamily="50" charset="-127"/>
                      <a:cs typeface="Calibri" pitchFamily="34" charset="-120"/>
                    </a:rPr>
                    <a:t>카우누리</a:t>
                  </a:r>
                  <a:r>
                    <a:rPr lang="ko-KR" altLang="en-US" sz="1100" dirty="0">
                      <a:solidFill>
                        <a:srgbClr val="363636"/>
                      </a:solidFill>
                      <a:latin typeface="맑은 고딕" panose="020B0503020000020004" pitchFamily="50" charset="-127"/>
                      <a:ea typeface="맑은 고딕" panose="020B0503020000020004" pitchFamily="50" charset="-127"/>
                      <a:cs typeface="Calibri" pitchFamily="34" charset="-120"/>
                    </a:rPr>
                    <a:t> 내</a:t>
                  </a:r>
                  <a:endParaRPr lang="en-US" altLang="ko-KR" sz="1100" dirty="0">
                    <a:solidFill>
                      <a:srgbClr val="363636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Calibri" pitchFamily="34" charset="-120"/>
                  </a:endParaRPr>
                </a:p>
                <a:p>
                  <a:pPr marL="0" indent="0" algn="ctr">
                    <a:lnSpc>
                      <a:spcPct val="150000"/>
                    </a:lnSpc>
                    <a:buNone/>
                  </a:pPr>
                  <a:r>
                    <a:rPr lang="en-US" sz="1100" dirty="0">
                      <a:latin typeface="맑은 고딕" panose="020B0503020000020004" pitchFamily="50" charset="-127"/>
                    </a:rPr>
                    <a:t>DUR </a:t>
                  </a:r>
                  <a:r>
                    <a:rPr lang="ko-KR" altLang="en-US" sz="1100" dirty="0">
                      <a:latin typeface="맑은 고딕" panose="020B0503020000020004" pitchFamily="50" charset="-127"/>
                    </a:rPr>
                    <a:t>시스템 화면에서</a:t>
                  </a:r>
                  <a:endParaRPr lang="en-US" altLang="ko-KR" sz="1100" dirty="0">
                    <a:latin typeface="맑은 고딕" panose="020B0503020000020004" pitchFamily="50" charset="-127"/>
                  </a:endParaRPr>
                </a:p>
                <a:p>
                  <a:pPr marL="0" indent="0" algn="ctr">
                    <a:lnSpc>
                      <a:spcPct val="150000"/>
                    </a:lnSpc>
                    <a:buNone/>
                  </a:pPr>
                  <a:r>
                    <a:rPr lang="ko-KR" altLang="en-US" sz="1100" dirty="0">
                      <a:latin typeface="맑은 고딕" panose="020B0503020000020004" pitchFamily="50" charset="-127"/>
                    </a:rPr>
                    <a:t>원하는 약 처방 내역 선택</a:t>
                  </a:r>
                  <a:endParaRPr lang="en-US" sz="1100" dirty="0">
                    <a:latin typeface="맑은 고딕" panose="020B0503020000020004" pitchFamily="50" charset="-127"/>
                  </a:endParaRPr>
                </a:p>
              </p:txBody>
            </p:sp>
            <p:sp>
              <p:nvSpPr>
                <p:cNvPr id="11" name="Shape 7">
                  <a:extLst>
                    <a:ext uri="{FF2B5EF4-FFF2-40B4-BE49-F238E27FC236}">
                      <a16:creationId xmlns:a16="http://schemas.microsoft.com/office/drawing/2014/main" id="{017B8827-7152-4334-BBF5-56D9CA756FCB}"/>
                    </a:ext>
                  </a:extLst>
                </p:cNvPr>
                <p:cNvSpPr/>
                <p:nvPr/>
              </p:nvSpPr>
              <p:spPr>
                <a:xfrm>
                  <a:off x="2197946" y="3931920"/>
                  <a:ext cx="2194560" cy="411480"/>
                </a:xfrm>
                <a:prstGeom prst="rect">
                  <a:avLst/>
                </a:prstGeom>
                <a:solidFill>
                  <a:srgbClr val="E8EFF8"/>
                </a:solidFill>
                <a:ln w="12700">
                  <a:solidFill>
                    <a:srgbClr val="E8EFF8"/>
                  </a:solidFill>
                  <a:prstDash val="solid"/>
                </a:ln>
              </p:spPr>
            </p:sp>
            <p:sp>
              <p:nvSpPr>
                <p:cNvPr id="12" name="Text 8">
                  <a:extLst>
                    <a:ext uri="{FF2B5EF4-FFF2-40B4-BE49-F238E27FC236}">
                      <a16:creationId xmlns:a16="http://schemas.microsoft.com/office/drawing/2014/main" id="{0D35B1D7-C6F2-4065-BEA8-6CF5AF157379}"/>
                    </a:ext>
                  </a:extLst>
                </p:cNvPr>
                <p:cNvSpPr/>
                <p:nvPr/>
              </p:nvSpPr>
              <p:spPr>
                <a:xfrm>
                  <a:off x="2197946" y="3950208"/>
                  <a:ext cx="2194560" cy="365760"/>
                </a:xfrm>
                <a:prstGeom prst="rect">
                  <a:avLst/>
                </a:prstGeom>
                <a:noFill/>
                <a:ln/>
              </p:spPr>
              <p:txBody>
                <a:bodyPr wrap="square" rtlCol="0" anchor="ctr"/>
                <a:lstStyle/>
                <a:p>
                  <a:pPr marL="0" indent="0" algn="ctr">
                    <a:buNone/>
                  </a:pPr>
                  <a:r>
                    <a:rPr lang="ko-KR" altLang="en-US" sz="900" dirty="0">
                      <a:solidFill>
                        <a:srgbClr val="64748B"/>
                      </a:solidFill>
                      <a:latin typeface="맑은 고딕" panose="020B0503020000020004" pitchFamily="50" charset="-127"/>
                      <a:ea typeface="맑은 고딕" panose="020B0503020000020004" pitchFamily="50" charset="-127"/>
                      <a:cs typeface="Calibri" pitchFamily="34" charset="-120"/>
                    </a:rPr>
                    <a:t>기존 워크플로우 유지</a:t>
                  </a:r>
                  <a:endParaRPr lang="en-US" sz="900" dirty="0">
                    <a:latin typeface="맑은 고딕" panose="020B0503020000020004" pitchFamily="50" charset="-127"/>
                  </a:endParaRPr>
                </a:p>
              </p:txBody>
            </p:sp>
          </p:grpSp>
        </p:grpSp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18349EEA-7594-48B2-9CE6-6CDC2EB64285}"/>
                </a:ext>
              </a:extLst>
            </p:cNvPr>
            <p:cNvGrpSpPr/>
            <p:nvPr/>
          </p:nvGrpSpPr>
          <p:grpSpPr>
            <a:xfrm>
              <a:off x="3464608" y="1117566"/>
              <a:ext cx="2560320" cy="3079835"/>
              <a:chOff x="4849706" y="1554480"/>
              <a:chExt cx="2560320" cy="3474720"/>
            </a:xfrm>
          </p:grpSpPr>
          <p:grpSp>
            <p:nvGrpSpPr>
              <p:cNvPr id="33" name="그룹 32">
                <a:extLst>
                  <a:ext uri="{FF2B5EF4-FFF2-40B4-BE49-F238E27FC236}">
                    <a16:creationId xmlns:a16="http://schemas.microsoft.com/office/drawing/2014/main" id="{C600D956-1B78-44DC-B0CC-9DD09641CCCE}"/>
                  </a:ext>
                </a:extLst>
              </p:cNvPr>
              <p:cNvGrpSpPr/>
              <p:nvPr/>
            </p:nvGrpSpPr>
            <p:grpSpPr>
              <a:xfrm>
                <a:off x="4849706" y="1554480"/>
                <a:ext cx="2560320" cy="3474720"/>
                <a:chOff x="4849706" y="1554480"/>
                <a:chExt cx="2560320" cy="3474720"/>
              </a:xfrm>
            </p:grpSpPr>
            <p:sp>
              <p:nvSpPr>
                <p:cNvPr id="15" name="Shape 11">
                  <a:extLst>
                    <a:ext uri="{FF2B5EF4-FFF2-40B4-BE49-F238E27FC236}">
                      <a16:creationId xmlns:a16="http://schemas.microsoft.com/office/drawing/2014/main" id="{0B17AC07-C46C-498F-8180-7FBAD3028C89}"/>
                    </a:ext>
                  </a:extLst>
                </p:cNvPr>
                <p:cNvSpPr/>
                <p:nvPr/>
              </p:nvSpPr>
              <p:spPr>
                <a:xfrm>
                  <a:off x="4849706" y="1554480"/>
                  <a:ext cx="2560320" cy="3474720"/>
                </a:xfrm>
                <a:prstGeom prst="rect">
                  <a:avLst/>
                </a:prstGeom>
                <a:solidFill>
                  <a:srgbClr val="FFFFFF"/>
                </a:solidFill>
                <a:ln w="12700">
                  <a:solidFill>
                    <a:srgbClr val="E8EFF8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endParaRPr>
                </a:p>
              </p:txBody>
            </p:sp>
            <p:sp>
              <p:nvSpPr>
                <p:cNvPr id="16" name="Shape 12">
                  <a:extLst>
                    <a:ext uri="{FF2B5EF4-FFF2-40B4-BE49-F238E27FC236}">
                      <a16:creationId xmlns:a16="http://schemas.microsoft.com/office/drawing/2014/main" id="{65C4E5D6-06A2-4ED3-B20A-1BC7AF683203}"/>
                    </a:ext>
                  </a:extLst>
                </p:cNvPr>
                <p:cNvSpPr/>
                <p:nvPr/>
              </p:nvSpPr>
              <p:spPr>
                <a:xfrm>
                  <a:off x="4849706" y="1554480"/>
                  <a:ext cx="2560320" cy="1134805"/>
                </a:xfrm>
                <a:prstGeom prst="rect">
                  <a:avLst/>
                </a:prstGeom>
                <a:solidFill>
                  <a:srgbClr val="1E4DA0"/>
                </a:solidFill>
                <a:ln w="12700">
                  <a:solidFill>
                    <a:srgbClr val="1E4DA0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endParaRPr>
                </a:p>
              </p:txBody>
            </p:sp>
            <p:sp>
              <p:nvSpPr>
                <p:cNvPr id="17" name="Text 13">
                  <a:extLst>
                    <a:ext uri="{FF2B5EF4-FFF2-40B4-BE49-F238E27FC236}">
                      <a16:creationId xmlns:a16="http://schemas.microsoft.com/office/drawing/2014/main" id="{E1F3333B-39BA-46BB-9EAD-06AFE5E73418}"/>
                    </a:ext>
                  </a:extLst>
                </p:cNvPr>
                <p:cNvSpPr/>
                <p:nvPr/>
              </p:nvSpPr>
              <p:spPr>
                <a:xfrm>
                  <a:off x="4941146" y="1581912"/>
                  <a:ext cx="2377440" cy="347472"/>
                </a:xfrm>
                <a:prstGeom prst="rect">
                  <a:avLst/>
                </a:prstGeom>
                <a:noFill/>
                <a:ln/>
              </p:spPr>
              <p:txBody>
                <a:bodyPr wrap="square" rtlCol="0" anchor="ctr"/>
                <a:lstStyle/>
                <a:p>
                  <a:pPr marL="0" indent="0" algn="ctr">
                    <a:buNone/>
                  </a:pPr>
                  <a:r>
                    <a:rPr lang="en-US" sz="1000" b="1" kern="0" spc="300" dirty="0">
                      <a:solidFill>
                        <a:srgbClr val="CADCFC"/>
                      </a:solidFill>
                      <a:latin typeface="맑은 고딕" panose="020B0503020000020004" pitchFamily="50" charset="-127"/>
                      <a:ea typeface="맑은 고딕" panose="020B0503020000020004" pitchFamily="50" charset="-127"/>
                      <a:cs typeface="Calibri" pitchFamily="34" charset="-120"/>
                    </a:rPr>
                    <a:t>STEP 2</a:t>
                  </a:r>
                  <a:endParaRPr lang="en-US" sz="1000" dirty="0">
                    <a:latin typeface="맑은 고딕" panose="020B0503020000020004" pitchFamily="50" charset="-127"/>
                  </a:endParaRPr>
                </a:p>
              </p:txBody>
            </p:sp>
            <p:sp>
              <p:nvSpPr>
                <p:cNvPr id="18" name="Text 14">
                  <a:extLst>
                    <a:ext uri="{FF2B5EF4-FFF2-40B4-BE49-F238E27FC236}">
                      <a16:creationId xmlns:a16="http://schemas.microsoft.com/office/drawing/2014/main" id="{BB817E29-3A11-4F30-AA47-4596DA09A04C}"/>
                    </a:ext>
                  </a:extLst>
                </p:cNvPr>
                <p:cNvSpPr/>
                <p:nvPr/>
              </p:nvSpPr>
              <p:spPr>
                <a:xfrm>
                  <a:off x="4941146" y="1948621"/>
                  <a:ext cx="2377440" cy="502920"/>
                </a:xfrm>
                <a:prstGeom prst="rect">
                  <a:avLst/>
                </a:prstGeom>
                <a:noFill/>
                <a:ln/>
              </p:spPr>
              <p:txBody>
                <a:bodyPr wrap="square" rtlCol="0" anchor="ctr"/>
                <a:lstStyle/>
                <a:p>
                  <a:pPr marL="0" indent="0" algn="ctr">
                    <a:buNone/>
                  </a:pPr>
                  <a:r>
                    <a:rPr lang="ko-KR" altLang="en-US" b="1" dirty="0">
                      <a:solidFill>
                        <a:srgbClr val="FFFFFF"/>
                      </a:solidFill>
                      <a:latin typeface="맑은 고딕" panose="020B0503020000020004" pitchFamily="50" charset="-127"/>
                      <a:ea typeface="맑은 고딕" panose="020B0503020000020004" pitchFamily="50" charset="-127"/>
                      <a:cs typeface="Calibri" pitchFamily="34" charset="-120"/>
                    </a:rPr>
                    <a:t>팝업 창 실행</a:t>
                  </a:r>
                  <a:endParaRPr lang="en-US" dirty="0">
                    <a:latin typeface="맑은 고딕" panose="020B0503020000020004" pitchFamily="50" charset="-127"/>
                  </a:endParaRPr>
                </a:p>
              </p:txBody>
            </p:sp>
            <p:sp>
              <p:nvSpPr>
                <p:cNvPr id="19" name="Text 15">
                  <a:extLst>
                    <a:ext uri="{FF2B5EF4-FFF2-40B4-BE49-F238E27FC236}">
                      <a16:creationId xmlns:a16="http://schemas.microsoft.com/office/drawing/2014/main" id="{DF28B58A-BE3B-4E0C-AED7-DF28A8382E20}"/>
                    </a:ext>
                  </a:extLst>
                </p:cNvPr>
                <p:cNvSpPr/>
                <p:nvPr/>
              </p:nvSpPr>
              <p:spPr>
                <a:xfrm>
                  <a:off x="4986866" y="2893743"/>
                  <a:ext cx="2286000" cy="1097279"/>
                </a:xfrm>
                <a:prstGeom prst="rect">
                  <a:avLst/>
                </a:prstGeom>
                <a:noFill/>
                <a:ln/>
              </p:spPr>
              <p:txBody>
                <a:bodyPr wrap="square" rtlCol="0" anchor="ctr"/>
                <a:lstStyle/>
                <a:p>
                  <a:pPr marL="0" indent="0" algn="ctr">
                    <a:lnSpc>
                      <a:spcPct val="150000"/>
                    </a:lnSpc>
                    <a:buNone/>
                  </a:pPr>
                  <a:r>
                    <a:rPr lang="ko-KR" altLang="en-US" sz="1100" dirty="0">
                      <a:solidFill>
                        <a:srgbClr val="363636"/>
                      </a:solidFill>
                      <a:latin typeface="맑은 고딕" panose="020B0503020000020004" pitchFamily="50" charset="-127"/>
                      <a:ea typeface="맑은 고딕" panose="020B0503020000020004" pitchFamily="50" charset="-127"/>
                      <a:cs typeface="Calibri" pitchFamily="34" charset="-120"/>
                    </a:rPr>
                    <a:t>시스템 팝업 창 형태로</a:t>
                  </a:r>
                  <a:r>
                    <a:rPr lang="en-US" altLang="ko-KR" sz="1100" dirty="0">
                      <a:solidFill>
                        <a:srgbClr val="363636"/>
                      </a:solidFill>
                      <a:latin typeface="맑은 고딕" panose="020B0503020000020004" pitchFamily="50" charset="-127"/>
                      <a:ea typeface="맑은 고딕" panose="020B0503020000020004" pitchFamily="50" charset="-127"/>
                      <a:cs typeface="Calibri" pitchFamily="34" charset="-120"/>
                    </a:rPr>
                    <a:t> </a:t>
                  </a:r>
                  <a:r>
                    <a:rPr lang="ko-KR" altLang="en-US" sz="1100" dirty="0">
                      <a:solidFill>
                        <a:srgbClr val="363636"/>
                      </a:solidFill>
                      <a:latin typeface="맑은 고딕" panose="020B0503020000020004" pitchFamily="50" charset="-127"/>
                      <a:ea typeface="맑은 고딕" panose="020B0503020000020004" pitchFamily="50" charset="-127"/>
                      <a:cs typeface="Calibri" pitchFamily="34" charset="-120"/>
                    </a:rPr>
                    <a:t>실행</a:t>
                  </a:r>
                  <a:endParaRPr lang="en-US" sz="1100" dirty="0">
                    <a:latin typeface="맑은 고딕" panose="020B0503020000020004" pitchFamily="50" charset="-127"/>
                  </a:endParaRPr>
                </a:p>
              </p:txBody>
            </p:sp>
            <p:sp>
              <p:nvSpPr>
                <p:cNvPr id="20" name="Shape 16">
                  <a:extLst>
                    <a:ext uri="{FF2B5EF4-FFF2-40B4-BE49-F238E27FC236}">
                      <a16:creationId xmlns:a16="http://schemas.microsoft.com/office/drawing/2014/main" id="{AE68711A-E1A2-4A33-BFD5-241B9E2C9571}"/>
                    </a:ext>
                  </a:extLst>
                </p:cNvPr>
                <p:cNvSpPr/>
                <p:nvPr/>
              </p:nvSpPr>
              <p:spPr>
                <a:xfrm>
                  <a:off x="5032586" y="4257379"/>
                  <a:ext cx="2194560" cy="411480"/>
                </a:xfrm>
                <a:prstGeom prst="rect">
                  <a:avLst/>
                </a:prstGeom>
                <a:solidFill>
                  <a:srgbClr val="E8EFF8"/>
                </a:solidFill>
                <a:ln w="12700">
                  <a:solidFill>
                    <a:srgbClr val="E8EFF8"/>
                  </a:solidFill>
                  <a:prstDash val="solid"/>
                </a:ln>
              </p:spPr>
            </p:sp>
          </p:grpSp>
          <p:sp>
            <p:nvSpPr>
              <p:cNvPr id="21" name="Text 17">
                <a:extLst>
                  <a:ext uri="{FF2B5EF4-FFF2-40B4-BE49-F238E27FC236}">
                    <a16:creationId xmlns:a16="http://schemas.microsoft.com/office/drawing/2014/main" id="{028D9C3E-3E92-4331-8CDB-762E4242A8BC}"/>
                  </a:ext>
                </a:extLst>
              </p:cNvPr>
              <p:cNvSpPr/>
              <p:nvPr/>
            </p:nvSpPr>
            <p:spPr>
              <a:xfrm>
                <a:off x="5032586" y="4275667"/>
                <a:ext cx="2194560" cy="36576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900" dirty="0">
                    <a:solidFill>
                      <a:srgbClr val="64748B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Calibri" pitchFamily="34" charset="-120"/>
                  </a:rPr>
                  <a:t>약 5</a:t>
                </a:r>
                <a:r>
                  <a:rPr lang="ko-KR" altLang="en-US" sz="900" dirty="0">
                    <a:solidFill>
                      <a:srgbClr val="64748B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Calibri" pitchFamily="34" charset="-120"/>
                  </a:rPr>
                  <a:t>초 이내</a:t>
                </a:r>
                <a:endParaRPr lang="en-US" sz="900" dirty="0">
                  <a:latin typeface="맑은 고딕" panose="020B0503020000020004" pitchFamily="50" charset="-127"/>
                </a:endParaRPr>
              </a:p>
            </p:txBody>
          </p:sp>
        </p:grpSp>
        <p:grpSp>
          <p:nvGrpSpPr>
            <p:cNvPr id="37" name="그룹 36">
              <a:extLst>
                <a:ext uri="{FF2B5EF4-FFF2-40B4-BE49-F238E27FC236}">
                  <a16:creationId xmlns:a16="http://schemas.microsoft.com/office/drawing/2014/main" id="{E7059CCC-21BB-42B5-AA57-A31E9D576579}"/>
                </a:ext>
              </a:extLst>
            </p:cNvPr>
            <p:cNvGrpSpPr/>
            <p:nvPr/>
          </p:nvGrpSpPr>
          <p:grpSpPr>
            <a:xfrm>
              <a:off x="6207808" y="1114685"/>
              <a:ext cx="2568153" cy="3079835"/>
              <a:chOff x="8360281" y="1299293"/>
              <a:chExt cx="2568153" cy="3079835"/>
            </a:xfrm>
          </p:grpSpPr>
          <p:sp>
            <p:nvSpPr>
              <p:cNvPr id="24" name="Shape 20">
                <a:extLst>
                  <a:ext uri="{FF2B5EF4-FFF2-40B4-BE49-F238E27FC236}">
                    <a16:creationId xmlns:a16="http://schemas.microsoft.com/office/drawing/2014/main" id="{93F86CFA-9D90-456F-A849-1F7285E572EF}"/>
                  </a:ext>
                </a:extLst>
              </p:cNvPr>
              <p:cNvSpPr/>
              <p:nvPr/>
            </p:nvSpPr>
            <p:spPr>
              <a:xfrm>
                <a:off x="8360281" y="1299293"/>
                <a:ext cx="2560320" cy="3079835"/>
              </a:xfrm>
              <a:prstGeom prst="rect">
                <a:avLst/>
              </a:prstGeom>
              <a:solidFill>
                <a:srgbClr val="FFFFFF"/>
              </a:solidFill>
              <a:ln w="12700">
                <a:solidFill>
                  <a:srgbClr val="E8EFF8"/>
                </a:solidFill>
                <a:prstDash val="solid"/>
              </a:ln>
            </p:spPr>
            <p:txBody>
              <a:bodyPr/>
              <a:lstStyle/>
              <a:p>
                <a:endParaRPr lang="ko-KR" altLang="en-US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  <p:sp>
            <p:nvSpPr>
              <p:cNvPr id="25" name="Shape 21">
                <a:extLst>
                  <a:ext uri="{FF2B5EF4-FFF2-40B4-BE49-F238E27FC236}">
                    <a16:creationId xmlns:a16="http://schemas.microsoft.com/office/drawing/2014/main" id="{588B8ECC-B882-4E05-BB2B-51DDB166E57C}"/>
                  </a:ext>
                </a:extLst>
              </p:cNvPr>
              <p:cNvSpPr/>
              <p:nvPr/>
            </p:nvSpPr>
            <p:spPr>
              <a:xfrm>
                <a:off x="8368114" y="1299294"/>
                <a:ext cx="2560320" cy="1005840"/>
              </a:xfrm>
              <a:prstGeom prst="rect">
                <a:avLst/>
              </a:prstGeom>
              <a:solidFill>
                <a:srgbClr val="1E4DA0"/>
              </a:solidFill>
              <a:ln w="12700">
                <a:solidFill>
                  <a:srgbClr val="0F6E56"/>
                </a:solidFill>
                <a:prstDash val="solid"/>
              </a:ln>
            </p:spPr>
            <p:txBody>
              <a:bodyPr/>
              <a:lstStyle/>
              <a:p>
                <a:endParaRPr lang="ko-KR" altLang="en-US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  <p:sp>
            <p:nvSpPr>
              <p:cNvPr id="26" name="Text 22">
                <a:extLst>
                  <a:ext uri="{FF2B5EF4-FFF2-40B4-BE49-F238E27FC236}">
                    <a16:creationId xmlns:a16="http://schemas.microsoft.com/office/drawing/2014/main" id="{F446F613-B4E6-4823-83DD-46E20BED1FA7}"/>
                  </a:ext>
                </a:extLst>
              </p:cNvPr>
              <p:cNvSpPr/>
              <p:nvPr/>
            </p:nvSpPr>
            <p:spPr>
              <a:xfrm>
                <a:off x="8459554" y="1325394"/>
                <a:ext cx="2377440" cy="304411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1000" b="1" kern="0" spc="300" dirty="0">
                    <a:solidFill>
                      <a:srgbClr val="CADCFC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Calibri" pitchFamily="34" charset="-120"/>
                  </a:rPr>
                  <a:t>STEP 3</a:t>
                </a:r>
                <a:endParaRPr lang="en-US" sz="1000" dirty="0">
                  <a:latin typeface="맑은 고딕" panose="020B0503020000020004" pitchFamily="50" charset="-127"/>
                </a:endParaRPr>
              </a:p>
            </p:txBody>
          </p:sp>
          <p:sp>
            <p:nvSpPr>
              <p:cNvPr id="27" name="Text 23">
                <a:extLst>
                  <a:ext uri="{FF2B5EF4-FFF2-40B4-BE49-F238E27FC236}">
                    <a16:creationId xmlns:a16="http://schemas.microsoft.com/office/drawing/2014/main" id="{1DDC8DD6-75C8-464E-A4A4-27E1C3B137D3}"/>
                  </a:ext>
                </a:extLst>
              </p:cNvPr>
              <p:cNvSpPr/>
              <p:nvPr/>
            </p:nvSpPr>
            <p:spPr>
              <a:xfrm>
                <a:off x="8451721" y="1629805"/>
                <a:ext cx="2377440" cy="440594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ko-KR" altLang="en-US" b="1" dirty="0">
                    <a:solidFill>
                      <a:srgbClr val="FFFFFF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Calibri" pitchFamily="34" charset="-120"/>
                  </a:rPr>
                  <a:t>처방 이력 분석</a:t>
                </a:r>
                <a:endParaRPr lang="en-US" dirty="0">
                  <a:latin typeface="맑은 고딕" panose="020B0503020000020004" pitchFamily="50" charset="-127"/>
                </a:endParaRPr>
              </a:p>
            </p:txBody>
          </p:sp>
          <p:sp>
            <p:nvSpPr>
              <p:cNvPr id="28" name="Text 24">
                <a:extLst>
                  <a:ext uri="{FF2B5EF4-FFF2-40B4-BE49-F238E27FC236}">
                    <a16:creationId xmlns:a16="http://schemas.microsoft.com/office/drawing/2014/main" id="{E6FC6492-F102-4080-8ED8-BB52A19F9CD4}"/>
                  </a:ext>
                </a:extLst>
              </p:cNvPr>
              <p:cNvSpPr/>
              <p:nvPr/>
            </p:nvSpPr>
            <p:spPr>
              <a:xfrm>
                <a:off x="8505274" y="2488316"/>
                <a:ext cx="2286000" cy="961297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algn="ctr">
                  <a:lnSpc>
                    <a:spcPct val="150000"/>
                  </a:lnSpc>
                </a:pPr>
                <a:r>
                  <a:rPr lang="en-US" sz="1100" dirty="0">
                    <a:solidFill>
                      <a:srgbClr val="363636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Calibri" pitchFamily="34" charset="-120"/>
                  </a:rPr>
                  <a:t>AI</a:t>
                </a:r>
                <a:r>
                  <a:rPr lang="ko-KR" altLang="en-US" sz="1100" dirty="0">
                    <a:solidFill>
                      <a:srgbClr val="363636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Calibri" pitchFamily="34" charset="-120"/>
                  </a:rPr>
                  <a:t>가 계통 </a:t>
                </a:r>
                <a:r>
                  <a:rPr lang="en-US" altLang="ko-KR" sz="1100" dirty="0">
                    <a:solidFill>
                      <a:srgbClr val="363636"/>
                    </a:solidFill>
                    <a:latin typeface="맑은 고딕" panose="020B0503020000020004" pitchFamily="50" charset="-127"/>
                    <a:cs typeface="Calibri" pitchFamily="34" charset="-120"/>
                  </a:rPr>
                  <a:t>· </a:t>
                </a:r>
                <a:r>
                  <a:rPr lang="ko-KR" altLang="en-US" sz="1100" dirty="0">
                    <a:solidFill>
                      <a:srgbClr val="363636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Calibri" pitchFamily="34" charset="-120"/>
                  </a:rPr>
                  <a:t>기간 </a:t>
                </a:r>
                <a:r>
                  <a:rPr lang="en-US" altLang="ko-KR" sz="1100" dirty="0">
                    <a:solidFill>
                      <a:srgbClr val="363636"/>
                    </a:solidFill>
                    <a:latin typeface="맑은 고딕" panose="020B0503020000020004" pitchFamily="50" charset="-127"/>
                    <a:cs typeface="Calibri" pitchFamily="34" charset="-120"/>
                  </a:rPr>
                  <a:t>· </a:t>
                </a:r>
                <a:r>
                  <a:rPr lang="ko-KR" altLang="en-US" sz="1100" dirty="0" err="1">
                    <a:solidFill>
                      <a:srgbClr val="363636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Calibri" pitchFamily="34" charset="-120"/>
                  </a:rPr>
                  <a:t>용량별</a:t>
                </a:r>
                <a:r>
                  <a:rPr lang="ko-KR" altLang="en-US" sz="1100" dirty="0">
                    <a:solidFill>
                      <a:srgbClr val="363636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Calibri" pitchFamily="34" charset="-120"/>
                  </a:rPr>
                  <a:t> </a:t>
                </a:r>
                <a:endParaRPr lang="en-US" altLang="ko-KR" sz="1100" dirty="0">
                  <a:solidFill>
                    <a:srgbClr val="363636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alibri" pitchFamily="34" charset="-120"/>
                </a:endParaRPr>
              </a:p>
              <a:p>
                <a:pPr marL="0" indent="0" algn="ctr">
                  <a:lnSpc>
                    <a:spcPct val="150000"/>
                  </a:lnSpc>
                  <a:buNone/>
                </a:pPr>
                <a:r>
                  <a:rPr lang="ko-KR" altLang="en-US" sz="1100" dirty="0">
                    <a:solidFill>
                      <a:srgbClr val="363636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Calibri" pitchFamily="34" charset="-120"/>
                  </a:rPr>
                  <a:t>처방 이력 </a:t>
                </a:r>
                <a:endParaRPr lang="en-US" altLang="ko-KR" sz="1100" dirty="0">
                  <a:solidFill>
                    <a:srgbClr val="363636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alibri" pitchFamily="34" charset="-120"/>
                </a:endParaRPr>
              </a:p>
              <a:p>
                <a:pPr marL="0" indent="0" algn="ctr">
                  <a:lnSpc>
                    <a:spcPct val="150000"/>
                  </a:lnSpc>
                  <a:buNone/>
                </a:pPr>
                <a:r>
                  <a:rPr lang="ko-KR" altLang="en-US" sz="1100" dirty="0">
                    <a:solidFill>
                      <a:srgbClr val="363636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Calibri" pitchFamily="34" charset="-120"/>
                  </a:rPr>
                  <a:t>자동 분류 수행</a:t>
                </a:r>
                <a:endParaRPr lang="en-US" sz="1100" dirty="0">
                  <a:latin typeface="맑은 고딕" panose="020B0503020000020004" pitchFamily="50" charset="-127"/>
                </a:endParaRPr>
              </a:p>
            </p:txBody>
          </p:sp>
          <p:grpSp>
            <p:nvGrpSpPr>
              <p:cNvPr id="36" name="그룹 35">
                <a:extLst>
                  <a:ext uri="{FF2B5EF4-FFF2-40B4-BE49-F238E27FC236}">
                    <a16:creationId xmlns:a16="http://schemas.microsoft.com/office/drawing/2014/main" id="{2DAC54EF-C89B-4C5B-A48C-0DE3AAC3692B}"/>
                  </a:ext>
                </a:extLst>
              </p:cNvPr>
              <p:cNvGrpSpPr/>
              <p:nvPr/>
            </p:nvGrpSpPr>
            <p:grpSpPr>
              <a:xfrm>
                <a:off x="8543161" y="3652939"/>
                <a:ext cx="2197693" cy="411480"/>
                <a:chOff x="8550994" y="3676734"/>
                <a:chExt cx="2197693" cy="411480"/>
              </a:xfrm>
            </p:grpSpPr>
            <p:sp>
              <p:nvSpPr>
                <p:cNvPr id="29" name="Shape 25">
                  <a:extLst>
                    <a:ext uri="{FF2B5EF4-FFF2-40B4-BE49-F238E27FC236}">
                      <a16:creationId xmlns:a16="http://schemas.microsoft.com/office/drawing/2014/main" id="{CBD32D23-6F51-4249-B1F9-524930B95519}"/>
                    </a:ext>
                  </a:extLst>
                </p:cNvPr>
                <p:cNvSpPr/>
                <p:nvPr/>
              </p:nvSpPr>
              <p:spPr>
                <a:xfrm>
                  <a:off x="8550994" y="3676734"/>
                  <a:ext cx="2194560" cy="411480"/>
                </a:xfrm>
                <a:prstGeom prst="rect">
                  <a:avLst/>
                </a:prstGeom>
                <a:solidFill>
                  <a:srgbClr val="E8EFF8"/>
                </a:solidFill>
                <a:ln w="12700">
                  <a:solidFill>
                    <a:srgbClr val="E8EFF8"/>
                  </a:solidFill>
                  <a:prstDash val="solid"/>
                </a:ln>
              </p:spPr>
            </p:sp>
            <p:sp>
              <p:nvSpPr>
                <p:cNvPr id="30" name="Text 26">
                  <a:extLst>
                    <a:ext uri="{FF2B5EF4-FFF2-40B4-BE49-F238E27FC236}">
                      <a16:creationId xmlns:a16="http://schemas.microsoft.com/office/drawing/2014/main" id="{FC3CC500-D71E-4A6F-A01C-3CB68954BC71}"/>
                    </a:ext>
                  </a:extLst>
                </p:cNvPr>
                <p:cNvSpPr/>
                <p:nvPr/>
              </p:nvSpPr>
              <p:spPr>
                <a:xfrm>
                  <a:off x="8554127" y="3714992"/>
                  <a:ext cx="2194560" cy="320432"/>
                </a:xfrm>
                <a:prstGeom prst="rect">
                  <a:avLst/>
                </a:prstGeom>
                <a:noFill/>
                <a:ln/>
              </p:spPr>
              <p:txBody>
                <a:bodyPr wrap="square" rtlCol="0" anchor="ctr"/>
                <a:lstStyle/>
                <a:p>
                  <a:pPr marL="0" indent="0" algn="ctr">
                    <a:buNone/>
                  </a:pPr>
                  <a:r>
                    <a:rPr lang="ko-KR" altLang="en-US" sz="900" dirty="0">
                      <a:latin typeface="맑은 고딕" panose="020B0503020000020004" pitchFamily="50" charset="-127"/>
                    </a:rPr>
                    <a:t>정리 및 분석을 통한 인사이트 제공</a:t>
                  </a:r>
                  <a:endParaRPr lang="en-US" sz="900" dirty="0">
                    <a:latin typeface="맑은 고딕" panose="020B0503020000020004" pitchFamily="50" charset="-127"/>
                  </a:endParaRPr>
                </a:p>
              </p:txBody>
            </p:sp>
          </p:grpSp>
        </p:grpSp>
        <p:sp>
          <p:nvSpPr>
            <p:cNvPr id="40" name="화살표: 오른쪽 39">
              <a:extLst>
                <a:ext uri="{FF2B5EF4-FFF2-40B4-BE49-F238E27FC236}">
                  <a16:creationId xmlns:a16="http://schemas.microsoft.com/office/drawing/2014/main" id="{6E70F467-5D54-4547-A338-11A79F420D6B}"/>
                </a:ext>
              </a:extLst>
            </p:cNvPr>
            <p:cNvSpPr/>
            <p:nvPr/>
          </p:nvSpPr>
          <p:spPr>
            <a:xfrm>
              <a:off x="3200601" y="2558780"/>
              <a:ext cx="335640" cy="360449"/>
            </a:xfrm>
            <a:prstGeom prst="rightArrow">
              <a:avLst/>
            </a:prstGeom>
            <a:solidFill>
              <a:srgbClr val="EF9F27"/>
            </a:solidFill>
            <a:ln>
              <a:solidFill>
                <a:srgbClr val="EF9F2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grpSp>
          <p:nvGrpSpPr>
            <p:cNvPr id="51" name="그룹 50">
              <a:extLst>
                <a:ext uri="{FF2B5EF4-FFF2-40B4-BE49-F238E27FC236}">
                  <a16:creationId xmlns:a16="http://schemas.microsoft.com/office/drawing/2014/main" id="{ED39676B-56D3-4AE7-AB16-DC33F3E7E739}"/>
                </a:ext>
              </a:extLst>
            </p:cNvPr>
            <p:cNvGrpSpPr/>
            <p:nvPr/>
          </p:nvGrpSpPr>
          <p:grpSpPr>
            <a:xfrm>
              <a:off x="8958841" y="1114117"/>
              <a:ext cx="2568153" cy="3079835"/>
              <a:chOff x="8360281" y="1299293"/>
              <a:chExt cx="2568153" cy="3079835"/>
            </a:xfrm>
          </p:grpSpPr>
          <p:sp>
            <p:nvSpPr>
              <p:cNvPr id="52" name="Shape 20">
                <a:extLst>
                  <a:ext uri="{FF2B5EF4-FFF2-40B4-BE49-F238E27FC236}">
                    <a16:creationId xmlns:a16="http://schemas.microsoft.com/office/drawing/2014/main" id="{FCB126F0-DFB2-4423-9291-F64B76581787}"/>
                  </a:ext>
                </a:extLst>
              </p:cNvPr>
              <p:cNvSpPr/>
              <p:nvPr/>
            </p:nvSpPr>
            <p:spPr>
              <a:xfrm>
                <a:off x="8360281" y="1299293"/>
                <a:ext cx="2560320" cy="3079835"/>
              </a:xfrm>
              <a:prstGeom prst="rect">
                <a:avLst/>
              </a:prstGeom>
              <a:solidFill>
                <a:srgbClr val="FFFFFF"/>
              </a:solidFill>
              <a:ln w="12700">
                <a:solidFill>
                  <a:srgbClr val="E8EFF8"/>
                </a:solidFill>
                <a:prstDash val="solid"/>
              </a:ln>
            </p:spPr>
            <p:txBody>
              <a:bodyPr/>
              <a:lstStyle/>
              <a:p>
                <a:endParaRPr lang="ko-KR" altLang="en-US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  <p:sp>
            <p:nvSpPr>
              <p:cNvPr id="53" name="Shape 21">
                <a:extLst>
                  <a:ext uri="{FF2B5EF4-FFF2-40B4-BE49-F238E27FC236}">
                    <a16:creationId xmlns:a16="http://schemas.microsoft.com/office/drawing/2014/main" id="{2CBACA02-1811-4D7B-AA5E-7BC4FFAE7E22}"/>
                  </a:ext>
                </a:extLst>
              </p:cNvPr>
              <p:cNvSpPr/>
              <p:nvPr/>
            </p:nvSpPr>
            <p:spPr>
              <a:xfrm>
                <a:off x="8368114" y="1299294"/>
                <a:ext cx="2560320" cy="1005840"/>
              </a:xfrm>
              <a:prstGeom prst="rect">
                <a:avLst/>
              </a:prstGeom>
              <a:solidFill>
                <a:srgbClr val="1E4DA0"/>
              </a:solidFill>
              <a:ln w="12700">
                <a:solidFill>
                  <a:srgbClr val="0F6E56"/>
                </a:solidFill>
                <a:prstDash val="solid"/>
              </a:ln>
            </p:spPr>
            <p:txBody>
              <a:bodyPr/>
              <a:lstStyle/>
              <a:p>
                <a:endParaRPr lang="ko-KR" altLang="en-US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  <p:sp>
            <p:nvSpPr>
              <p:cNvPr id="54" name="Text 22">
                <a:extLst>
                  <a:ext uri="{FF2B5EF4-FFF2-40B4-BE49-F238E27FC236}">
                    <a16:creationId xmlns:a16="http://schemas.microsoft.com/office/drawing/2014/main" id="{13F06192-8FB3-4334-82E3-90B1EC4B20C4}"/>
                  </a:ext>
                </a:extLst>
              </p:cNvPr>
              <p:cNvSpPr/>
              <p:nvPr/>
            </p:nvSpPr>
            <p:spPr>
              <a:xfrm>
                <a:off x="8459554" y="1325394"/>
                <a:ext cx="2377440" cy="304411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1000" b="1" kern="0" spc="300" dirty="0">
                    <a:solidFill>
                      <a:srgbClr val="CADCFC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Calibri" pitchFamily="34" charset="-120"/>
                  </a:rPr>
                  <a:t>STEP 4</a:t>
                </a:r>
                <a:endParaRPr lang="en-US" sz="1000" dirty="0">
                  <a:latin typeface="맑은 고딕" panose="020B0503020000020004" pitchFamily="50" charset="-127"/>
                </a:endParaRPr>
              </a:p>
            </p:txBody>
          </p:sp>
          <p:sp>
            <p:nvSpPr>
              <p:cNvPr id="55" name="Text 23">
                <a:extLst>
                  <a:ext uri="{FF2B5EF4-FFF2-40B4-BE49-F238E27FC236}">
                    <a16:creationId xmlns:a16="http://schemas.microsoft.com/office/drawing/2014/main" id="{78C9736C-3F3D-4E1A-9094-D2E63976E57B}"/>
                  </a:ext>
                </a:extLst>
              </p:cNvPr>
              <p:cNvSpPr/>
              <p:nvPr/>
            </p:nvSpPr>
            <p:spPr>
              <a:xfrm>
                <a:off x="8451721" y="1629805"/>
                <a:ext cx="2377440" cy="440594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ko-KR" altLang="en-US" b="1" dirty="0">
                    <a:solidFill>
                      <a:srgbClr val="FFFFFF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Calibri" pitchFamily="34" charset="-120"/>
                  </a:rPr>
                  <a:t>위험 알림 확인</a:t>
                </a:r>
                <a:endParaRPr lang="en-US" dirty="0">
                  <a:latin typeface="맑은 고딕" panose="020B0503020000020004" pitchFamily="50" charset="-127"/>
                </a:endParaRPr>
              </a:p>
            </p:txBody>
          </p:sp>
          <p:sp>
            <p:nvSpPr>
              <p:cNvPr id="56" name="Text 24">
                <a:extLst>
                  <a:ext uri="{FF2B5EF4-FFF2-40B4-BE49-F238E27FC236}">
                    <a16:creationId xmlns:a16="http://schemas.microsoft.com/office/drawing/2014/main" id="{8B427E52-88AC-436F-A674-238ABF886B7E}"/>
                  </a:ext>
                </a:extLst>
              </p:cNvPr>
              <p:cNvSpPr/>
              <p:nvPr/>
            </p:nvSpPr>
            <p:spPr>
              <a:xfrm>
                <a:off x="8505274" y="2488884"/>
                <a:ext cx="2286000" cy="961297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lnSpc>
                    <a:spcPct val="150000"/>
                  </a:lnSpc>
                  <a:buNone/>
                </a:pPr>
                <a:r>
                  <a:rPr lang="ko-KR" altLang="en-US" sz="1100" dirty="0">
                    <a:latin typeface="맑은 고딕" panose="020B0503020000020004" pitchFamily="50" charset="-127"/>
                  </a:rPr>
                  <a:t>중복 및 상호작용</a:t>
                </a:r>
                <a:endParaRPr lang="en-US" altLang="ko-KR" sz="1100" dirty="0">
                  <a:latin typeface="맑은 고딕" panose="020B0503020000020004" pitchFamily="50" charset="-127"/>
                </a:endParaRPr>
              </a:p>
              <a:p>
                <a:pPr marL="0" indent="0" algn="ctr">
                  <a:lnSpc>
                    <a:spcPct val="150000"/>
                  </a:lnSpc>
                  <a:buNone/>
                </a:pPr>
                <a:r>
                  <a:rPr lang="ko-KR" altLang="en-US" sz="11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위험 약물 강조 표시</a:t>
                </a:r>
                <a:endParaRPr lang="en-US" altLang="ko-KR" sz="1100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  <a:p>
                <a:pPr marL="0" indent="0" algn="ctr">
                  <a:lnSpc>
                    <a:spcPct val="150000"/>
                  </a:lnSpc>
                  <a:buNone/>
                </a:pPr>
                <a:r>
                  <a:rPr lang="ko-KR" altLang="en-US" sz="11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및</a:t>
                </a:r>
                <a:r>
                  <a:rPr lang="en-US" altLang="ko-KR" sz="11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ko-KR" altLang="en-US" sz="11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경고 안내</a:t>
                </a:r>
                <a:endParaRPr lang="en-US" altLang="ko-KR" sz="1100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  <p:grpSp>
            <p:nvGrpSpPr>
              <p:cNvPr id="57" name="그룹 56">
                <a:extLst>
                  <a:ext uri="{FF2B5EF4-FFF2-40B4-BE49-F238E27FC236}">
                    <a16:creationId xmlns:a16="http://schemas.microsoft.com/office/drawing/2014/main" id="{BC31925F-29E0-4C96-9E57-75ED8CA1F780}"/>
                  </a:ext>
                </a:extLst>
              </p:cNvPr>
              <p:cNvGrpSpPr/>
              <p:nvPr/>
            </p:nvGrpSpPr>
            <p:grpSpPr>
              <a:xfrm>
                <a:off x="8543161" y="3652939"/>
                <a:ext cx="2197693" cy="411480"/>
                <a:chOff x="8550994" y="3676734"/>
                <a:chExt cx="2197693" cy="411480"/>
              </a:xfrm>
            </p:grpSpPr>
            <p:sp>
              <p:nvSpPr>
                <p:cNvPr id="58" name="Shape 25">
                  <a:extLst>
                    <a:ext uri="{FF2B5EF4-FFF2-40B4-BE49-F238E27FC236}">
                      <a16:creationId xmlns:a16="http://schemas.microsoft.com/office/drawing/2014/main" id="{3388B81F-75EA-4737-BFA0-EF21669FFC96}"/>
                    </a:ext>
                  </a:extLst>
                </p:cNvPr>
                <p:cNvSpPr/>
                <p:nvPr/>
              </p:nvSpPr>
              <p:spPr>
                <a:xfrm>
                  <a:off x="8550994" y="3676734"/>
                  <a:ext cx="2194560" cy="411480"/>
                </a:xfrm>
                <a:prstGeom prst="rect">
                  <a:avLst/>
                </a:prstGeom>
                <a:solidFill>
                  <a:srgbClr val="E8EFF8"/>
                </a:solidFill>
                <a:ln w="12700">
                  <a:solidFill>
                    <a:srgbClr val="E8EFF8"/>
                  </a:solidFill>
                  <a:prstDash val="solid"/>
                </a:ln>
              </p:spPr>
            </p:sp>
            <p:sp>
              <p:nvSpPr>
                <p:cNvPr id="59" name="Text 26">
                  <a:extLst>
                    <a:ext uri="{FF2B5EF4-FFF2-40B4-BE49-F238E27FC236}">
                      <a16:creationId xmlns:a16="http://schemas.microsoft.com/office/drawing/2014/main" id="{7CE46781-013C-4A34-BB5D-361B72115FA5}"/>
                    </a:ext>
                  </a:extLst>
                </p:cNvPr>
                <p:cNvSpPr/>
                <p:nvPr/>
              </p:nvSpPr>
              <p:spPr>
                <a:xfrm>
                  <a:off x="8554127" y="3714992"/>
                  <a:ext cx="2194560" cy="320432"/>
                </a:xfrm>
                <a:prstGeom prst="rect">
                  <a:avLst/>
                </a:prstGeom>
                <a:noFill/>
                <a:ln/>
              </p:spPr>
              <p:txBody>
                <a:bodyPr wrap="square" rtlCol="0" anchor="ctr"/>
                <a:lstStyle/>
                <a:p>
                  <a:pPr marL="0" indent="0" algn="ctr">
                    <a:buNone/>
                  </a:pPr>
                  <a:r>
                    <a:rPr lang="ko-KR" altLang="en-US" sz="900" dirty="0">
                      <a:solidFill>
                        <a:srgbClr val="64748B"/>
                      </a:solidFill>
                      <a:latin typeface="맑은 고딕" panose="020B0503020000020004" pitchFamily="50" charset="-127"/>
                      <a:ea typeface="맑은 고딕" panose="020B0503020000020004" pitchFamily="50" charset="-127"/>
                      <a:cs typeface="Calibri" pitchFamily="34" charset="-120"/>
                    </a:rPr>
                    <a:t>처방 검토 버튼으로 메모 가능</a:t>
                  </a:r>
                  <a:endParaRPr lang="en-US" altLang="ko-KR" sz="900" dirty="0">
                    <a:solidFill>
                      <a:srgbClr val="64748B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Calibri" pitchFamily="34" charset="-120"/>
                  </a:endParaRPr>
                </a:p>
              </p:txBody>
            </p:sp>
          </p:grpSp>
        </p:grpSp>
        <p:sp>
          <p:nvSpPr>
            <p:cNvPr id="61" name="화살표: 오른쪽 60">
              <a:extLst>
                <a:ext uri="{FF2B5EF4-FFF2-40B4-BE49-F238E27FC236}">
                  <a16:creationId xmlns:a16="http://schemas.microsoft.com/office/drawing/2014/main" id="{E0A4AA71-E0B5-4643-8FBA-0F17F8937567}"/>
                </a:ext>
              </a:extLst>
            </p:cNvPr>
            <p:cNvSpPr/>
            <p:nvPr/>
          </p:nvSpPr>
          <p:spPr>
            <a:xfrm>
              <a:off x="5933488" y="2558781"/>
              <a:ext cx="335640" cy="360449"/>
            </a:xfrm>
            <a:prstGeom prst="rightArrow">
              <a:avLst/>
            </a:prstGeom>
            <a:solidFill>
              <a:srgbClr val="EF9F27"/>
            </a:solidFill>
            <a:ln>
              <a:solidFill>
                <a:srgbClr val="EF9F2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62" name="화살표: 오른쪽 61">
              <a:extLst>
                <a:ext uri="{FF2B5EF4-FFF2-40B4-BE49-F238E27FC236}">
                  <a16:creationId xmlns:a16="http://schemas.microsoft.com/office/drawing/2014/main" id="{E39B706B-63D0-4141-BFBE-B78C1EAB7586}"/>
                </a:ext>
              </a:extLst>
            </p:cNvPr>
            <p:cNvSpPr/>
            <p:nvPr/>
          </p:nvSpPr>
          <p:spPr>
            <a:xfrm>
              <a:off x="8684995" y="2558780"/>
              <a:ext cx="335640" cy="360449"/>
            </a:xfrm>
            <a:prstGeom prst="rightArrow">
              <a:avLst/>
            </a:prstGeom>
            <a:solidFill>
              <a:srgbClr val="EF9F27"/>
            </a:solidFill>
            <a:ln>
              <a:solidFill>
                <a:srgbClr val="EF9F2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810431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A3E4DE-348D-469C-BCC6-9AD471D21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UI </a:t>
            </a:r>
            <a:r>
              <a:rPr lang="ko-KR" altLang="en-US" dirty="0" err="1"/>
              <a:t>목업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dirty="0"/>
              <a:t>팝업 창 인터페이스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B844D71-B509-415B-BF4E-BF09323E840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b="499"/>
          <a:stretch/>
        </p:blipFill>
        <p:spPr>
          <a:xfrm>
            <a:off x="2441010" y="922867"/>
            <a:ext cx="4478477" cy="5232399"/>
          </a:xfrm>
          <a:prstGeom prst="roundRect">
            <a:avLst>
              <a:gd name="adj" fmla="val 2038"/>
            </a:avLst>
          </a:prstGeom>
          <a:ln>
            <a:solidFill>
              <a:schemeClr val="bg2">
                <a:lumMod val="90000"/>
              </a:schemeClr>
            </a:solidFill>
          </a:ln>
        </p:spPr>
      </p:pic>
      <p:sp>
        <p:nvSpPr>
          <p:cNvPr id="5" name="Shape 30">
            <a:extLst>
              <a:ext uri="{FF2B5EF4-FFF2-40B4-BE49-F238E27FC236}">
                <a16:creationId xmlns:a16="http://schemas.microsoft.com/office/drawing/2014/main" id="{94CD0C36-3DCA-4CEE-B718-39BF618A7891}"/>
              </a:ext>
            </a:extLst>
          </p:cNvPr>
          <p:cNvSpPr/>
          <p:nvPr/>
        </p:nvSpPr>
        <p:spPr>
          <a:xfrm>
            <a:off x="6740056" y="1468902"/>
            <a:ext cx="111760" cy="112390"/>
          </a:xfrm>
          <a:prstGeom prst="line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6" name="Shape 31">
            <a:extLst>
              <a:ext uri="{FF2B5EF4-FFF2-40B4-BE49-F238E27FC236}">
                <a16:creationId xmlns:a16="http://schemas.microsoft.com/office/drawing/2014/main" id="{74ABF882-B806-497C-B6ED-B60A41A91E8A}"/>
              </a:ext>
            </a:extLst>
          </p:cNvPr>
          <p:cNvSpPr/>
          <p:nvPr/>
        </p:nvSpPr>
        <p:spPr>
          <a:xfrm>
            <a:off x="6840640" y="1513858"/>
            <a:ext cx="279400" cy="22478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7" name="Text 32">
            <a:extLst>
              <a:ext uri="{FF2B5EF4-FFF2-40B4-BE49-F238E27FC236}">
                <a16:creationId xmlns:a16="http://schemas.microsoft.com/office/drawing/2014/main" id="{07135F4E-5935-46E5-AE80-1076D1961265}"/>
              </a:ext>
            </a:extLst>
          </p:cNvPr>
          <p:cNvSpPr/>
          <p:nvPr/>
        </p:nvSpPr>
        <p:spPr>
          <a:xfrm>
            <a:off x="7142392" y="1389928"/>
            <a:ext cx="1925407" cy="2809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2D6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itchFamily="34" charset="-120"/>
              </a:rPr>
              <a:t>① </a:t>
            </a:r>
            <a:r>
              <a:rPr lang="ko-KR" altLang="en-US" sz="1200" b="1" dirty="0">
                <a:solidFill>
                  <a:srgbClr val="0D2D6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itchFamily="34" charset="-120"/>
              </a:rPr>
              <a:t>약물 처방 종합 평가</a:t>
            </a:r>
            <a:endParaRPr lang="en-US" sz="1200" dirty="0">
              <a:latin typeface="맑은 고딕" panose="020B0503020000020004" pitchFamily="50" charset="-127"/>
            </a:endParaRPr>
          </a:p>
        </p:txBody>
      </p:sp>
      <p:sp>
        <p:nvSpPr>
          <p:cNvPr id="8" name="Text 33">
            <a:extLst>
              <a:ext uri="{FF2B5EF4-FFF2-40B4-BE49-F238E27FC236}">
                <a16:creationId xmlns:a16="http://schemas.microsoft.com/office/drawing/2014/main" id="{45EB1B89-90B0-4368-A5A9-E3484FC2FB73}"/>
              </a:ext>
            </a:extLst>
          </p:cNvPr>
          <p:cNvSpPr/>
          <p:nvPr/>
        </p:nvSpPr>
        <p:spPr>
          <a:xfrm>
            <a:off x="7142393" y="1648425"/>
            <a:ext cx="3967480" cy="3371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200" dirty="0">
                <a:solidFill>
                  <a:srgbClr val="6474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itchFamily="34" charset="-120"/>
              </a:rPr>
              <a:t>아래 기준에 따라</a:t>
            </a:r>
            <a:r>
              <a:rPr lang="en-US" altLang="ko-KR" sz="1200" dirty="0">
                <a:solidFill>
                  <a:srgbClr val="6474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itchFamily="34" charset="-120"/>
              </a:rPr>
              <a:t>, </a:t>
            </a:r>
            <a:r>
              <a:rPr lang="ko-KR" altLang="en-US" sz="1200" dirty="0">
                <a:solidFill>
                  <a:srgbClr val="6474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itchFamily="34" charset="-120"/>
              </a:rPr>
              <a:t>평가 후 정상</a:t>
            </a:r>
            <a:r>
              <a:rPr lang="en-US" altLang="ko-KR" sz="1200" dirty="0">
                <a:solidFill>
                  <a:srgbClr val="6474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itchFamily="34" charset="-120"/>
              </a:rPr>
              <a:t>/</a:t>
            </a:r>
            <a:r>
              <a:rPr lang="ko-KR" altLang="en-US" sz="1200" dirty="0">
                <a:solidFill>
                  <a:srgbClr val="6474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itchFamily="34" charset="-120"/>
              </a:rPr>
              <a:t>주의</a:t>
            </a:r>
            <a:r>
              <a:rPr lang="en-US" altLang="ko-KR" sz="1200" dirty="0">
                <a:solidFill>
                  <a:srgbClr val="6474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itchFamily="34" charset="-120"/>
              </a:rPr>
              <a:t>/</a:t>
            </a:r>
            <a:r>
              <a:rPr lang="ko-KR" altLang="en-US" sz="1200" dirty="0">
                <a:solidFill>
                  <a:srgbClr val="6474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itchFamily="34" charset="-120"/>
              </a:rPr>
              <a:t>금기로 분류</a:t>
            </a:r>
            <a:endParaRPr lang="en-US" sz="1200" dirty="0">
              <a:latin typeface="맑은 고딕" panose="020B0503020000020004" pitchFamily="50" charset="-127"/>
            </a:endParaRPr>
          </a:p>
        </p:txBody>
      </p:sp>
      <p:sp>
        <p:nvSpPr>
          <p:cNvPr id="9" name="Shape 34">
            <a:extLst>
              <a:ext uri="{FF2B5EF4-FFF2-40B4-BE49-F238E27FC236}">
                <a16:creationId xmlns:a16="http://schemas.microsoft.com/office/drawing/2014/main" id="{297E6674-D304-4C5F-8F74-CDB79611BB5E}"/>
              </a:ext>
            </a:extLst>
          </p:cNvPr>
          <p:cNvSpPr/>
          <p:nvPr/>
        </p:nvSpPr>
        <p:spPr>
          <a:xfrm>
            <a:off x="6756818" y="2185058"/>
            <a:ext cx="111760" cy="112390"/>
          </a:xfrm>
          <a:prstGeom prst="line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0" name="Shape 35">
            <a:extLst>
              <a:ext uri="{FF2B5EF4-FFF2-40B4-BE49-F238E27FC236}">
                <a16:creationId xmlns:a16="http://schemas.microsoft.com/office/drawing/2014/main" id="{2B87788E-EEDD-479E-BA8F-5806EC753F7F}"/>
              </a:ext>
            </a:extLst>
          </p:cNvPr>
          <p:cNvSpPr/>
          <p:nvPr/>
        </p:nvSpPr>
        <p:spPr>
          <a:xfrm>
            <a:off x="6857402" y="2230014"/>
            <a:ext cx="279400" cy="22478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1" name="Text 36">
            <a:extLst>
              <a:ext uri="{FF2B5EF4-FFF2-40B4-BE49-F238E27FC236}">
                <a16:creationId xmlns:a16="http://schemas.microsoft.com/office/drawing/2014/main" id="{B24C2662-6B76-4D45-9B7B-6B9E93F94FEF}"/>
              </a:ext>
            </a:extLst>
          </p:cNvPr>
          <p:cNvSpPr/>
          <p:nvPr/>
        </p:nvSpPr>
        <p:spPr>
          <a:xfrm>
            <a:off x="7153567" y="2106802"/>
            <a:ext cx="1229360" cy="2809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2D6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itchFamily="34" charset="-120"/>
              </a:rPr>
              <a:t>② </a:t>
            </a:r>
            <a:r>
              <a:rPr lang="ko-KR" altLang="en-US" sz="1200" b="1" dirty="0">
                <a:solidFill>
                  <a:srgbClr val="0D2D6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itchFamily="34" charset="-120"/>
              </a:rPr>
              <a:t>계통 분류</a:t>
            </a:r>
            <a:endParaRPr lang="en-US" sz="1200" dirty="0">
              <a:latin typeface="맑은 고딕" panose="020B0503020000020004" pitchFamily="50" charset="-127"/>
            </a:endParaRPr>
          </a:p>
        </p:txBody>
      </p:sp>
      <p:sp>
        <p:nvSpPr>
          <p:cNvPr id="12" name="Text 37">
            <a:extLst>
              <a:ext uri="{FF2B5EF4-FFF2-40B4-BE49-F238E27FC236}">
                <a16:creationId xmlns:a16="http://schemas.microsoft.com/office/drawing/2014/main" id="{0B42FF27-C2DD-4D9C-9485-F659A2F0164E}"/>
              </a:ext>
            </a:extLst>
          </p:cNvPr>
          <p:cNvSpPr/>
          <p:nvPr/>
        </p:nvSpPr>
        <p:spPr>
          <a:xfrm>
            <a:off x="7153567" y="2365299"/>
            <a:ext cx="3967480" cy="3371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200" dirty="0">
                <a:solidFill>
                  <a:srgbClr val="6474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itchFamily="34" charset="-120"/>
              </a:rPr>
              <a:t>약물 계통 및 처방 내역 중 동일 계통 약물 표시</a:t>
            </a:r>
            <a:endParaRPr lang="en-US" sz="1200" dirty="0">
              <a:latin typeface="맑은 고딕" panose="020B0503020000020004" pitchFamily="50" charset="-127"/>
            </a:endParaRPr>
          </a:p>
        </p:txBody>
      </p:sp>
      <p:sp>
        <p:nvSpPr>
          <p:cNvPr id="13" name="Shape 38">
            <a:extLst>
              <a:ext uri="{FF2B5EF4-FFF2-40B4-BE49-F238E27FC236}">
                <a16:creationId xmlns:a16="http://schemas.microsoft.com/office/drawing/2014/main" id="{1D8A9A12-9305-43BA-9264-AF9A64B1F0CD}"/>
              </a:ext>
            </a:extLst>
          </p:cNvPr>
          <p:cNvSpPr/>
          <p:nvPr/>
        </p:nvSpPr>
        <p:spPr>
          <a:xfrm>
            <a:off x="6773584" y="2964865"/>
            <a:ext cx="111760" cy="112390"/>
          </a:xfrm>
          <a:prstGeom prst="line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4" name="Shape 39">
            <a:extLst>
              <a:ext uri="{FF2B5EF4-FFF2-40B4-BE49-F238E27FC236}">
                <a16:creationId xmlns:a16="http://schemas.microsoft.com/office/drawing/2014/main" id="{DDC9B6BA-254E-4411-813F-EC42155CF743}"/>
              </a:ext>
            </a:extLst>
          </p:cNvPr>
          <p:cNvSpPr/>
          <p:nvPr/>
        </p:nvSpPr>
        <p:spPr>
          <a:xfrm>
            <a:off x="6874168" y="3009821"/>
            <a:ext cx="279400" cy="22478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5" name="Text 40">
            <a:extLst>
              <a:ext uri="{FF2B5EF4-FFF2-40B4-BE49-F238E27FC236}">
                <a16:creationId xmlns:a16="http://schemas.microsoft.com/office/drawing/2014/main" id="{23AB6AE5-F1B2-4389-BF29-B189194A1D00}"/>
              </a:ext>
            </a:extLst>
          </p:cNvPr>
          <p:cNvSpPr/>
          <p:nvPr/>
        </p:nvSpPr>
        <p:spPr>
          <a:xfrm>
            <a:off x="7142392" y="2900353"/>
            <a:ext cx="1646007" cy="2809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2D6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itchFamily="34" charset="-120"/>
              </a:rPr>
              <a:t>③ </a:t>
            </a:r>
            <a:r>
              <a:rPr lang="ko-KR" altLang="en-US" sz="1200" b="1" dirty="0">
                <a:solidFill>
                  <a:srgbClr val="0D2D6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itchFamily="34" charset="-120"/>
              </a:rPr>
              <a:t>기간 〮 병용 현황</a:t>
            </a:r>
            <a:endParaRPr lang="en-US" sz="1200" dirty="0">
              <a:latin typeface="맑은 고딕" panose="020B0503020000020004" pitchFamily="50" charset="-127"/>
            </a:endParaRPr>
          </a:p>
        </p:txBody>
      </p:sp>
      <p:sp>
        <p:nvSpPr>
          <p:cNvPr id="16" name="Text 41">
            <a:extLst>
              <a:ext uri="{FF2B5EF4-FFF2-40B4-BE49-F238E27FC236}">
                <a16:creationId xmlns:a16="http://schemas.microsoft.com/office/drawing/2014/main" id="{C2AD93EF-A5D9-44CD-93FC-BDEE394285E0}"/>
              </a:ext>
            </a:extLst>
          </p:cNvPr>
          <p:cNvSpPr/>
          <p:nvPr/>
        </p:nvSpPr>
        <p:spPr>
          <a:xfrm>
            <a:off x="7142393" y="3158850"/>
            <a:ext cx="3967480" cy="3371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200" dirty="0">
                <a:solidFill>
                  <a:srgbClr val="6474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itchFamily="34" charset="-120"/>
              </a:rPr>
              <a:t>약물 처방 기간 및 병용 약물 표시</a:t>
            </a:r>
            <a:r>
              <a:rPr lang="en-US" altLang="ko-KR" sz="1200" dirty="0">
                <a:solidFill>
                  <a:srgbClr val="6474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itchFamily="34" charset="-120"/>
              </a:rPr>
              <a:t>, </a:t>
            </a:r>
            <a:r>
              <a:rPr lang="ko-KR" altLang="en-US" sz="1200" dirty="0">
                <a:solidFill>
                  <a:srgbClr val="6474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itchFamily="34" charset="-120"/>
              </a:rPr>
              <a:t>적절성 판단</a:t>
            </a:r>
            <a:endParaRPr lang="en-US" sz="1200" dirty="0">
              <a:latin typeface="맑은 고딕" panose="020B0503020000020004" pitchFamily="50" charset="-127"/>
            </a:endParaRPr>
          </a:p>
        </p:txBody>
      </p:sp>
      <p:sp>
        <p:nvSpPr>
          <p:cNvPr id="17" name="Shape 42">
            <a:extLst>
              <a:ext uri="{FF2B5EF4-FFF2-40B4-BE49-F238E27FC236}">
                <a16:creationId xmlns:a16="http://schemas.microsoft.com/office/drawing/2014/main" id="{451F1A08-8E41-4D06-9DCA-12B47253E820}"/>
              </a:ext>
            </a:extLst>
          </p:cNvPr>
          <p:cNvSpPr/>
          <p:nvPr/>
        </p:nvSpPr>
        <p:spPr>
          <a:xfrm>
            <a:off x="6762408" y="3780748"/>
            <a:ext cx="111760" cy="112390"/>
          </a:xfrm>
          <a:prstGeom prst="line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8" name="Shape 43">
            <a:extLst>
              <a:ext uri="{FF2B5EF4-FFF2-40B4-BE49-F238E27FC236}">
                <a16:creationId xmlns:a16="http://schemas.microsoft.com/office/drawing/2014/main" id="{1E059888-4F11-42FA-995A-E83B2656A94B}"/>
              </a:ext>
            </a:extLst>
          </p:cNvPr>
          <p:cNvSpPr/>
          <p:nvPr/>
        </p:nvSpPr>
        <p:spPr>
          <a:xfrm>
            <a:off x="6862992" y="3825701"/>
            <a:ext cx="279400" cy="22478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9" name="Text 44">
            <a:extLst>
              <a:ext uri="{FF2B5EF4-FFF2-40B4-BE49-F238E27FC236}">
                <a16:creationId xmlns:a16="http://schemas.microsoft.com/office/drawing/2014/main" id="{7E91FBAA-2CF3-4F91-AB5A-29C9E21E6A78}"/>
              </a:ext>
            </a:extLst>
          </p:cNvPr>
          <p:cNvSpPr/>
          <p:nvPr/>
        </p:nvSpPr>
        <p:spPr>
          <a:xfrm>
            <a:off x="7153567" y="3710711"/>
            <a:ext cx="1229360" cy="2809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2D6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itchFamily="34" charset="-120"/>
              </a:rPr>
              <a:t>④ </a:t>
            </a:r>
            <a:r>
              <a:rPr lang="ko-KR" altLang="en-US" sz="1200" b="1" dirty="0">
                <a:solidFill>
                  <a:srgbClr val="0D2D6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itchFamily="34" charset="-120"/>
              </a:rPr>
              <a:t>용량 분석</a:t>
            </a:r>
            <a:endParaRPr lang="en-US" sz="1200" dirty="0">
              <a:latin typeface="맑은 고딕" panose="020B0503020000020004" pitchFamily="50" charset="-127"/>
            </a:endParaRPr>
          </a:p>
        </p:txBody>
      </p:sp>
      <p:sp>
        <p:nvSpPr>
          <p:cNvPr id="20" name="Text 45">
            <a:extLst>
              <a:ext uri="{FF2B5EF4-FFF2-40B4-BE49-F238E27FC236}">
                <a16:creationId xmlns:a16="http://schemas.microsoft.com/office/drawing/2014/main" id="{9503F9B2-72DF-4232-815D-7B523D73D0F7}"/>
              </a:ext>
            </a:extLst>
          </p:cNvPr>
          <p:cNvSpPr/>
          <p:nvPr/>
        </p:nvSpPr>
        <p:spPr>
          <a:xfrm>
            <a:off x="7153567" y="3969208"/>
            <a:ext cx="3967480" cy="3371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200" dirty="0">
                <a:solidFill>
                  <a:srgbClr val="6474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itchFamily="34" charset="-120"/>
              </a:rPr>
              <a:t>약물 용량이 적절한 지 판단</a:t>
            </a:r>
            <a:endParaRPr lang="en-US" sz="1200" dirty="0">
              <a:latin typeface="맑은 고딕" panose="020B0503020000020004" pitchFamily="50" charset="-127"/>
            </a:endParaRPr>
          </a:p>
        </p:txBody>
      </p:sp>
      <p:sp>
        <p:nvSpPr>
          <p:cNvPr id="21" name="Shape 46">
            <a:extLst>
              <a:ext uri="{FF2B5EF4-FFF2-40B4-BE49-F238E27FC236}">
                <a16:creationId xmlns:a16="http://schemas.microsoft.com/office/drawing/2014/main" id="{718E62E8-6434-4180-9586-2E82CB300520}"/>
              </a:ext>
            </a:extLst>
          </p:cNvPr>
          <p:cNvSpPr/>
          <p:nvPr/>
        </p:nvSpPr>
        <p:spPr>
          <a:xfrm>
            <a:off x="6773584" y="4524201"/>
            <a:ext cx="111760" cy="112390"/>
          </a:xfrm>
          <a:prstGeom prst="line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22" name="Shape 47">
            <a:extLst>
              <a:ext uri="{FF2B5EF4-FFF2-40B4-BE49-F238E27FC236}">
                <a16:creationId xmlns:a16="http://schemas.microsoft.com/office/drawing/2014/main" id="{8A5F473C-3E2A-4EC2-9726-E4D9F385040A}"/>
              </a:ext>
            </a:extLst>
          </p:cNvPr>
          <p:cNvSpPr/>
          <p:nvPr/>
        </p:nvSpPr>
        <p:spPr>
          <a:xfrm>
            <a:off x="6874168" y="4569157"/>
            <a:ext cx="279400" cy="22478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23" name="Text 48">
            <a:extLst>
              <a:ext uri="{FF2B5EF4-FFF2-40B4-BE49-F238E27FC236}">
                <a16:creationId xmlns:a16="http://schemas.microsoft.com/office/drawing/2014/main" id="{C984B889-68A4-4961-AFDC-BA54B48CA10D}"/>
              </a:ext>
            </a:extLst>
          </p:cNvPr>
          <p:cNvSpPr/>
          <p:nvPr/>
        </p:nvSpPr>
        <p:spPr>
          <a:xfrm>
            <a:off x="7153567" y="4439424"/>
            <a:ext cx="1524765" cy="2809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D2D6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itchFamily="34" charset="-120"/>
              </a:rPr>
              <a:t>⑤ </a:t>
            </a:r>
            <a:r>
              <a:rPr lang="ko-KR" altLang="en-US" sz="1200" b="1" dirty="0">
                <a:solidFill>
                  <a:srgbClr val="0D2D6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itchFamily="34" charset="-120"/>
              </a:rPr>
              <a:t>약물 상호작용</a:t>
            </a:r>
            <a:endParaRPr lang="en-US" sz="1200" dirty="0">
              <a:latin typeface="맑은 고딕" panose="020B0503020000020004" pitchFamily="50" charset="-127"/>
            </a:endParaRPr>
          </a:p>
        </p:txBody>
      </p:sp>
      <p:sp>
        <p:nvSpPr>
          <p:cNvPr id="24" name="Text 49">
            <a:extLst>
              <a:ext uri="{FF2B5EF4-FFF2-40B4-BE49-F238E27FC236}">
                <a16:creationId xmlns:a16="http://schemas.microsoft.com/office/drawing/2014/main" id="{24ABE5F4-CFDC-4664-B4BA-25AB91554355}"/>
              </a:ext>
            </a:extLst>
          </p:cNvPr>
          <p:cNvSpPr/>
          <p:nvPr/>
        </p:nvSpPr>
        <p:spPr>
          <a:xfrm>
            <a:off x="7153568" y="4697921"/>
            <a:ext cx="3967480" cy="3371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200" dirty="0">
                <a:solidFill>
                  <a:srgbClr val="6474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itchFamily="34" charset="-120"/>
              </a:rPr>
              <a:t>주의가 필요한 상호작용 분석 후</a:t>
            </a:r>
            <a:r>
              <a:rPr lang="en-US" altLang="ko-KR" sz="1200" dirty="0">
                <a:solidFill>
                  <a:srgbClr val="6474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itchFamily="34" charset="-120"/>
              </a:rPr>
              <a:t>, </a:t>
            </a:r>
            <a:r>
              <a:rPr lang="ko-KR" altLang="en-US" sz="1200" dirty="0">
                <a:solidFill>
                  <a:srgbClr val="6474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itchFamily="34" charset="-120"/>
              </a:rPr>
              <a:t>경고</a:t>
            </a:r>
            <a:endParaRPr lang="en-US" sz="1200" dirty="0">
              <a:latin typeface="맑은 고딕" panose="020B0503020000020004" pitchFamily="50" charset="-127"/>
            </a:endParaRPr>
          </a:p>
        </p:txBody>
      </p:sp>
      <p:sp>
        <p:nvSpPr>
          <p:cNvPr id="29" name="Shape 46">
            <a:extLst>
              <a:ext uri="{FF2B5EF4-FFF2-40B4-BE49-F238E27FC236}">
                <a16:creationId xmlns:a16="http://schemas.microsoft.com/office/drawing/2014/main" id="{82435918-1E5C-4DA8-BA47-F3F523798F0B}"/>
              </a:ext>
            </a:extLst>
          </p:cNvPr>
          <p:cNvSpPr/>
          <p:nvPr/>
        </p:nvSpPr>
        <p:spPr>
          <a:xfrm>
            <a:off x="6762409" y="5321241"/>
            <a:ext cx="111760" cy="112390"/>
          </a:xfrm>
          <a:prstGeom prst="line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30" name="Shape 47">
            <a:extLst>
              <a:ext uri="{FF2B5EF4-FFF2-40B4-BE49-F238E27FC236}">
                <a16:creationId xmlns:a16="http://schemas.microsoft.com/office/drawing/2014/main" id="{369F9DED-A6A6-4804-AD8D-7A4FA1BE572B}"/>
              </a:ext>
            </a:extLst>
          </p:cNvPr>
          <p:cNvSpPr/>
          <p:nvPr/>
        </p:nvSpPr>
        <p:spPr>
          <a:xfrm>
            <a:off x="6862993" y="5366197"/>
            <a:ext cx="279400" cy="22478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31" name="Text 48">
            <a:extLst>
              <a:ext uri="{FF2B5EF4-FFF2-40B4-BE49-F238E27FC236}">
                <a16:creationId xmlns:a16="http://schemas.microsoft.com/office/drawing/2014/main" id="{5ECF8657-6912-4D8E-9759-14E63891101C}"/>
              </a:ext>
            </a:extLst>
          </p:cNvPr>
          <p:cNvSpPr/>
          <p:nvPr/>
        </p:nvSpPr>
        <p:spPr>
          <a:xfrm>
            <a:off x="7142392" y="5236464"/>
            <a:ext cx="1773008" cy="2809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2D6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itchFamily="34" charset="-120"/>
              </a:rPr>
              <a:t>⑥ </a:t>
            </a:r>
            <a:r>
              <a:rPr lang="ko-KR" altLang="en-US" sz="1200" b="1" dirty="0">
                <a:solidFill>
                  <a:srgbClr val="0D2D6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itchFamily="34" charset="-120"/>
              </a:rPr>
              <a:t>다제약물 주의사항</a:t>
            </a:r>
            <a:endParaRPr lang="en-US" sz="1200" dirty="0">
              <a:latin typeface="맑은 고딕" panose="020B0503020000020004" pitchFamily="50" charset="-127"/>
            </a:endParaRPr>
          </a:p>
        </p:txBody>
      </p:sp>
      <p:sp>
        <p:nvSpPr>
          <p:cNvPr id="32" name="Text 49">
            <a:extLst>
              <a:ext uri="{FF2B5EF4-FFF2-40B4-BE49-F238E27FC236}">
                <a16:creationId xmlns:a16="http://schemas.microsoft.com/office/drawing/2014/main" id="{0B6DEEB5-091F-44FB-8D6C-9B948F734E32}"/>
              </a:ext>
            </a:extLst>
          </p:cNvPr>
          <p:cNvSpPr/>
          <p:nvPr/>
        </p:nvSpPr>
        <p:spPr>
          <a:xfrm>
            <a:off x="7142393" y="5494961"/>
            <a:ext cx="3967480" cy="3371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200" dirty="0">
                <a:solidFill>
                  <a:srgbClr val="6474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itchFamily="34" charset="-120"/>
              </a:rPr>
              <a:t>종합적으로 처방 내역 확인 후</a:t>
            </a:r>
            <a:r>
              <a:rPr lang="en-US" altLang="ko-KR" sz="1200" dirty="0">
                <a:solidFill>
                  <a:srgbClr val="6474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itchFamily="34" charset="-120"/>
              </a:rPr>
              <a:t>, </a:t>
            </a:r>
            <a:r>
              <a:rPr lang="ko-KR" altLang="en-US" sz="1200" dirty="0">
                <a:solidFill>
                  <a:srgbClr val="6474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itchFamily="34" charset="-120"/>
              </a:rPr>
              <a:t>주의사항 표시</a:t>
            </a:r>
            <a:endParaRPr lang="en-US" sz="1200" dirty="0">
              <a:latin typeface="맑은 고딕" panose="020B0503020000020004" pitchFamily="50" charset="-127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458B456-4A02-411D-B9EC-AD3C9A91E2D5}"/>
              </a:ext>
            </a:extLst>
          </p:cNvPr>
          <p:cNvSpPr txBox="1"/>
          <p:nvPr/>
        </p:nvSpPr>
        <p:spPr>
          <a:xfrm>
            <a:off x="9674700" y="421399"/>
            <a:ext cx="20897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*</a:t>
            </a:r>
            <a:r>
              <a:rPr lang="ko-KR" altLang="en-US" sz="1400" b="1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처장님 내용 검토 필요</a:t>
            </a:r>
          </a:p>
        </p:txBody>
      </p:sp>
    </p:spTree>
    <p:extLst>
      <p:ext uri="{BB962C8B-B14F-4D97-AF65-F5344CB8AC3E}">
        <p14:creationId xmlns:p14="http://schemas.microsoft.com/office/powerpoint/2010/main" val="3933602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A3E4DE-348D-469C-BCC6-9AD471D21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</a:t>
            </a:r>
            <a:r>
              <a:rPr lang="ko-KR" altLang="en-US" dirty="0"/>
              <a:t> </a:t>
            </a:r>
            <a:r>
              <a:rPr lang="ko-KR" altLang="en-US" dirty="0" err="1"/>
              <a:t>목업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dirty="0"/>
              <a:t>경고 창 예시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45E0500-361C-4E45-AFD3-D8BBCE44A13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1" r="609" b="892"/>
          <a:stretch/>
        </p:blipFill>
        <p:spPr>
          <a:xfrm>
            <a:off x="427567" y="1218171"/>
            <a:ext cx="5263776" cy="4132764"/>
          </a:xfrm>
          <a:prstGeom prst="roundRect">
            <a:avLst>
              <a:gd name="adj" fmla="val 2326"/>
            </a:avLst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60893497-F05A-4263-A304-40B0F4FC927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4"/>
          <a:stretch/>
        </p:blipFill>
        <p:spPr>
          <a:xfrm>
            <a:off x="5831458" y="1218171"/>
            <a:ext cx="5979655" cy="3641696"/>
          </a:xfrm>
          <a:prstGeom prst="roundRect">
            <a:avLst>
              <a:gd name="adj" fmla="val 2717"/>
            </a:avLst>
          </a:prstGeom>
          <a:ln>
            <a:solidFill>
              <a:schemeClr val="bg2">
                <a:lumMod val="90000"/>
              </a:schemeClr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D1112C8-2A6F-48A9-90E1-37393E773D7D}"/>
              </a:ext>
            </a:extLst>
          </p:cNvPr>
          <p:cNvSpPr txBox="1"/>
          <p:nvPr/>
        </p:nvSpPr>
        <p:spPr>
          <a:xfrm>
            <a:off x="9674700" y="421399"/>
            <a:ext cx="20897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*</a:t>
            </a:r>
            <a:r>
              <a:rPr lang="ko-KR" altLang="en-US" sz="1400" b="1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처장님 내용 검토 필요</a:t>
            </a:r>
          </a:p>
        </p:txBody>
      </p:sp>
    </p:spTree>
    <p:extLst>
      <p:ext uri="{BB962C8B-B14F-4D97-AF65-F5344CB8AC3E}">
        <p14:creationId xmlns:p14="http://schemas.microsoft.com/office/powerpoint/2010/main" val="27190794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A3E4DE-348D-469C-BCC6-9AD471D21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기술 스택 및 시스템 구조</a:t>
            </a:r>
          </a:p>
        </p:txBody>
      </p:sp>
      <p:sp>
        <p:nvSpPr>
          <p:cNvPr id="149" name="Shape 32">
            <a:extLst>
              <a:ext uri="{FF2B5EF4-FFF2-40B4-BE49-F238E27FC236}">
                <a16:creationId xmlns:a16="http://schemas.microsoft.com/office/drawing/2014/main" id="{1EE42D8F-8DC3-4D1F-BFF3-93438725601E}"/>
              </a:ext>
            </a:extLst>
          </p:cNvPr>
          <p:cNvSpPr/>
          <p:nvPr/>
        </p:nvSpPr>
        <p:spPr>
          <a:xfrm>
            <a:off x="8721420" y="4342249"/>
            <a:ext cx="3042872" cy="179452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FF8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AA2DF70F-2D85-4641-8761-9B769254C45B}"/>
              </a:ext>
            </a:extLst>
          </p:cNvPr>
          <p:cNvGrpSpPr/>
          <p:nvPr/>
        </p:nvGrpSpPr>
        <p:grpSpPr>
          <a:xfrm>
            <a:off x="420211" y="1622411"/>
            <a:ext cx="11336724" cy="2950655"/>
            <a:chOff x="427567" y="1051558"/>
            <a:chExt cx="11336724" cy="2950655"/>
          </a:xfrm>
        </p:grpSpPr>
        <p:sp>
          <p:nvSpPr>
            <p:cNvPr id="119" name="Shape 2">
              <a:extLst>
                <a:ext uri="{FF2B5EF4-FFF2-40B4-BE49-F238E27FC236}">
                  <a16:creationId xmlns:a16="http://schemas.microsoft.com/office/drawing/2014/main" id="{22583696-47DF-49A9-8D07-DE9E24EDE6FD}"/>
                </a:ext>
              </a:extLst>
            </p:cNvPr>
            <p:cNvSpPr/>
            <p:nvPr/>
          </p:nvSpPr>
          <p:spPr>
            <a:xfrm>
              <a:off x="427567" y="1051558"/>
              <a:ext cx="3531111" cy="2950655"/>
            </a:xfrm>
            <a:prstGeom prst="rect">
              <a:avLst/>
            </a:prstGeom>
            <a:solidFill>
              <a:srgbClr val="1E4DA0"/>
            </a:solidFill>
            <a:ln w="12700">
              <a:solidFill>
                <a:srgbClr val="1E4DA0"/>
              </a:solidFill>
              <a:prstDash val="solid"/>
            </a:ln>
          </p:spPr>
        </p:sp>
        <p:sp>
          <p:nvSpPr>
            <p:cNvPr id="120" name="Text 3">
              <a:extLst>
                <a:ext uri="{FF2B5EF4-FFF2-40B4-BE49-F238E27FC236}">
                  <a16:creationId xmlns:a16="http://schemas.microsoft.com/office/drawing/2014/main" id="{32FD91BA-2B0C-430C-893E-C784BC75B507}"/>
                </a:ext>
              </a:extLst>
            </p:cNvPr>
            <p:cNvSpPr/>
            <p:nvPr/>
          </p:nvSpPr>
          <p:spPr>
            <a:xfrm>
              <a:off x="551466" y="1118618"/>
              <a:ext cx="3283314" cy="50965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000" b="1" kern="0" spc="100" dirty="0">
                  <a:solidFill>
                    <a:srgbClr val="CADCFC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alibri" pitchFamily="34" charset="-120"/>
                </a:rPr>
                <a:t>프론트엔드</a:t>
              </a:r>
              <a:endParaRPr lang="en-US" sz="2000" dirty="0">
                <a:latin typeface="맑은 고딕" panose="020B0503020000020004" pitchFamily="50" charset="-127"/>
              </a:endParaRPr>
            </a:p>
          </p:txBody>
        </p:sp>
        <p:sp>
          <p:nvSpPr>
            <p:cNvPr id="121" name="Text 4">
              <a:extLst>
                <a:ext uri="{FF2B5EF4-FFF2-40B4-BE49-F238E27FC236}">
                  <a16:creationId xmlns:a16="http://schemas.microsoft.com/office/drawing/2014/main" id="{C5779E57-EE3B-4419-A2BE-351237376CB3}"/>
                </a:ext>
              </a:extLst>
            </p:cNvPr>
            <p:cNvSpPr/>
            <p:nvPr/>
          </p:nvSpPr>
          <p:spPr>
            <a:xfrm>
              <a:off x="551466" y="1614865"/>
              <a:ext cx="3283314" cy="563307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FFFFFF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alibri" pitchFamily="34" charset="-120"/>
                </a:rPr>
                <a:t>React + Vite</a:t>
              </a:r>
              <a:endParaRPr lang="en-US" sz="2000" dirty="0">
                <a:latin typeface="맑은 고딕" panose="020B0503020000020004" pitchFamily="50" charset="-127"/>
              </a:endParaRPr>
            </a:p>
          </p:txBody>
        </p:sp>
        <p:sp>
          <p:nvSpPr>
            <p:cNvPr id="122" name="Shape 5">
              <a:extLst>
                <a:ext uri="{FF2B5EF4-FFF2-40B4-BE49-F238E27FC236}">
                  <a16:creationId xmlns:a16="http://schemas.microsoft.com/office/drawing/2014/main" id="{40E185AE-BB9A-4458-B1D1-B761ACBE58ED}"/>
                </a:ext>
              </a:extLst>
            </p:cNvPr>
            <p:cNvSpPr/>
            <p:nvPr/>
          </p:nvSpPr>
          <p:spPr>
            <a:xfrm>
              <a:off x="923161" y="2204996"/>
              <a:ext cx="2539922" cy="26824"/>
            </a:xfrm>
            <a:prstGeom prst="rect">
              <a:avLst/>
            </a:prstGeom>
            <a:solidFill>
              <a:srgbClr val="7EB3FF">
                <a:alpha val="50000"/>
              </a:srgbClr>
            </a:solidFill>
            <a:ln w="12700">
              <a:solidFill>
                <a:srgbClr val="7EB3FF">
                  <a:alpha val="50000"/>
                </a:srgbClr>
              </a:solidFill>
              <a:prstDash val="solid"/>
            </a:ln>
          </p:spPr>
        </p:sp>
        <p:sp>
          <p:nvSpPr>
            <p:cNvPr id="123" name="Text 6">
              <a:extLst>
                <a:ext uri="{FF2B5EF4-FFF2-40B4-BE49-F238E27FC236}">
                  <a16:creationId xmlns:a16="http://schemas.microsoft.com/office/drawing/2014/main" id="{36A200EE-BF9F-4982-88C3-F10A0D71B121}"/>
                </a:ext>
              </a:extLst>
            </p:cNvPr>
            <p:cNvSpPr/>
            <p:nvPr/>
          </p:nvSpPr>
          <p:spPr>
            <a:xfrm>
              <a:off x="551466" y="2325704"/>
              <a:ext cx="3283314" cy="761935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>
                <a:lnSpc>
                  <a:spcPct val="150000"/>
                </a:lnSpc>
              </a:pPr>
              <a:r>
                <a:rPr lang="ko-KR" altLang="en-US" sz="1600" dirty="0">
                  <a:solidFill>
                    <a:srgbClr val="CADCFC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alibri" pitchFamily="34" charset="-120"/>
                </a:rPr>
                <a:t>팝업 </a:t>
              </a:r>
              <a:r>
                <a:rPr lang="en-US" altLang="ko-KR" sz="1600" dirty="0">
                  <a:solidFill>
                    <a:srgbClr val="CADCFC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alibri" pitchFamily="34" charset="-120"/>
                </a:rPr>
                <a:t>UI </a:t>
              </a:r>
              <a:r>
                <a:rPr lang="en-US" altLang="ko-KR" sz="1600" dirty="0">
                  <a:solidFill>
                    <a:srgbClr val="CADCFC"/>
                  </a:solidFill>
                  <a:latin typeface="맑은 고딕" panose="020B0503020000020004" pitchFamily="50" charset="-127"/>
                  <a:cs typeface="Calibri" pitchFamily="34" charset="-120"/>
                </a:rPr>
                <a:t>· </a:t>
              </a:r>
              <a:r>
                <a:rPr lang="ko-KR" altLang="en-US" sz="1600" dirty="0">
                  <a:solidFill>
                    <a:srgbClr val="CADCFC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alibri" pitchFamily="34" charset="-120"/>
                </a:rPr>
                <a:t>필터 탭</a:t>
              </a:r>
              <a:endParaRPr lang="en-US" altLang="ko-KR" sz="1600" dirty="0">
                <a:solidFill>
                  <a:srgbClr val="CADCF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itchFamily="34" charset="-120"/>
              </a:endParaRPr>
            </a:p>
            <a:p>
              <a:pPr marL="0" indent="0" algn="ctr">
                <a:lnSpc>
                  <a:spcPct val="150000"/>
                </a:lnSpc>
                <a:buNone/>
              </a:pPr>
              <a:r>
                <a:rPr lang="ko-KR" altLang="en-US" sz="1600" dirty="0">
                  <a:solidFill>
                    <a:srgbClr val="CADCFC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alibri" pitchFamily="34" charset="-120"/>
                </a:rPr>
                <a:t>경고 배너 컴포넌트</a:t>
              </a:r>
              <a:endParaRPr lang="en-US" altLang="ko-KR" sz="1600" dirty="0">
                <a:solidFill>
                  <a:srgbClr val="CADCF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itchFamily="34" charset="-120"/>
              </a:endParaRPr>
            </a:p>
          </p:txBody>
        </p:sp>
        <p:sp>
          <p:nvSpPr>
            <p:cNvPr id="125" name="Shape 8">
              <a:extLst>
                <a:ext uri="{FF2B5EF4-FFF2-40B4-BE49-F238E27FC236}">
                  <a16:creationId xmlns:a16="http://schemas.microsoft.com/office/drawing/2014/main" id="{15E65BF5-14DA-48BC-996B-76FB138243EA}"/>
                </a:ext>
              </a:extLst>
            </p:cNvPr>
            <p:cNvSpPr/>
            <p:nvPr/>
          </p:nvSpPr>
          <p:spPr>
            <a:xfrm>
              <a:off x="4330374" y="1051558"/>
              <a:ext cx="3531111" cy="2950655"/>
            </a:xfrm>
            <a:prstGeom prst="rect">
              <a:avLst/>
            </a:prstGeom>
            <a:solidFill>
              <a:srgbClr val="0D2D6B"/>
            </a:solidFill>
            <a:ln w="12700">
              <a:solidFill>
                <a:srgbClr val="0D2D6B"/>
              </a:solidFill>
              <a:prstDash val="solid"/>
            </a:ln>
          </p:spPr>
        </p:sp>
        <p:sp>
          <p:nvSpPr>
            <p:cNvPr id="126" name="Text 9">
              <a:extLst>
                <a:ext uri="{FF2B5EF4-FFF2-40B4-BE49-F238E27FC236}">
                  <a16:creationId xmlns:a16="http://schemas.microsoft.com/office/drawing/2014/main" id="{2D3EAFA2-3A03-4491-8501-1ED383C4D84D}"/>
                </a:ext>
              </a:extLst>
            </p:cNvPr>
            <p:cNvSpPr/>
            <p:nvPr/>
          </p:nvSpPr>
          <p:spPr>
            <a:xfrm>
              <a:off x="4454272" y="1118618"/>
              <a:ext cx="3283314" cy="50965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000" b="1" kern="0" spc="100" dirty="0">
                  <a:solidFill>
                    <a:srgbClr val="CADCFC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alibri" pitchFamily="34" charset="-120"/>
                </a:rPr>
                <a:t>백엔드 서버</a:t>
              </a:r>
              <a:endParaRPr lang="en-US" sz="2000" dirty="0">
                <a:latin typeface="맑은 고딕" panose="020B0503020000020004" pitchFamily="50" charset="-127"/>
              </a:endParaRPr>
            </a:p>
          </p:txBody>
        </p:sp>
        <p:sp>
          <p:nvSpPr>
            <p:cNvPr id="127" name="Text 10">
              <a:extLst>
                <a:ext uri="{FF2B5EF4-FFF2-40B4-BE49-F238E27FC236}">
                  <a16:creationId xmlns:a16="http://schemas.microsoft.com/office/drawing/2014/main" id="{1ABF7A3A-07BA-4CD2-9953-B568C368CDA1}"/>
                </a:ext>
              </a:extLst>
            </p:cNvPr>
            <p:cNvSpPr/>
            <p:nvPr/>
          </p:nvSpPr>
          <p:spPr>
            <a:xfrm>
              <a:off x="4454272" y="1614865"/>
              <a:ext cx="3283314" cy="563307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FFFFFF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alibri" pitchFamily="34" charset="-120"/>
                </a:rPr>
                <a:t>Node.js + Express</a:t>
              </a:r>
              <a:endParaRPr lang="en-US" sz="2000" dirty="0">
                <a:latin typeface="맑은 고딕" panose="020B0503020000020004" pitchFamily="50" charset="-127"/>
              </a:endParaRPr>
            </a:p>
          </p:txBody>
        </p:sp>
        <p:sp>
          <p:nvSpPr>
            <p:cNvPr id="128" name="Shape 11">
              <a:extLst>
                <a:ext uri="{FF2B5EF4-FFF2-40B4-BE49-F238E27FC236}">
                  <a16:creationId xmlns:a16="http://schemas.microsoft.com/office/drawing/2014/main" id="{1C951FD9-F55A-4E57-A046-E8B9865A7F00}"/>
                </a:ext>
              </a:extLst>
            </p:cNvPr>
            <p:cNvSpPr/>
            <p:nvPr/>
          </p:nvSpPr>
          <p:spPr>
            <a:xfrm>
              <a:off x="4825968" y="2204996"/>
              <a:ext cx="2539922" cy="26824"/>
            </a:xfrm>
            <a:prstGeom prst="rect">
              <a:avLst/>
            </a:prstGeom>
            <a:solidFill>
              <a:srgbClr val="7EB3FF">
                <a:alpha val="50000"/>
              </a:srgbClr>
            </a:solidFill>
            <a:ln w="12700">
              <a:solidFill>
                <a:srgbClr val="7EB3FF">
                  <a:alpha val="50000"/>
                </a:srgbClr>
              </a:solidFill>
              <a:prstDash val="solid"/>
            </a:ln>
          </p:spPr>
        </p:sp>
        <p:sp>
          <p:nvSpPr>
            <p:cNvPr id="129" name="Text 12">
              <a:extLst>
                <a:ext uri="{FF2B5EF4-FFF2-40B4-BE49-F238E27FC236}">
                  <a16:creationId xmlns:a16="http://schemas.microsoft.com/office/drawing/2014/main" id="{25558F41-42DC-4CCC-B2D5-3E213948AFCC}"/>
                </a:ext>
              </a:extLst>
            </p:cNvPr>
            <p:cNvSpPr/>
            <p:nvPr/>
          </p:nvSpPr>
          <p:spPr>
            <a:xfrm>
              <a:off x="4454272" y="2325704"/>
              <a:ext cx="3283314" cy="761935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lnSpc>
                  <a:spcPct val="150000"/>
                </a:lnSpc>
                <a:buNone/>
              </a:pPr>
              <a:r>
                <a:rPr lang="en-US" sz="1600" dirty="0">
                  <a:solidFill>
                    <a:schemeClr val="bg1"/>
                  </a:solidFill>
                  <a:latin typeface="맑은 고딕" panose="020B0503020000020004" pitchFamily="50" charset="-127"/>
                </a:rPr>
                <a:t>DUR </a:t>
              </a:r>
              <a:r>
                <a:rPr lang="ko-KR" altLang="en-US" sz="1600" dirty="0">
                  <a:solidFill>
                    <a:schemeClr val="bg1"/>
                  </a:solidFill>
                  <a:latin typeface="맑은 고딕" panose="020B0503020000020004" pitchFamily="50" charset="-127"/>
                </a:rPr>
                <a:t>데이터 파싱</a:t>
              </a:r>
              <a:endParaRPr lang="en-US" altLang="ko-KR" sz="1600" dirty="0">
                <a:solidFill>
                  <a:schemeClr val="bg1"/>
                </a:solidFill>
                <a:latin typeface="맑은 고딕" panose="020B0503020000020004" pitchFamily="50" charset="-127"/>
              </a:endParaRPr>
            </a:p>
            <a:p>
              <a:pPr algn="ctr">
                <a:lnSpc>
                  <a:spcPct val="150000"/>
                </a:lnSpc>
              </a:pPr>
              <a:r>
                <a:rPr lang="ko-KR" altLang="en-US" sz="1600" dirty="0">
                  <a:solidFill>
                    <a:schemeClr val="bg1"/>
                  </a:solidFill>
                  <a:latin typeface="맑은 고딕" panose="020B0503020000020004" pitchFamily="50" charset="-127"/>
                </a:rPr>
                <a:t>요청 중계 </a:t>
              </a:r>
              <a:r>
                <a:rPr lang="en-US" altLang="ko-KR" sz="1600" dirty="0">
                  <a:solidFill>
                    <a:schemeClr val="bg1"/>
                  </a:solidFill>
                  <a:latin typeface="맑은 고딕" panose="020B0503020000020004" pitchFamily="50" charset="-127"/>
                </a:rPr>
                <a:t>· </a:t>
              </a:r>
              <a:r>
                <a:rPr lang="ko-KR" altLang="en-US" sz="1600" dirty="0">
                  <a:solidFill>
                    <a:schemeClr val="bg1"/>
                  </a:solidFill>
                  <a:latin typeface="맑은 고딕" panose="020B0503020000020004" pitchFamily="50" charset="-127"/>
                </a:rPr>
                <a:t>인증 처리</a:t>
              </a:r>
              <a:endParaRPr lang="en-US" altLang="ko-KR" sz="1600" dirty="0">
                <a:solidFill>
                  <a:schemeClr val="bg1"/>
                </a:solidFill>
                <a:latin typeface="맑은 고딕" panose="020B0503020000020004" pitchFamily="50" charset="-127"/>
              </a:endParaRPr>
            </a:p>
          </p:txBody>
        </p:sp>
        <p:sp>
          <p:nvSpPr>
            <p:cNvPr id="131" name="Shape 14">
              <a:extLst>
                <a:ext uri="{FF2B5EF4-FFF2-40B4-BE49-F238E27FC236}">
                  <a16:creationId xmlns:a16="http://schemas.microsoft.com/office/drawing/2014/main" id="{390155DC-6F8E-4D94-AF60-2B5CB36A50C4}"/>
                </a:ext>
              </a:extLst>
            </p:cNvPr>
            <p:cNvSpPr/>
            <p:nvPr/>
          </p:nvSpPr>
          <p:spPr>
            <a:xfrm>
              <a:off x="8233180" y="1051558"/>
              <a:ext cx="3531111" cy="2950655"/>
            </a:xfrm>
            <a:prstGeom prst="rect">
              <a:avLst/>
            </a:prstGeom>
            <a:solidFill>
              <a:srgbClr val="081A45"/>
            </a:solidFill>
            <a:ln w="12700">
              <a:solidFill>
                <a:srgbClr val="081A45"/>
              </a:solidFill>
              <a:prstDash val="solid"/>
            </a:ln>
          </p:spPr>
        </p:sp>
        <p:sp>
          <p:nvSpPr>
            <p:cNvPr id="132" name="Text 15">
              <a:extLst>
                <a:ext uri="{FF2B5EF4-FFF2-40B4-BE49-F238E27FC236}">
                  <a16:creationId xmlns:a16="http://schemas.microsoft.com/office/drawing/2014/main" id="{7327F504-0D6A-4F41-B32B-B0CA8F72E1A1}"/>
                </a:ext>
              </a:extLst>
            </p:cNvPr>
            <p:cNvSpPr/>
            <p:nvPr/>
          </p:nvSpPr>
          <p:spPr>
            <a:xfrm>
              <a:off x="8357079" y="1118618"/>
              <a:ext cx="3283314" cy="50965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000" b="1" kern="0" spc="100" dirty="0">
                  <a:solidFill>
                    <a:srgbClr val="CADCFC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alibri" pitchFamily="34" charset="-120"/>
                </a:rPr>
                <a:t>AI</a:t>
              </a:r>
              <a:endParaRPr lang="en-US" sz="2000" dirty="0">
                <a:latin typeface="맑은 고딕" panose="020B0503020000020004" pitchFamily="50" charset="-127"/>
              </a:endParaRPr>
            </a:p>
          </p:txBody>
        </p:sp>
        <p:sp>
          <p:nvSpPr>
            <p:cNvPr id="133" name="Text 16">
              <a:extLst>
                <a:ext uri="{FF2B5EF4-FFF2-40B4-BE49-F238E27FC236}">
                  <a16:creationId xmlns:a16="http://schemas.microsoft.com/office/drawing/2014/main" id="{58D62C0A-BCA8-41D2-9848-5C9C82632968}"/>
                </a:ext>
              </a:extLst>
            </p:cNvPr>
            <p:cNvSpPr/>
            <p:nvPr/>
          </p:nvSpPr>
          <p:spPr>
            <a:xfrm>
              <a:off x="8357079" y="1614865"/>
              <a:ext cx="3283314" cy="563307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FFFFFF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alibri" pitchFamily="34" charset="-120"/>
                </a:rPr>
                <a:t>Claude API (Bedrock)</a:t>
              </a:r>
              <a:endParaRPr lang="en-US" sz="2000" dirty="0">
                <a:latin typeface="맑은 고딕" panose="020B0503020000020004" pitchFamily="50" charset="-127"/>
              </a:endParaRPr>
            </a:p>
          </p:txBody>
        </p:sp>
        <p:sp>
          <p:nvSpPr>
            <p:cNvPr id="134" name="Shape 17">
              <a:extLst>
                <a:ext uri="{FF2B5EF4-FFF2-40B4-BE49-F238E27FC236}">
                  <a16:creationId xmlns:a16="http://schemas.microsoft.com/office/drawing/2014/main" id="{ACB5DB9D-2166-4E05-84CC-95667C5AD5D3}"/>
                </a:ext>
              </a:extLst>
            </p:cNvPr>
            <p:cNvSpPr/>
            <p:nvPr/>
          </p:nvSpPr>
          <p:spPr>
            <a:xfrm>
              <a:off x="8728775" y="2204996"/>
              <a:ext cx="2539922" cy="26824"/>
            </a:xfrm>
            <a:prstGeom prst="rect">
              <a:avLst/>
            </a:prstGeom>
            <a:solidFill>
              <a:srgbClr val="7EB3FF">
                <a:alpha val="50000"/>
              </a:srgbClr>
            </a:solidFill>
            <a:ln w="12700">
              <a:solidFill>
                <a:srgbClr val="7EB3FF">
                  <a:alpha val="50000"/>
                </a:srgbClr>
              </a:solidFill>
              <a:prstDash val="solid"/>
            </a:ln>
          </p:spPr>
        </p:sp>
        <p:sp>
          <p:nvSpPr>
            <p:cNvPr id="135" name="Text 18">
              <a:extLst>
                <a:ext uri="{FF2B5EF4-FFF2-40B4-BE49-F238E27FC236}">
                  <a16:creationId xmlns:a16="http://schemas.microsoft.com/office/drawing/2014/main" id="{809736DD-2892-4DFE-AC54-C4916A2F2146}"/>
                </a:ext>
              </a:extLst>
            </p:cNvPr>
            <p:cNvSpPr/>
            <p:nvPr/>
          </p:nvSpPr>
          <p:spPr>
            <a:xfrm>
              <a:off x="8357079" y="2325704"/>
              <a:ext cx="3283314" cy="1189421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lnSpc>
                  <a:spcPct val="150000"/>
                </a:lnSpc>
                <a:buNone/>
              </a:pPr>
              <a:r>
                <a:rPr lang="ko-KR" altLang="en-US" sz="1600" dirty="0">
                  <a:solidFill>
                    <a:srgbClr val="CADCFC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alibri" pitchFamily="34" charset="-120"/>
                </a:rPr>
                <a:t>처방 이력 자동 분류</a:t>
              </a:r>
              <a:endParaRPr lang="en-US" altLang="ko-KR" sz="1600" dirty="0">
                <a:solidFill>
                  <a:srgbClr val="CADCF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itchFamily="34" charset="-120"/>
              </a:endParaRPr>
            </a:p>
            <a:p>
              <a:pPr marL="0" indent="0" algn="ctr">
                <a:lnSpc>
                  <a:spcPct val="150000"/>
                </a:lnSpc>
                <a:buNone/>
              </a:pPr>
              <a:r>
                <a:rPr lang="ko-KR" altLang="en-US" sz="1600" dirty="0">
                  <a:solidFill>
                    <a:srgbClr val="CADCFC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alibri" pitchFamily="34" charset="-120"/>
                </a:rPr>
                <a:t>상호작용 패턴 감지</a:t>
              </a:r>
              <a:endParaRPr lang="en-US" altLang="ko-KR" sz="1600" dirty="0">
                <a:solidFill>
                  <a:srgbClr val="CADCF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itchFamily="34" charset="-120"/>
              </a:endParaRPr>
            </a:p>
            <a:p>
              <a:pPr marL="0" indent="0" algn="ctr">
                <a:lnSpc>
                  <a:spcPct val="150000"/>
                </a:lnSpc>
                <a:buNone/>
              </a:pPr>
              <a:r>
                <a:rPr lang="ko-KR" altLang="en-US" sz="1600" dirty="0">
                  <a:solidFill>
                    <a:srgbClr val="CADCFC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alibri" pitchFamily="34" charset="-120"/>
                </a:rPr>
                <a:t>위험도 등급 산출</a:t>
              </a:r>
              <a:endParaRPr lang="en-US" sz="1600" dirty="0">
                <a:latin typeface="맑은 고딕" panose="020B0503020000020004" pitchFamily="50" charset="-127"/>
              </a:endParaRPr>
            </a:p>
          </p:txBody>
        </p:sp>
        <p:sp>
          <p:nvSpPr>
            <p:cNvPr id="3" name="화살표: 왼쪽/오른쪽 2">
              <a:extLst>
                <a:ext uri="{FF2B5EF4-FFF2-40B4-BE49-F238E27FC236}">
                  <a16:creationId xmlns:a16="http://schemas.microsoft.com/office/drawing/2014/main" id="{6A41DBAE-EEDA-4B8A-BACA-92E5B4819C44}"/>
                </a:ext>
              </a:extLst>
            </p:cNvPr>
            <p:cNvSpPr/>
            <p:nvPr/>
          </p:nvSpPr>
          <p:spPr>
            <a:xfrm>
              <a:off x="3630347" y="2284569"/>
              <a:ext cx="1028359" cy="484632"/>
            </a:xfrm>
            <a:prstGeom prst="leftRightArrow">
              <a:avLst>
                <a:gd name="adj1" fmla="val 63976"/>
                <a:gd name="adj2" fmla="val 46506"/>
              </a:avLst>
            </a:prstGeom>
            <a:solidFill>
              <a:srgbClr val="EF9F27"/>
            </a:solidFill>
            <a:ln>
              <a:solidFill>
                <a:srgbClr val="EF9F2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43" name="화살표: 왼쪽/오른쪽 42">
              <a:extLst>
                <a:ext uri="{FF2B5EF4-FFF2-40B4-BE49-F238E27FC236}">
                  <a16:creationId xmlns:a16="http://schemas.microsoft.com/office/drawing/2014/main" id="{EFE16435-75E4-46F2-8A1A-8B9A3EA70980}"/>
                </a:ext>
              </a:extLst>
            </p:cNvPr>
            <p:cNvSpPr/>
            <p:nvPr/>
          </p:nvSpPr>
          <p:spPr>
            <a:xfrm>
              <a:off x="7533153" y="2279341"/>
              <a:ext cx="1028359" cy="484632"/>
            </a:xfrm>
            <a:prstGeom prst="leftRightArrow">
              <a:avLst>
                <a:gd name="adj1" fmla="val 63976"/>
                <a:gd name="adj2" fmla="val 46506"/>
              </a:avLst>
            </a:prstGeom>
            <a:solidFill>
              <a:srgbClr val="EF9F27"/>
            </a:solidFill>
            <a:ln>
              <a:solidFill>
                <a:srgbClr val="EF9F2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FAA63103-DF9D-4422-BACB-42BEFC23CB4E}"/>
              </a:ext>
            </a:extLst>
          </p:cNvPr>
          <p:cNvGrpSpPr/>
          <p:nvPr/>
        </p:nvGrpSpPr>
        <p:grpSpPr>
          <a:xfrm>
            <a:off x="8721419" y="4249927"/>
            <a:ext cx="3035445" cy="1851637"/>
            <a:chOff x="8047330" y="4351764"/>
            <a:chExt cx="3716961" cy="1833553"/>
          </a:xfrm>
        </p:grpSpPr>
        <p:sp>
          <p:nvSpPr>
            <p:cNvPr id="150" name="Shape 33">
              <a:extLst>
                <a:ext uri="{FF2B5EF4-FFF2-40B4-BE49-F238E27FC236}">
                  <a16:creationId xmlns:a16="http://schemas.microsoft.com/office/drawing/2014/main" id="{4244C628-F921-4894-A869-E75A2E80BDF1}"/>
                </a:ext>
              </a:extLst>
            </p:cNvPr>
            <p:cNvSpPr/>
            <p:nvPr/>
          </p:nvSpPr>
          <p:spPr>
            <a:xfrm>
              <a:off x="8047330" y="4351764"/>
              <a:ext cx="3716961" cy="469422"/>
            </a:xfrm>
            <a:prstGeom prst="rect">
              <a:avLst/>
            </a:prstGeom>
            <a:solidFill>
              <a:srgbClr val="1E4DA0"/>
            </a:solidFill>
            <a:ln w="12700">
              <a:solidFill>
                <a:srgbClr val="1E4DA0"/>
              </a:solidFill>
              <a:prstDash val="solid"/>
            </a:ln>
          </p:spPr>
        </p:sp>
        <p:sp>
          <p:nvSpPr>
            <p:cNvPr id="151" name="Text 34">
              <a:extLst>
                <a:ext uri="{FF2B5EF4-FFF2-40B4-BE49-F238E27FC236}">
                  <a16:creationId xmlns:a16="http://schemas.microsoft.com/office/drawing/2014/main" id="{41E4B863-E16A-4EA5-B741-CD22F33A8F67}"/>
                </a:ext>
              </a:extLst>
            </p:cNvPr>
            <p:cNvSpPr/>
            <p:nvPr/>
          </p:nvSpPr>
          <p:spPr>
            <a:xfrm>
              <a:off x="8103640" y="4386010"/>
              <a:ext cx="3190461" cy="40236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alibri" pitchFamily="34" charset="-120"/>
                </a:rPr>
                <a:t>시스템 프롬프트 구성</a:t>
              </a:r>
              <a:endParaRPr lang="en-US" sz="1400" dirty="0">
                <a:latin typeface="맑은 고딕" panose="020B0503020000020004" pitchFamily="50" charset="-127"/>
              </a:endParaRPr>
            </a:p>
          </p:txBody>
        </p:sp>
        <p:sp>
          <p:nvSpPr>
            <p:cNvPr id="152" name="Text 35">
              <a:extLst>
                <a:ext uri="{FF2B5EF4-FFF2-40B4-BE49-F238E27FC236}">
                  <a16:creationId xmlns:a16="http://schemas.microsoft.com/office/drawing/2014/main" id="{EB24892E-DCEC-44F5-B0F9-12C97BFE5180}"/>
                </a:ext>
              </a:extLst>
            </p:cNvPr>
            <p:cNvSpPr/>
            <p:nvPr/>
          </p:nvSpPr>
          <p:spPr>
            <a:xfrm>
              <a:off x="8140184" y="4870932"/>
              <a:ext cx="3438260" cy="30847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EF9F27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alibri" pitchFamily="34" charset="-120"/>
                </a:rPr>
                <a:t>▸  </a:t>
              </a:r>
              <a:r>
                <a:rPr lang="en-US" sz="1200" dirty="0">
                  <a:solidFill>
                    <a:srgbClr val="363636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alibri" pitchFamily="34" charset="-120"/>
                </a:rPr>
                <a:t>ATC </a:t>
              </a:r>
              <a:r>
                <a:rPr lang="ko-KR" altLang="en-US" sz="1200" dirty="0">
                  <a:solidFill>
                    <a:srgbClr val="363636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alibri" pitchFamily="34" charset="-120"/>
                </a:rPr>
                <a:t>계통 분류 </a:t>
              </a:r>
              <a:r>
                <a:rPr lang="en-US" sz="1200" dirty="0" err="1">
                  <a:solidFill>
                    <a:srgbClr val="363636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alibri" pitchFamily="34" charset="-120"/>
                </a:rPr>
                <a:t>규칙</a:t>
              </a:r>
              <a:r>
                <a:rPr lang="en-US" sz="1200" dirty="0">
                  <a:solidFill>
                    <a:srgbClr val="363636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alibri" pitchFamily="34" charset="-120"/>
                </a:rPr>
                <a:t> 정의</a:t>
              </a:r>
              <a:endParaRPr lang="en-US" sz="1200" dirty="0">
                <a:latin typeface="맑은 고딕" panose="020B0503020000020004" pitchFamily="50" charset="-127"/>
              </a:endParaRPr>
            </a:p>
          </p:txBody>
        </p:sp>
        <p:sp>
          <p:nvSpPr>
            <p:cNvPr id="153" name="Text 36">
              <a:extLst>
                <a:ext uri="{FF2B5EF4-FFF2-40B4-BE49-F238E27FC236}">
                  <a16:creationId xmlns:a16="http://schemas.microsoft.com/office/drawing/2014/main" id="{B8D83B83-F9DC-4E44-B686-DB591A32A028}"/>
                </a:ext>
              </a:extLst>
            </p:cNvPr>
            <p:cNvSpPr/>
            <p:nvPr/>
          </p:nvSpPr>
          <p:spPr>
            <a:xfrm>
              <a:off x="8140184" y="5206234"/>
              <a:ext cx="3438260" cy="30847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EF9F27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alibri" pitchFamily="34" charset="-120"/>
                </a:rPr>
                <a:t>▸  </a:t>
              </a:r>
              <a:r>
                <a:rPr lang="en-US" sz="1200" dirty="0">
                  <a:latin typeface="맑은 고딕" panose="020B0503020000020004" pitchFamily="50" charset="-127"/>
                  <a:ea typeface="맑은 고딕" panose="020B0503020000020004" pitchFamily="50" charset="-127"/>
                  <a:cs typeface="Calibri" pitchFamily="34" charset="-120"/>
                </a:rPr>
                <a:t>DDI </a:t>
              </a:r>
              <a:r>
                <a:rPr lang="ko-KR" altLang="en-US" sz="1200" dirty="0">
                  <a:latin typeface="맑은 고딕" panose="020B0503020000020004" pitchFamily="50" charset="-127"/>
                  <a:ea typeface="맑은 고딕" panose="020B0503020000020004" pitchFamily="50" charset="-127"/>
                  <a:cs typeface="Calibri" pitchFamily="34" charset="-120"/>
                </a:rPr>
                <a:t>위험 등급 판별 로직</a:t>
              </a:r>
              <a:endParaRPr lang="en-US" sz="1200" dirty="0">
                <a:latin typeface="맑은 고딕" panose="020B0503020000020004" pitchFamily="50" charset="-127"/>
              </a:endParaRPr>
            </a:p>
          </p:txBody>
        </p:sp>
        <p:sp>
          <p:nvSpPr>
            <p:cNvPr id="154" name="Text 37">
              <a:extLst>
                <a:ext uri="{FF2B5EF4-FFF2-40B4-BE49-F238E27FC236}">
                  <a16:creationId xmlns:a16="http://schemas.microsoft.com/office/drawing/2014/main" id="{A4ED2408-14A7-4130-B7E0-B65E26AB64E7}"/>
                </a:ext>
              </a:extLst>
            </p:cNvPr>
            <p:cNvSpPr/>
            <p:nvPr/>
          </p:nvSpPr>
          <p:spPr>
            <a:xfrm>
              <a:off x="8140184" y="5541535"/>
              <a:ext cx="3438260" cy="30847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EF9F27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alibri" pitchFamily="34" charset="-120"/>
                </a:rPr>
                <a:t>▸  </a:t>
              </a:r>
              <a:r>
                <a:rPr lang="ko-KR" altLang="en-US" sz="1200" dirty="0">
                  <a:solidFill>
                    <a:srgbClr val="363636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alibri" pitchFamily="34" charset="-120"/>
                </a:rPr>
                <a:t>기간 용량이상 감지 기준</a:t>
              </a:r>
              <a:endParaRPr lang="en-US" sz="1200" dirty="0">
                <a:latin typeface="맑은 고딕" panose="020B0503020000020004" pitchFamily="50" charset="-127"/>
              </a:endParaRPr>
            </a:p>
          </p:txBody>
        </p:sp>
        <p:sp>
          <p:nvSpPr>
            <p:cNvPr id="155" name="Text 38">
              <a:extLst>
                <a:ext uri="{FF2B5EF4-FFF2-40B4-BE49-F238E27FC236}">
                  <a16:creationId xmlns:a16="http://schemas.microsoft.com/office/drawing/2014/main" id="{6AD5E3CE-FBD1-43FC-91EC-41E926BB0E5B}"/>
                </a:ext>
              </a:extLst>
            </p:cNvPr>
            <p:cNvSpPr/>
            <p:nvPr/>
          </p:nvSpPr>
          <p:spPr>
            <a:xfrm>
              <a:off x="8140184" y="5876839"/>
              <a:ext cx="3438260" cy="30847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EF9F27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alibri" pitchFamily="34" charset="-120"/>
                </a:rPr>
                <a:t>▸  </a:t>
              </a:r>
              <a:r>
                <a:rPr lang="ko-KR" altLang="en-US" sz="1200" dirty="0">
                  <a:solidFill>
                    <a:srgbClr val="363636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alibri" pitchFamily="34" charset="-120"/>
                </a:rPr>
                <a:t>경고 메시지 포맷 지정</a:t>
              </a:r>
              <a:endParaRPr lang="en-US" sz="1200" dirty="0">
                <a:latin typeface="맑은 고딕" panose="020B0503020000020004" pitchFamily="50" charset="-127"/>
              </a:endParaRPr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D9F34F12-A5A7-4DBB-86C4-E2C2E50E106F}"/>
              </a:ext>
            </a:extLst>
          </p:cNvPr>
          <p:cNvSpPr txBox="1"/>
          <p:nvPr/>
        </p:nvSpPr>
        <p:spPr>
          <a:xfrm>
            <a:off x="420211" y="4614504"/>
            <a:ext cx="32027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*</a:t>
            </a:r>
            <a:r>
              <a:rPr lang="ko-KR" altLang="en-US" sz="1200" b="1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실제는 </a:t>
            </a:r>
            <a:r>
              <a:rPr lang="ko-KR" altLang="en-US" sz="1200" b="1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프론트엔드만</a:t>
            </a:r>
            <a:r>
              <a:rPr lang="ko-KR" altLang="en-US" sz="1200" b="1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 개발할 예정</a:t>
            </a:r>
          </a:p>
        </p:txBody>
      </p:sp>
    </p:spTree>
    <p:extLst>
      <p:ext uri="{BB962C8B-B14F-4D97-AF65-F5344CB8AC3E}">
        <p14:creationId xmlns:p14="http://schemas.microsoft.com/office/powerpoint/2010/main" val="11053236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2C2FBF9-006B-48F2-B15C-3315057EC073}"/>
              </a:ext>
            </a:extLst>
          </p:cNvPr>
          <p:cNvSpPr txBox="1"/>
          <p:nvPr/>
        </p:nvSpPr>
        <p:spPr>
          <a:xfrm>
            <a:off x="4893490" y="2828836"/>
            <a:ext cx="239866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7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E.O.D</a:t>
            </a:r>
          </a:p>
        </p:txBody>
      </p:sp>
    </p:spTree>
    <p:extLst>
      <p:ext uri="{BB962C8B-B14F-4D97-AF65-F5344CB8AC3E}">
        <p14:creationId xmlns:p14="http://schemas.microsoft.com/office/powerpoint/2010/main" val="34809378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547</TotalTime>
  <Words>309</Words>
  <Application>Microsoft Office PowerPoint</Application>
  <PresentationFormat>와이드스크린</PresentationFormat>
  <Paragraphs>67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1" baseType="lpstr">
      <vt:lpstr>맑은 고딕</vt:lpstr>
      <vt:lpstr>Arial</vt:lpstr>
      <vt:lpstr>Calibri</vt:lpstr>
      <vt:lpstr>Wingdings</vt:lpstr>
      <vt:lpstr>Office 테마</vt:lpstr>
      <vt:lpstr>[Kiro] 약 처방 지원 시스템</vt:lpstr>
      <vt:lpstr>사용 프로세스</vt:lpstr>
      <vt:lpstr>UI 목업 – 팝업 창 인터페이스</vt:lpstr>
      <vt:lpstr>UI 목업 – 경고 창 예시</vt:lpstr>
      <vt:lpstr>기술 스택 및 시스템 구조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장선경(광명,기획팀)</dc:creator>
  <cp:lastModifiedBy>장유현(서울,디지털전략팀)</cp:lastModifiedBy>
  <cp:revision>38</cp:revision>
  <cp:lastPrinted>2026-03-27T00:54:14Z</cp:lastPrinted>
  <dcterms:created xsi:type="dcterms:W3CDTF">2025-10-10T00:44:40Z</dcterms:created>
  <dcterms:modified xsi:type="dcterms:W3CDTF">2026-03-31T02:11:08Z</dcterms:modified>
</cp:coreProperties>
</file>